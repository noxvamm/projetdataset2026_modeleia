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imC/UkgZTopNUUEf5cUv6NmNWa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Bonjour, je suis Noa Orand. Je vous présente mon projet de fin d'études : l'estimation par intelligence artificielle du niveau de tension d'un moteur électrique à partir de signaux acoustiques et vibratoires. 20 minutes : présentation du projet d'équipe, puis ma contribution personnelle.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Plan : projet collectif (10 min) puis ma contribution (10 min). Le jury me questionnera ensuite pendant 20 minutes.</a:t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 démarre par la présentation du projet collectif.</a:t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Projet collectif à quatre. Je m'occupe du pipeline d'acquisition logicielle et du modèle IA. Hugo gère la qualité des données et le versionnage. Mederick le firmware embarqué. Ege l'IHM Qt.</a:t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projet s'inscrit dans le domaine de la maintenance prédictive. L'idée : ausculter une machine pour anticiper sa défaillance.</a:t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pivot est un point fort : c'est une décision d'ingénierie justifiée, pas un échec.</a:t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Quatre étapes du pipeline : mesurer, transmettre, stocker, prédire. Tout est fonctionnel de bout en bout.</a:t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Banc moteur volontairement simple. Deux conditions A_vide / B_frein. Le label IA est en pourcentage de la tension max propre à la condition, pour normaliser l'apprentissage.</a:t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Deux capteurs : microphone I2S pour le son à 16 kHz, et WTVB01-BT50 en BLE pour la vibration. La fréquence vibration effective est réduite à cause du partage d'antenne BLE/Wi-Fi sur l'ESP32 — limitation acceptée car le contenu utile est sous 5 Hz.</a:t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aede78a28_0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eaede78a28_0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Voici le diagramme de déploiement. Toute la chaîne est mise en lumière : le capteur, l'ESP32, le réseau, les serveurs Python (TCP métadonnées + UDP données), le stockage CSV et enfin le modèle d'IA en post-traitement.</a:t>
            </a:r>
            <a:endParaRPr/>
          </a:p>
        </p:txBody>
      </p:sp>
      <p:sp>
        <p:nvSpPr>
          <p:cNvPr id="264" name="Google Shape;264;g3eaede78a28_0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L'ESP32 est le concentrateur embarqué. Le firmware a été optimisé pour éviter les pertes : passage de String à snprintf, APLL pour l'I2S, et augmentation des buffers DMA. Résultat : fréquence son effective passée de 10 kHz à 15,8 kHz, soit 99 % de la cible.</a:t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Voici le diagramme de déploiement. Toute la chaîne est mise en lumière : le capteur, l'ESP32, le réseau, les serveurs Python (TCP métadonnées + UDP données), le stockage CSV et enfin le modèle d'IA en post-traitement.</a:t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plan est croisé. 11 niveaux × 2 conditions × 5 captures = 110 sessions. Découpage en deux phases pour éviter une dérive thermique du moteur.</a:t>
            </a:r>
            <a:endParaRPr/>
          </a:p>
        </p:txBody>
      </p:sp>
      <p:sp>
        <p:nvSpPr>
          <p:cNvPr id="302" name="Google Shape;30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 apprend la tension parce qu'on n'a pas de capteur de courant. C'est un proxy assumé et documenté.</a:t>
            </a:r>
            <a:endParaRPr/>
          </a:p>
        </p:txBody>
      </p:sp>
      <p:sp>
        <p:nvSpPr>
          <p:cNvPr id="321" name="Google Shape;32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Transition vers ma contribution personnelle.</a:t>
            </a:r>
            <a:endParaRPr/>
          </a:p>
        </p:txBody>
      </p:sp>
      <p:sp>
        <p:nvSpPr>
          <p:cNvPr id="335" name="Google Shape;33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Cette double responsabilité me permet de garantir que le format des données produites en amont est bien adapté à l'apprentissage en aval.</a:t>
            </a:r>
            <a:endParaRPr/>
          </a:p>
        </p:txBody>
      </p:sp>
      <p:sp>
        <p:nvSpPr>
          <p:cNvPr id="347" name="Google Shape;34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serveur TCP reçoit les métadonnées de session avant chaque capture, normalise la condition de charge, attribue un identifiant et indexe la session dans le fichier maître.</a:t>
            </a:r>
            <a:endParaRPr/>
          </a:p>
        </p:txBody>
      </p:sp>
      <p:sp>
        <p:nvSpPr>
          <p:cNvPr id="368" name="Google Shape;36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client UDP gère le flux haut débit du son. Le buffer est agrandi à 8 Mo. La détection de fin de capture par timeout est simple et fiable.</a:t>
            </a:r>
            <a:endParaRPr/>
          </a:p>
        </p:txBody>
      </p:sp>
      <p:sp>
        <p:nvSpPr>
          <p:cNvPr id="380" name="Google Shape;38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Voici le format CSV maître à 9 colonnes. C'est le contrat de données entre l'IHM, le pipeline d'acquisition et le modèle IA.</a:t>
            </a:r>
            <a:endParaRPr/>
          </a:p>
        </p:txBody>
      </p:sp>
      <p:sp>
        <p:nvSpPr>
          <p:cNvPr id="392" name="Google Shape;39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L'idée derrière la double branche : aucune modalité prise seule ne capture toute l'information. Le son apporte des transitoires haute fréquence, la vibration une signature basse fréquence. La fusion tardive permet d'apprendre ce qui est complémentaire.</a:t>
            </a:r>
            <a:endParaRPr/>
          </a:p>
        </p:txBody>
      </p:sp>
      <p:sp>
        <p:nvSpPr>
          <p:cNvPr id="430" name="Google Shape;43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aede78a28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g3eaede78a28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Voici le diagramme de déploiement. Toute la chaîne est mise en lumière : le capteur, l'ESP32, le réseau, les serveurs Python (TCP métadonnées + UDP données), le stockage CSV et enfin le modèle d'IA en post-traitement.</a:t>
            </a:r>
            <a:endParaRPr/>
          </a:p>
        </p:txBody>
      </p:sp>
      <p:sp>
        <p:nvSpPr>
          <p:cNvPr id="452" name="Google Shape;452;g3eaede78a28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 mel-spectrogramme transforme le signal temporel en une image, où l'axe Y est la fréquence (perçue à la manière de l'oreille humaine) et l'axe X le temps. C'est ce que voit le CNN.</a:t>
            </a:r>
            <a:endParaRPr/>
          </a:p>
        </p:txBody>
      </p:sp>
      <p:sp>
        <p:nvSpPr>
          <p:cNvPr id="464" name="Google Shape;46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Les augmentations multiplient artificiellement le dataset. Le split par capture empêche la fuite : si une fenêtre d'une capture est en train, toutes les autres y sont aussi.</a:t>
            </a:r>
            <a:endParaRPr/>
          </a:p>
        </p:txBody>
      </p:sp>
      <p:sp>
        <p:nvSpPr>
          <p:cNvPr id="493" name="Google Shape;49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Deux branches CNN identiques (3 convolutions + GlobalAvgPool) traitent indépendamment son et vibration. Concaténation, Dense, Dropout, et une sortie sigmoïde × 100 pour la régression du % de tension.</a:t>
            </a:r>
            <a:endParaRPr/>
          </a:p>
        </p:txBody>
      </p:sp>
      <p:sp>
        <p:nvSpPr>
          <p:cNvPr id="510" name="Google Shape;51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Décision documentée Option A : utiliser uniquement |VZ| parce que VX et VY sont saturés sous le seuil MEMS. C'est un argument à l'oral : analyse + référence au manuel constructeur.</a:t>
            </a:r>
            <a:endParaRPr/>
          </a:p>
        </p:txBody>
      </p:sp>
      <p:sp>
        <p:nvSpPr>
          <p:cNvPr id="556" name="Google Shape;556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Les courbes d'entraînement montrent une convergence stable sans surapprentissage marqué. La MAE de validation se stabilise vers la fin.</a:t>
            </a:r>
            <a:endParaRPr/>
          </a:p>
        </p:txBody>
      </p:sp>
      <p:sp>
        <p:nvSpPr>
          <p:cNvPr id="568" name="Google Shape;56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11,2 % de MAE par capture, contre 27 % pour une baseline naïve. C'est une division par 2,5, défendable comme preuve de concept même avec un dataset limité.</a:t>
            </a:r>
            <a:endParaRPr/>
          </a:p>
        </p:txBody>
      </p:sp>
      <p:sp>
        <p:nvSpPr>
          <p:cNvPr id="582" name="Google Shape;582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2" name="Google Shape;60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Conclusion : la chaîne complète fonctionne, le modèle est défendable. Perspectives : compléter le dataset, ajouter un capteur de courant pour la puissance directe, comparer double branche vs mono. Merci, je suis à votre disposition pour les questions.</a:t>
            </a:r>
            <a:endParaRPr/>
          </a:p>
        </p:txBody>
      </p:sp>
      <p:sp>
        <p:nvSpPr>
          <p:cNvPr id="603" name="Google Shape;60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_bg.jp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_brain.png"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807" y="502920"/>
            <a:ext cx="29260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57200" y="36118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Estimation par intelligence artificielle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57200" y="416052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 niveau de tension d'un moteur électrique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à partir de signaux acoustiques et vibratoires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72338" y="5890303"/>
            <a:ext cx="1124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BTS CIEL — Option Informatique et Réseaux   ·   Session 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Soutenance U6  ·  Juin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72338" y="5532090"/>
            <a:ext cx="1124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ORAND Noa - CYPRE Hugo - MOPTY Mederick - YILDIRIM Ege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60825" y="118950"/>
            <a:ext cx="1040300" cy="10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40080" y="186537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371600" y="1828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Présentation du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371600" y="237744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Contexte, banc d'essai, capteurs, architecture, plan d'expérience et choix du label.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400800" y="186537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132320" y="1828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 contribution individuelle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132320" y="237744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Pipeline d'acquisition (serveur TCP + client UDP) et modèle IA double branche.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3566160" y="429768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3566160" y="433425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4297680" y="4297680"/>
            <a:ext cx="502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4297680" y="4846320"/>
            <a:ext cx="502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Bilan technique, résultats obtenus, perspectives.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_bg.jpg"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1" lang="en-US" sz="2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Partie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Présentation du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Contexte académique, banc d'essai, architecture et plan d'expérience.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730087" y="521208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958687" y="5212080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187287" y="5212080"/>
            <a:ext cx="73152" cy="73152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Cadre académique et équipe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640080" y="1554480"/>
            <a:ext cx="73152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BTS CIEL — Cybersécurité, Informatique et Réseaux, Électronique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Option Informatique et Réseaux  ·  Session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Projet de fin d'études — épreuve U6 (Pratique professionnelle)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Compétences acquises : programmation système, réseaux, électronique embarquée, IA, gestion de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8229600" y="1554480"/>
            <a:ext cx="347472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8412480" y="1709915"/>
            <a:ext cx="320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Équipe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8412480" y="2240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8412480" y="253288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Pipeline acquisition + modèle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8412480" y="29260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Hugo Cypré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412480" y="321868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Qualité données + versioning modèles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8412480" y="3611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Mederick Mopty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8412480" y="390448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Firmware ESP32 + capture audio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8412480" y="42976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Ege Yildirim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8412480" y="459028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IHM Qt + supervision captures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Maintenance prédictive — enjeu industriel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Pourquoi écouter et capter la vibration d'une machine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640080" y="219456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Détecter une dérive avant la panne réduit les arrêts non planifiés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L'analyse acoustique et vibratoire fournit une signature riche, non intrusive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Datasets de référence : MIMII (sons industriels), CWRU (roulements), MAFAULDA (rotors)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Un CNN sur mel-spectrogramme apprend efficacement à classer/régresser un état mécanique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40080" y="5212080"/>
            <a:ext cx="32918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640080" y="53492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640080" y="5943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datasets de référence cités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434840" y="5212080"/>
            <a:ext cx="32918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4434840" y="53492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16 kHz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4434840" y="5943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fréquence d'acquisition 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8229600" y="5212080"/>
            <a:ext cx="32918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229600" y="5349240"/>
            <a:ext cx="32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200 Hz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8229600" y="5943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vibration effective (BLE)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Pivot du projet : du CNC au banc moteur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06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40080" y="1554480"/>
            <a:ext cx="502920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822960" y="1746503"/>
            <a:ext cx="4572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Sujet initial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822960" y="20116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Détection d'usure d'outil sur CNC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822960" y="2834640"/>
            <a:ext cx="457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Accès à la machine très limité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Impossibilité de produire un jeu de données suffisant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Variance non maîtrisée des conditions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5714995" y="3383280"/>
            <a:ext cx="73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492240" y="1554480"/>
            <a:ext cx="502920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6675120" y="1746503"/>
            <a:ext cx="4572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1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Nouveau sujet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6675120" y="20116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Estimation de tension sur banc moteur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6675120" y="2834640"/>
            <a:ext cx="45720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Banc reproductible, conditions maîtrisées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Dataset constituable en un </a:t>
            </a:r>
            <a:r>
              <a:rPr lang="en-US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temps acceptables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Logique du projet conservée : IA sur signaux physiques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Objectif fonctionnel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07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Estimer le niveau de tension appliqué au moteur à partir du son et de la 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40080" y="2286000"/>
            <a:ext cx="516636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868680" y="255117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554480" y="25603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Mesurer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914400" y="320040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Capter en continu son (I2S 16 kHz) et vibration mécanique (BLE 3 axes)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355080" y="2286000"/>
            <a:ext cx="516636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583680" y="25146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6583680" y="255117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7269480" y="25603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Transmettre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6629400" y="320040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Envoyer au PC par Wi-Fi : flux UDP des données, TCP pour les métadonnées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40117" y="4389155"/>
            <a:ext cx="5166300" cy="196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868680" y="4754880"/>
            <a:ext cx="502920" cy="502920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868680" y="479145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554480" y="48006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914400" y="544068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Dataset CSV à plat indexé par un fichier maître metadata_captures_moteur.csv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355118" y="4389143"/>
            <a:ext cx="5166300" cy="1965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A0B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583680" y="4754880"/>
            <a:ext cx="502920" cy="502920"/>
          </a:xfrm>
          <a:prstGeom prst="ellipse">
            <a:avLst/>
          </a:prstGeom>
          <a:solidFill>
            <a:srgbClr val="1A0B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6583680" y="479145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7269480" y="48006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Prédire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6629400" y="544068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Modèle CNN double branche : sortie en % de la tension max de la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Banc d'essai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08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640080" y="1554480"/>
            <a:ext cx="6400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Moteur électrique CC alimenté par alimentation à tension réglable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Deux conditions de charge retenues pour leur reproductibilité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Tension maximale mesurée propre à chaque condition (référence du label en 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Troisième condition (frein + inertie) écartée : reproductibilité insuffisante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772400" y="1737360"/>
            <a:ext cx="393192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7955279" y="1874519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Conditions retenues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955279" y="2331720"/>
            <a:ext cx="3657600" cy="1280160"/>
          </a:xfrm>
          <a:prstGeom prst="roundRect">
            <a:avLst>
              <a:gd fmla="val 16667" name="adj"/>
            </a:avLst>
          </a:prstGeom>
          <a:solidFill>
            <a:srgbClr val="EF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8092440" y="2423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— Sans frein (à vide)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8092440" y="27889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Tension max  ·  30,3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8092440" y="31546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Référence du label : 100 %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955279" y="3749039"/>
            <a:ext cx="3657600" cy="1280160"/>
          </a:xfrm>
          <a:prstGeom prst="roundRect">
            <a:avLst>
              <a:gd fmla="val 16667" name="adj"/>
            </a:avLst>
          </a:prstGeom>
          <a:solidFill>
            <a:srgbClr val="FDE9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8092440" y="3840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 — Avec frein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8092440" y="42062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Tension max  ·  28,7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8092440" y="45720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Référence du label : 100 %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Capteurs et chaîne d'acquisition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09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40080" y="1554480"/>
            <a:ext cx="54864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914400" y="178308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150876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Microphone I2S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1508760" y="2240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INMP441 — capteur MEMS numérique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914400" y="2788920"/>
            <a:ext cx="51206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Fréquence théorique 16 kHz, effective ≈ 15,8 kHz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Mono, 32 bits par échantillon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Connexion ESP32 : SCK GPIO14, WS GPIO25, SD GPIO32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263640" y="1554480"/>
            <a:ext cx="548640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537959" y="1783080"/>
            <a:ext cx="365760" cy="365760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713232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Capteur de 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7132320" y="2240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WTVB01-BT50 — module BLE 3 axes WIT Motion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6537959" y="2788920"/>
            <a:ext cx="51207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Trame BLE de 28 octets, en-tête 0x55 0x61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13 valeurs : VX/VY/VZ, ADX/ADY/ADZ, T°, DX/DY/DZ, HZX/HZY/HZZ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200 Hz déclaré, ≈ 10 Hz effectif (conflit BLE / Wi-Fi sur ESP32)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aede78a28_0_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eaede78a28_0_15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aede78a28_0_15"/>
          <p:cNvSpPr txBox="1"/>
          <p:nvPr/>
        </p:nvSpPr>
        <p:spPr>
          <a:xfrm>
            <a:off x="914400" y="384048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Acquisition des données son/vibration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eaede78a28_0_15"/>
          <p:cNvSpPr txBox="1"/>
          <p:nvPr/>
        </p:nvSpPr>
        <p:spPr>
          <a:xfrm>
            <a:off x="10911535" y="649224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eaede78a28_0_15"/>
          <p:cNvSpPr txBox="1"/>
          <p:nvPr/>
        </p:nvSpPr>
        <p:spPr>
          <a:xfrm>
            <a:off x="502920" y="6492240"/>
            <a:ext cx="8229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aede78a28_0_15"/>
          <p:cNvSpPr txBox="1"/>
          <p:nvPr/>
        </p:nvSpPr>
        <p:spPr>
          <a:xfrm>
            <a:off x="640080" y="5852160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Capteurs → ESP32 → Wi-Fi → serveurs Python → CSV → modèle IA Keras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g3eaede78a28_0_15" title="Chaine capte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087" y="971887"/>
            <a:ext cx="8492775" cy="491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ESP32 — rôle de concentrateur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Un seul microcontrôleur orchestre l'ensemble de l'acquisition embarquée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640080" y="2194560"/>
            <a:ext cx="109728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Pilote l'interface I2S pour récupérer les échantillons audio en continu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Ouvre une connexion BLE cliente vers le capteur de vibration et souscrit aux notifications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Émet deux flux UDP distincts vers le PC opérateur (préfixes SOUND et VIB)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Mutex FreeRTOS : sérialise les envois UDP entre tâche audio et callback BLE — pas d'entrelacement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Reconnexion Wi-Fi et BLE automatique en cas de coupure réseau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09455" y="5577855"/>
            <a:ext cx="10972800" cy="777300"/>
          </a:xfrm>
          <a:prstGeom prst="roundRect">
            <a:avLst>
              <a:gd fmla="val 16667" name="adj"/>
            </a:avLst>
          </a:prstGeom>
          <a:solidFill>
            <a:srgbClr val="EF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Optimisations firmware  ·  snprintf au lieu de String, APLL activée, buffers DMA × 8, MTU BLE 247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914400" y="38404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Architecture logicielle bout-en-bout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10911535" y="649224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502920" y="64922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Capteurs → ESP32 → Wi-Fi → serveurs Python → CSV → modèle IA Keras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_deploiement.png" id="298" name="Google Shape;2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5" y="0"/>
            <a:ext cx="12135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Plan d'expérience — 110 sessions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640080" y="15544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640080" y="2697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niveaux de tension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3474720" y="15544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×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3474720" y="2697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conditions de charge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6309360" y="15544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×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6309360" y="2697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captures par couple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9144000" y="155448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1A0B3D"/>
                </a:solidFill>
                <a:latin typeface="Calibri"/>
                <a:ea typeface="Calibri"/>
                <a:cs typeface="Calibri"/>
                <a:sym typeface="Calibri"/>
              </a:rPr>
              <a:t>= 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 txBox="1"/>
          <p:nvPr/>
        </p:nvSpPr>
        <p:spPr>
          <a:xfrm>
            <a:off x="9144000" y="2697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sessions de 15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640080" y="3840480"/>
            <a:ext cx="1097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Niveaux : 0, 10, 20, ..., 100 % de la tension maximale propre à la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Conditions : A_vide (sans frein) et B_frein (avec frein)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Durée totale ≈ 1 h 50 de banc moteur, réalisée en deux phases pour limiter la dérive thermique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Vérification rapide du dataset à mi-parcours avant la phase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Pourquoi la tension et non la puissance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Décision d'ingénierie justifiée par la disponibilité matérielle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640080" y="2194560"/>
            <a:ext cx="10972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 = U × I exigerait simultanément tension et courant — pas de capteur d'intensité disponible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La tension reste une fonction monotone de la puissance pour une charge fixée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C'est donc un proxy honnête de la puissance, suffisant pour caractériser l'effort moteur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Approche relative par condition : chaque condition a sa propre tension maximale = 100 %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Normalisation : label_apprentissage = pourcentage / 100,0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40080" y="5577840"/>
            <a:ext cx="10972800" cy="868680"/>
          </a:xfrm>
          <a:prstGeom prst="roundRect">
            <a:avLst>
              <a:gd fmla="val 16667" name="adj"/>
            </a:avLst>
          </a:prstGeom>
          <a:solidFill>
            <a:srgbClr val="EF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Perspective : ajout d'un capteur de courant (effet Hall) permettrait la mesure directe de la puissance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_bg.jpg" id="337" name="Google Shape;33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4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1" lang="en-US" sz="2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Partie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 contribution individuelle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Pipeline d'acquisition logicielle et modèle d'intelligence artificielle.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5730087" y="5212080"/>
            <a:ext cx="73152" cy="73152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5958687" y="5212080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187287" y="5212080"/>
            <a:ext cx="73152" cy="73152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Périmètre de ma contribution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Deux briques fonctionnelles complémentaires de la chaîne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640080" y="2286000"/>
            <a:ext cx="548640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 txBox="1"/>
          <p:nvPr/>
        </p:nvSpPr>
        <p:spPr>
          <a:xfrm>
            <a:off x="868680" y="256946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1508760" y="2514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Pipeline d'acquisition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914400" y="320040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Serveur TCP de métadonnées (port 9090)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Client UDP de données capteurs (port 9091)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Format CSV maître metadata_captures_moteur.csv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6263640" y="2286000"/>
            <a:ext cx="548640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6492240" y="2514600"/>
            <a:ext cx="457200" cy="457200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6492240" y="256946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7132320" y="2514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Modèle IA double branche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6537960" y="320040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Architecture CNN à deux branches (son + vibration)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Mel-spectrogrammes en entrée, sortie en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Augmentations + split anti-fuite par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Serveur TCP de métadonnées  ·  port 9090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6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serveurTCP_metadonnes_moteur.py — point d'entrée des métadonnées de 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Mode bloquant à connexion courte : 1 connexion = 1 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L'IHM envoie un marqueur START suivi d'une ligne CSV à 5 champs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5 champs : condition_charge, durée, fréquence_son, fréquence_vibration, niveau_tension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Normalisation de condition_charge via dictionnaire (A_vide / B_frein canoniques)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Calcul automatique de l'identifiant : get_next_id sur nombre de lignes existantes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Écriture d'une ligne complète dans metadata_captures_moteur.csv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Génère les noms son_N.csv et vib_N.csv pour cohérence avec le client UDP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 UDP de données  ·  port 9091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clientUDP_données.py — réception haut débit des signaux capteurs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Buffer UDP agrandi à 8 Mo pour éviter les pertes à haute fréquence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Lit l'identifiant de session courant depuis le fichier maître 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Détecte automatiquement le début et la fin d'une capture (timeout 3 s d'inactivité)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Parse 2 formats de trames : SOUND,ts,amp1,amp2,…  et  VIB,ts,VX,VY,…,HZZ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Trames VIB strictement contrôlées : 15 champs exacts sinon rejet (défense en profondeur)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Reconstruction des timestamps son à partir de la fréquence d'échantillonnage déclarée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Estimation de la fréquence effective + taux de perte affichés en fin de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Format du fichier maître metadata_captures_moteur.csv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8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8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9 colonnes — contrat de données partagé entre IHM, acquisition et modèle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640080" y="210312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 txBox="1"/>
          <p:nvPr/>
        </p:nvSpPr>
        <p:spPr>
          <a:xfrm>
            <a:off x="822960" y="21579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id_session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8"/>
          <p:cNvSpPr txBox="1"/>
          <p:nvPr/>
        </p:nvSpPr>
        <p:spPr>
          <a:xfrm>
            <a:off x="5029200" y="215798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identifiant unique auto-incrémenté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640080" y="251460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3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 txBox="1"/>
          <p:nvPr/>
        </p:nvSpPr>
        <p:spPr>
          <a:xfrm>
            <a:off x="822960" y="256946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time_session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8"/>
          <p:cNvSpPr txBox="1"/>
          <p:nvPr/>
        </p:nvSpPr>
        <p:spPr>
          <a:xfrm>
            <a:off x="5029200" y="25694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horodatage  ·  YYYY-MM-DD_HH:MM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640080" y="292608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 txBox="1"/>
          <p:nvPr/>
        </p:nvSpPr>
        <p:spPr>
          <a:xfrm>
            <a:off x="822960" y="29809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condition_charge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8"/>
          <p:cNvSpPr txBox="1"/>
          <p:nvPr/>
        </p:nvSpPr>
        <p:spPr>
          <a:xfrm>
            <a:off x="5029200" y="298094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A_vide  ou  B_frein (canonique)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640080" y="333756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3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 txBox="1"/>
          <p:nvPr/>
        </p:nvSpPr>
        <p:spPr>
          <a:xfrm>
            <a:off x="822960" y="33924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duree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5029200" y="339242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durée nominale  ·  15 s par défaut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640080" y="374904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 txBox="1"/>
          <p:nvPr/>
        </p:nvSpPr>
        <p:spPr>
          <a:xfrm>
            <a:off x="822960" y="38039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frequence_son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5029200" y="380390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fréquence d'échantillonnage déclarée 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640080" y="416052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3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822960" y="42153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frequence_vibration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8"/>
          <p:cNvSpPr txBox="1"/>
          <p:nvPr/>
        </p:nvSpPr>
        <p:spPr>
          <a:xfrm>
            <a:off x="5029200" y="421538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fréquence déclarée 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640080" y="457200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 txBox="1"/>
          <p:nvPr/>
        </p:nvSpPr>
        <p:spPr>
          <a:xfrm>
            <a:off x="822960" y="462686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fichier_son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 txBox="1"/>
          <p:nvPr/>
        </p:nvSpPr>
        <p:spPr>
          <a:xfrm>
            <a:off x="5029200" y="46268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son_N.csv (lié à id_session)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640080" y="498348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3F0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822960" y="50383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fichier_vibration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8"/>
          <p:cNvSpPr txBox="1"/>
          <p:nvPr/>
        </p:nvSpPr>
        <p:spPr>
          <a:xfrm>
            <a:off x="5029200" y="503834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vib_N.csv (lié à id_session)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640080" y="5394960"/>
            <a:ext cx="109728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 txBox="1"/>
          <p:nvPr/>
        </p:nvSpPr>
        <p:spPr>
          <a:xfrm>
            <a:off x="822960" y="54498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onsolas"/>
                <a:ea typeface="Consolas"/>
                <a:cs typeface="Consolas"/>
                <a:sym typeface="Consolas"/>
              </a:rPr>
              <a:t>niveau_tension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5029200" y="544982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label IA en % de la tension max [0, 100]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Pourquoi une architecture double branche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9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9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Deux modalités physiques complémentaires, fusionnées tardivement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640080" y="2286000"/>
            <a:ext cx="41148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822960" y="24688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Branche 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 txBox="1"/>
          <p:nvPr/>
        </p:nvSpPr>
        <p:spPr>
          <a:xfrm>
            <a:off x="822960" y="3017520"/>
            <a:ext cx="3840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Spectre acoustique 16 kHz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Riche en transitoires haute fréquence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Mel-spectrogramme 64 bandes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7360920" y="2286000"/>
            <a:ext cx="4114800" cy="320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 txBox="1"/>
          <p:nvPr/>
        </p:nvSpPr>
        <p:spPr>
          <a:xfrm>
            <a:off x="7543800" y="24688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Branche 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 txBox="1"/>
          <p:nvPr/>
        </p:nvSpPr>
        <p:spPr>
          <a:xfrm>
            <a:off x="7543800" y="3017520"/>
            <a:ext cx="3840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Vibration axe Z à 10 Hz effectif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Signature mécanique basse fréquence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Mel-spectrogramme 32 bandes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9"/>
          <p:cNvSpPr txBox="1"/>
          <p:nvPr/>
        </p:nvSpPr>
        <p:spPr>
          <a:xfrm>
            <a:off x="4846320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9"/>
          <p:cNvSpPr txBox="1"/>
          <p:nvPr/>
        </p:nvSpPr>
        <p:spPr>
          <a:xfrm>
            <a:off x="6858000" y="3520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5349240" y="2743200"/>
            <a:ext cx="1463040" cy="201168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 txBox="1"/>
          <p:nvPr/>
        </p:nvSpPr>
        <p:spPr>
          <a:xfrm>
            <a:off x="5349240" y="288036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9"/>
          <p:cNvSpPr txBox="1"/>
          <p:nvPr/>
        </p:nvSpPr>
        <p:spPr>
          <a:xfrm>
            <a:off x="5349240" y="3383280"/>
            <a:ext cx="1463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 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Dropout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Sortie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aede78a28_0_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aede78a28_0_3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aede78a28_0_3"/>
          <p:cNvSpPr txBox="1"/>
          <p:nvPr/>
        </p:nvSpPr>
        <p:spPr>
          <a:xfrm>
            <a:off x="914400" y="384048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Modèle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eaede78a28_0_3"/>
          <p:cNvSpPr txBox="1"/>
          <p:nvPr/>
        </p:nvSpPr>
        <p:spPr>
          <a:xfrm>
            <a:off x="10911535" y="649224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eaede78a28_0_3"/>
          <p:cNvSpPr txBox="1"/>
          <p:nvPr/>
        </p:nvSpPr>
        <p:spPr>
          <a:xfrm>
            <a:off x="502920" y="6492240"/>
            <a:ext cx="8229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eaede78a28_0_3"/>
          <p:cNvSpPr txBox="1"/>
          <p:nvPr/>
        </p:nvSpPr>
        <p:spPr>
          <a:xfrm>
            <a:off x="640080" y="5852160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Capteurs → ESP32 → Wi-Fi → serveurs Python → CSV → modèle IA Keras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IA.png" id="460" name="Google Shape;460;g3eaede78a28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365" y="1265923"/>
            <a:ext cx="10050949" cy="38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Représentation : mel-spectrogrammes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0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Transformer un signal temporel en image perçue comme un humain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64008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 txBox="1"/>
          <p:nvPr/>
        </p:nvSpPr>
        <p:spPr>
          <a:xfrm>
            <a:off x="64008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temporel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0"/>
          <p:cNvSpPr txBox="1"/>
          <p:nvPr/>
        </p:nvSpPr>
        <p:spPr>
          <a:xfrm>
            <a:off x="228600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251460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 txBox="1"/>
          <p:nvPr/>
        </p:nvSpPr>
        <p:spPr>
          <a:xfrm>
            <a:off x="251460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0"/>
          <p:cNvSpPr txBox="1"/>
          <p:nvPr/>
        </p:nvSpPr>
        <p:spPr>
          <a:xfrm>
            <a:off x="416052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438912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 txBox="1"/>
          <p:nvPr/>
        </p:nvSpPr>
        <p:spPr>
          <a:xfrm>
            <a:off x="438912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Échelle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0"/>
          <p:cNvSpPr txBox="1"/>
          <p:nvPr/>
        </p:nvSpPr>
        <p:spPr>
          <a:xfrm>
            <a:off x="603504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626364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0"/>
          <p:cNvSpPr txBox="1"/>
          <p:nvPr/>
        </p:nvSpPr>
        <p:spPr>
          <a:xfrm>
            <a:off x="626364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0"/>
          <p:cNvSpPr txBox="1"/>
          <p:nvPr/>
        </p:nvSpPr>
        <p:spPr>
          <a:xfrm>
            <a:off x="790956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813816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 txBox="1"/>
          <p:nvPr/>
        </p:nvSpPr>
        <p:spPr>
          <a:xfrm>
            <a:off x="813816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Normalisation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[0,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0"/>
          <p:cNvSpPr txBox="1"/>
          <p:nvPr/>
        </p:nvSpPr>
        <p:spPr>
          <a:xfrm>
            <a:off x="9784080" y="278892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10012680" y="2377440"/>
            <a:ext cx="169164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 txBox="1"/>
          <p:nvPr/>
        </p:nvSpPr>
        <p:spPr>
          <a:xfrm>
            <a:off x="10012680" y="237744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128 × 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0"/>
          <p:cNvSpPr txBox="1"/>
          <p:nvPr/>
        </p:nvSpPr>
        <p:spPr>
          <a:xfrm>
            <a:off x="640080" y="4206240"/>
            <a:ext cx="10972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Découpage du son en fenêtres de 1 s avec recouvrement 50 % (augmentation gratuite)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Mel-spectrogramme son : 64 bandes  ·  vibration : 32 bandes (n_fft adaptatif)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Toutes les entrées du réseau ramenées à 128 × 128 px, un seul canal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Augmentations et split anti-fuite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1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1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Robustifier l'entraînement avec peu de captures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640080" y="2194560"/>
            <a:ext cx="548640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 txBox="1"/>
          <p:nvPr/>
        </p:nvSpPr>
        <p:spPr>
          <a:xfrm>
            <a:off x="822960" y="23317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Augmentations d'entraînement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1"/>
          <p:cNvSpPr txBox="1"/>
          <p:nvPr/>
        </p:nvSpPr>
        <p:spPr>
          <a:xfrm>
            <a:off x="822960" y="2788920"/>
            <a:ext cx="5120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Bruit gaussien ajouté au signal brut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Décalage temporel (time shift) aléatoire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SpecAugment : masquage de bandes de temps et de fréquence sur le spectrogramme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Multiplie virtuellement la taille du dataset par ≈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6263640" y="2194560"/>
            <a:ext cx="5486400" cy="3840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 txBox="1"/>
          <p:nvPr/>
        </p:nvSpPr>
        <p:spPr>
          <a:xfrm>
            <a:off x="6446520" y="23317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Split anti-fuite par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1"/>
          <p:cNvSpPr txBox="1"/>
          <p:nvPr/>
        </p:nvSpPr>
        <p:spPr>
          <a:xfrm>
            <a:off x="6446520" y="2788920"/>
            <a:ext cx="5120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Toutes les fenêtres d'une même capture vont au même split (train OU val OU test)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Empêche le modèle de mémoriser une signature acoustique vue à l'entraînement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4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Métrique d'évaluation : MAE par capture (et non par fenêtre)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Architecture du réseau de neurones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2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Deux branches CNN convolutives + fusion par concaténation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2"/>
          <p:cNvSpPr txBox="1"/>
          <p:nvPr/>
        </p:nvSpPr>
        <p:spPr>
          <a:xfrm>
            <a:off x="640080" y="242316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Spectro 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2011680" y="22860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 txBox="1"/>
          <p:nvPr/>
        </p:nvSpPr>
        <p:spPr>
          <a:xfrm>
            <a:off x="2011680" y="22860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Conv 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3108960" y="22860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 txBox="1"/>
          <p:nvPr/>
        </p:nvSpPr>
        <p:spPr>
          <a:xfrm>
            <a:off x="3108960" y="22860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Conv 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4206240" y="22860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2"/>
          <p:cNvSpPr txBox="1"/>
          <p:nvPr/>
        </p:nvSpPr>
        <p:spPr>
          <a:xfrm>
            <a:off x="4206240" y="22860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Conv 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5303520" y="22860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 txBox="1"/>
          <p:nvPr/>
        </p:nvSpPr>
        <p:spPr>
          <a:xfrm>
            <a:off x="5303520" y="22860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GlobAvg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2"/>
          <p:cNvSpPr txBox="1"/>
          <p:nvPr/>
        </p:nvSpPr>
        <p:spPr>
          <a:xfrm>
            <a:off x="640080" y="379476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Spectro vib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2011680" y="36576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 txBox="1"/>
          <p:nvPr/>
        </p:nvSpPr>
        <p:spPr>
          <a:xfrm>
            <a:off x="2011680" y="36576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Conv 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3108960" y="36576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 txBox="1"/>
          <p:nvPr/>
        </p:nvSpPr>
        <p:spPr>
          <a:xfrm>
            <a:off x="3108960" y="36576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Conv 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4206240" y="36576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 txBox="1"/>
          <p:nvPr/>
        </p:nvSpPr>
        <p:spPr>
          <a:xfrm>
            <a:off x="4206240" y="36576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Conv 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5303520" y="3657600"/>
            <a:ext cx="100584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 txBox="1"/>
          <p:nvPr/>
        </p:nvSpPr>
        <p:spPr>
          <a:xfrm>
            <a:off x="5303520" y="36576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GlobAvg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6606548" y="2468875"/>
            <a:ext cx="1371600" cy="155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 txBox="1"/>
          <p:nvPr/>
        </p:nvSpPr>
        <p:spPr>
          <a:xfrm>
            <a:off x="6606560" y="2881888"/>
            <a:ext cx="137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Concat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Dense 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8355348" y="2698988"/>
            <a:ext cx="1371600" cy="109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A0B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 txBox="1"/>
          <p:nvPr/>
        </p:nvSpPr>
        <p:spPr>
          <a:xfrm>
            <a:off x="8355335" y="3039938"/>
            <a:ext cx="137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0B3D"/>
                </a:solidFill>
                <a:latin typeface="Calibri"/>
                <a:ea typeface="Calibri"/>
                <a:cs typeface="Calibri"/>
                <a:sym typeface="Calibri"/>
              </a:rPr>
              <a:t>Dense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0B3D"/>
                </a:solidFill>
                <a:latin typeface="Calibri"/>
                <a:ea typeface="Calibri"/>
                <a:cs typeface="Calibri"/>
                <a:sym typeface="Calibri"/>
              </a:rPr>
              <a:t>sigmoid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2"/>
          <p:cNvSpPr txBox="1"/>
          <p:nvPr/>
        </p:nvSpPr>
        <p:spPr>
          <a:xfrm>
            <a:off x="9808220" y="3078988"/>
            <a:ext cx="13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× 100 →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2"/>
          <p:cNvSpPr txBox="1"/>
          <p:nvPr/>
        </p:nvSpPr>
        <p:spPr>
          <a:xfrm>
            <a:off x="3017520" y="24688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2"/>
          <p:cNvSpPr txBox="1"/>
          <p:nvPr/>
        </p:nvSpPr>
        <p:spPr>
          <a:xfrm>
            <a:off x="4114800" y="24688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2"/>
          <p:cNvSpPr txBox="1"/>
          <p:nvPr/>
        </p:nvSpPr>
        <p:spPr>
          <a:xfrm>
            <a:off x="5212080" y="24688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2"/>
          <p:cNvSpPr txBox="1"/>
          <p:nvPr/>
        </p:nvSpPr>
        <p:spPr>
          <a:xfrm>
            <a:off x="3017520" y="3840479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2"/>
          <p:cNvSpPr txBox="1"/>
          <p:nvPr/>
        </p:nvSpPr>
        <p:spPr>
          <a:xfrm>
            <a:off x="4114800" y="3840479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2"/>
          <p:cNvSpPr txBox="1"/>
          <p:nvPr/>
        </p:nvSpPr>
        <p:spPr>
          <a:xfrm>
            <a:off x="5212080" y="3840479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2"/>
          <p:cNvSpPr txBox="1"/>
          <p:nvPr/>
        </p:nvSpPr>
        <p:spPr>
          <a:xfrm>
            <a:off x="6309360" y="24688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2"/>
          <p:cNvSpPr txBox="1"/>
          <p:nvPr/>
        </p:nvSpPr>
        <p:spPr>
          <a:xfrm>
            <a:off x="6309360" y="38404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2"/>
          <p:cNvSpPr txBox="1"/>
          <p:nvPr/>
        </p:nvSpPr>
        <p:spPr>
          <a:xfrm>
            <a:off x="7978150" y="3109015"/>
            <a:ext cx="36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640080" y="5120640"/>
            <a:ext cx="10972800" cy="1280160"/>
          </a:xfrm>
          <a:prstGeom prst="roundRect">
            <a:avLst>
              <a:gd fmla="val 16667" name="adj"/>
            </a:avLst>
          </a:prstGeom>
          <a:solidFill>
            <a:srgbClr val="EF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2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Loss : MSE   ·   Métrique : MAE en %   ·   Optimiseur : Adam, lr 1e-3   ·   Batch 32   ·   50 epochs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2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Tâche de régression : sortie sigmoïde × 100 → niveau de tension en pourcentage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Décision d'ingénierie  ·  Option A : |VZ| seul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23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3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Pourquoi n'utiliser qu'un seul axe vibration sur les trois disponibles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3"/>
          <p:cNvSpPr txBox="1"/>
          <p:nvPr/>
        </p:nvSpPr>
        <p:spPr>
          <a:xfrm>
            <a:off x="640080" y="2194560"/>
            <a:ext cx="10972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Observation : axes VX et VY figés à 271 et 1 dans notre configuration capteur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Cause identifiée : axes perpendiculaires à la vibration dominante du moteur, sous le seuil MEMS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Magnitude 3-axes √(VX² + VY² + VZ²) aurait un plancher à ≈ 271 qui écrase la dynamique utile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5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Option A retenue : utiliser |VZ| seul comme signal vibration → on récupère la vraie variation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Résultats  ·  courbes d'entraînement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24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ts_modele.png" id="575" name="Google Shape;5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54480"/>
            <a:ext cx="777240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4"/>
          <p:cNvSpPr/>
          <p:nvPr/>
        </p:nvSpPr>
        <p:spPr>
          <a:xfrm>
            <a:off x="8686800" y="1554480"/>
            <a:ext cx="3017520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 txBox="1"/>
          <p:nvPr/>
        </p:nvSpPr>
        <p:spPr>
          <a:xfrm>
            <a:off x="8869680" y="1691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4"/>
          <p:cNvSpPr txBox="1"/>
          <p:nvPr/>
        </p:nvSpPr>
        <p:spPr>
          <a:xfrm>
            <a:off x="8823955" y="2103120"/>
            <a:ext cx="28347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Convergence stable sur </a:t>
            </a:r>
            <a:r>
              <a:rPr lang="en-US" sz="1200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 epochs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Pas de divergence train/val significative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MAE entraînement décroît régulièrement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2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Validation se stabilise → fin d'apprentissage utile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502920" y="530352"/>
            <a:ext cx="228600" cy="22860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5"/>
          <p:cNvSpPr txBox="1"/>
          <p:nvPr/>
        </p:nvSpPr>
        <p:spPr>
          <a:xfrm>
            <a:off x="914400" y="38404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Résultats  ·  MAE 11,2 % par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5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 /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BTS CIEL 2026  ·  Soutenance U6  ·  Noa Orand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5"/>
          <p:cNvSpPr/>
          <p:nvPr/>
        </p:nvSpPr>
        <p:spPr>
          <a:xfrm>
            <a:off x="640080" y="1737360"/>
            <a:ext cx="530352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 txBox="1"/>
          <p:nvPr/>
        </p:nvSpPr>
        <p:spPr>
          <a:xfrm>
            <a:off x="640080" y="19202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Erreur absolue moyenne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5"/>
          <p:cNvSpPr txBox="1"/>
          <p:nvPr/>
        </p:nvSpPr>
        <p:spPr>
          <a:xfrm>
            <a:off x="640080" y="246888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en-US" sz="1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11,2 %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5"/>
          <p:cNvSpPr txBox="1"/>
          <p:nvPr/>
        </p:nvSpPr>
        <p:spPr>
          <a:xfrm>
            <a:off x="640080" y="457200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par capture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5"/>
          <p:cNvSpPr txBox="1"/>
          <p:nvPr/>
        </p:nvSpPr>
        <p:spPr>
          <a:xfrm>
            <a:off x="640080" y="51206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Métrique métier — pourcentage de tension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5"/>
          <p:cNvSpPr/>
          <p:nvPr/>
        </p:nvSpPr>
        <p:spPr>
          <a:xfrm>
            <a:off x="6263640" y="1737360"/>
            <a:ext cx="5486400" cy="411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5"/>
          <p:cNvSpPr txBox="1"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Comparaison à une baseline naïve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5"/>
          <p:cNvSpPr txBox="1"/>
          <p:nvPr/>
        </p:nvSpPr>
        <p:spPr>
          <a:xfrm>
            <a:off x="6446520" y="26060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Baseline (prédire la moyenne) : ≈ 27 %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5"/>
          <p:cNvSpPr txBox="1"/>
          <p:nvPr/>
        </p:nvSpPr>
        <p:spPr>
          <a:xfrm>
            <a:off x="6446520" y="3063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Modèle double branche : 11,2 %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5"/>
          <p:cNvSpPr txBox="1"/>
          <p:nvPr/>
        </p:nvSpPr>
        <p:spPr>
          <a:xfrm>
            <a:off x="6446520" y="36118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→ erreur divisée par ≈ 2,5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5"/>
          <p:cNvSpPr txBox="1"/>
          <p:nvPr/>
        </p:nvSpPr>
        <p:spPr>
          <a:xfrm>
            <a:off x="6446520" y="4297680"/>
            <a:ext cx="5120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Preuve de concept fonctionnelle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334055"/>
                </a:solidFill>
                <a:latin typeface="Calibri"/>
                <a:ea typeface="Calibri"/>
                <a:cs typeface="Calibri"/>
                <a:sym typeface="Calibri"/>
              </a:rPr>
              <a:t>Marge d'amélioration : campagne complète + meilleure qualité vibration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_bg.jpg" id="605" name="Google Shape;6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6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et perspectives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6"/>
          <p:cNvSpPr/>
          <p:nvPr/>
        </p:nvSpPr>
        <p:spPr>
          <a:xfrm>
            <a:off x="640080" y="1828800"/>
            <a:ext cx="5394960" cy="2103120"/>
          </a:xfrm>
          <a:prstGeom prst="roundRect">
            <a:avLst>
              <a:gd fmla="val 16667" name="adj"/>
            </a:avLst>
          </a:prstGeom>
          <a:solidFill>
            <a:srgbClr val="2A145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6"/>
          <p:cNvSpPr txBox="1"/>
          <p:nvPr/>
        </p:nvSpPr>
        <p:spPr>
          <a:xfrm>
            <a:off x="868680" y="1965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Bilan technique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6"/>
          <p:cNvSpPr txBox="1"/>
          <p:nvPr/>
        </p:nvSpPr>
        <p:spPr>
          <a:xfrm>
            <a:off x="868680" y="237744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Chaîne complète fonctionnelle de bout en 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Modèle IA défendable (MAE 11,2 %)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Décisions d'ingénierie documentées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6"/>
          <p:cNvSpPr/>
          <p:nvPr/>
        </p:nvSpPr>
        <p:spPr>
          <a:xfrm>
            <a:off x="6126480" y="1828800"/>
            <a:ext cx="5394960" cy="2103120"/>
          </a:xfrm>
          <a:prstGeom prst="roundRect">
            <a:avLst>
              <a:gd fmla="val 16667" name="adj"/>
            </a:avLst>
          </a:prstGeom>
          <a:solidFill>
            <a:srgbClr val="2A145E"/>
          </a:solidFill>
          <a:ln cap="flat" cmpd="sng" w="12700">
            <a:solidFill>
              <a:srgbClr val="E879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6"/>
          <p:cNvSpPr txBox="1"/>
          <p:nvPr/>
        </p:nvSpPr>
        <p:spPr>
          <a:xfrm>
            <a:off x="6355080" y="1965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Perspectives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6"/>
          <p:cNvSpPr txBox="1"/>
          <p:nvPr/>
        </p:nvSpPr>
        <p:spPr>
          <a:xfrm>
            <a:off x="6355080" y="237744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Compléter la campagne 110 captures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Ajouter capteur courant → mesure directe puissance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79F9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Comparer mono-modalité vs double branche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6"/>
          <p:cNvSpPr txBox="1"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pour votre attention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6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Place aux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5730087" y="6035040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6"/>
          <p:cNvSpPr/>
          <p:nvPr/>
        </p:nvSpPr>
        <p:spPr>
          <a:xfrm>
            <a:off x="6040983" y="603504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6351879" y="6035040"/>
            <a:ext cx="109728" cy="109728"/>
          </a:xfrm>
          <a:prstGeom prst="ellipse">
            <a:avLst/>
          </a:prstGeom>
          <a:solidFill>
            <a:srgbClr val="E879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