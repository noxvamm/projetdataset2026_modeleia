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8" roundtripDataSignature="AMtx7mjwvcRel8fNcXB6z5sISj5pHEIeA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Bonjour, je suis Noa Orand. Je vous présente mon projet de fin d'études : l'estimation par intelligence artificielle du niveau de tension d'un moteur électrique à partir de signaux acoustiques et vibratoires. 20 minutes : présentation du projet d'équipe, puis ma contribution personnelle.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Plan : projet collectif (10 min) puis ma contribution (10 min). Le jury me questionnera ensuite pendant 20 minutes.</a:t>
            </a:r>
            <a:endParaRPr/>
          </a:p>
        </p:txBody>
      </p:sp>
      <p:sp>
        <p:nvSpPr>
          <p:cNvPr id="97" name="Google Shape;97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2" name="Google Shape;122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On démarre par la présentation du projet collectif.</a:t>
            </a:r>
            <a:endParaRPr/>
          </a:p>
        </p:txBody>
      </p:sp>
      <p:sp>
        <p:nvSpPr>
          <p:cNvPr id="123" name="Google Shape;123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Projet collectif à quatre. Je m'occupe du pipeline d'acquisition logicielle et du modèle IA. Hugo gère la qualité des données et le versionnage. Mederick le firmware embarqué. Ege l'IHM Qt.</a:t>
            </a:r>
            <a:endParaRPr/>
          </a:p>
        </p:txBody>
      </p:sp>
      <p:sp>
        <p:nvSpPr>
          <p:cNvPr id="135" name="Google Shape;13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projet s'inscrit dans le domaine de la maintenance prédictive. L'idée : ausculter une machine pour anticiper sa défaillance.</a:t>
            </a:r>
            <a:endParaRPr/>
          </a:p>
        </p:txBody>
      </p:sp>
      <p:sp>
        <p:nvSpPr>
          <p:cNvPr id="156" name="Google Shape;156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6" name="Google Shape;176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pivot est un point fort : c'est une décision d'ingénierie justifiée, pas un échec.</a:t>
            </a:r>
            <a:endParaRPr/>
          </a:p>
        </p:txBody>
      </p:sp>
      <p:sp>
        <p:nvSpPr>
          <p:cNvPr id="177" name="Google Shape;177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ec4d09648f_0_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5" name="Google Shape;195;g3ec4d09648f_0_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Voici le diagramme de déploiement. Toute la chaîne est mise en lumière : le capteur, l'ESP32, le réseau, les serveurs Python (TCP métadonnées + UDP données), le stockage CSV et enfin le modèle d'IA en post-traitement.</a:t>
            </a:r>
            <a:endParaRPr/>
          </a:p>
        </p:txBody>
      </p:sp>
      <p:sp>
        <p:nvSpPr>
          <p:cNvPr id="196" name="Google Shape;196;g3ec4d09648f_0_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6" name="Google Shape;20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Quatre étapes du pipeline : mesurer, transmettre, stocker, prédire. Tout est fonctionnel de bout en bout.</a:t>
            </a:r>
            <a:endParaRPr/>
          </a:p>
        </p:txBody>
      </p:sp>
      <p:sp>
        <p:nvSpPr>
          <p:cNvPr id="207" name="Google Shape;20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Banc moteur volontairement simple. Deux conditions A_vide / B_frein. Le label IA est en pourcentage de la tension max propre à la condition, pour normaliser l'apprentissage.</a:t>
            </a:r>
            <a:endParaRPr/>
          </a:p>
        </p:txBody>
      </p:sp>
      <p:sp>
        <p:nvSpPr>
          <p:cNvPr id="249" name="Google Shape;24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Deux capteurs : microphone I2S pour le son à 16 kHz, et WTVB01-BT50 en BLE pour la vibration. La fréquence vibration effective est réduite à cause du partage d'antenne BLE/Wi-Fi sur l'ESP32 — limitation acceptée car le contenu utile est sous 5 Hz.</a:t>
            </a:r>
            <a:endParaRPr/>
          </a:p>
        </p:txBody>
      </p:sp>
      <p:sp>
        <p:nvSpPr>
          <p:cNvPr id="270" name="Google Shape;270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eaede78a28_0_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2" name="Google Shape;302;g3eaede78a28_0_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Voici le diagramme de déploiement. Toute la chaîne est mise en lumière : le capteur, l'ESP32, le réseau, les serveurs Python (TCP métadonnées + UDP données), le stockage CSV et enfin le modèle d'IA en post-traitement.</a:t>
            </a:r>
            <a:endParaRPr/>
          </a:p>
        </p:txBody>
      </p:sp>
      <p:sp>
        <p:nvSpPr>
          <p:cNvPr id="303" name="Google Shape;303;g3eaede78a28_0_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4" name="Google Shape;314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L'ESP32 est le concentrateur embarqué. Le firmware a été optimisé pour éviter les pertes : passage de String à snprintf, APLL pour l'I2S, et augmentation des buffers DMA. Résultat : fréquence son effective passée de 10 kHz à 15,8 kHz, soit 99 % de la cible.</a:t>
            </a:r>
            <a:endParaRPr/>
          </a:p>
        </p:txBody>
      </p:sp>
      <p:sp>
        <p:nvSpPr>
          <p:cNvPr id="315" name="Google Shape;315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Voici le diagramme de déploiement. Toute la chaîne est mise en lumière : le capteur, l'ESP32, le réseau, les serveurs Python (TCP métadonnées + UDP données), le stockage CSV et enfin le modèle d'IA en post-traitement.</a:t>
            </a:r>
            <a:endParaRPr/>
          </a:p>
        </p:txBody>
      </p:sp>
      <p:sp>
        <p:nvSpPr>
          <p:cNvPr id="329" name="Google Shape;329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9" name="Google Shape;339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plan est croisé. 11 niveaux × 2 conditions × 5 captures = 110 sessions. Découpage en deux phases pour éviter une dérive thermique du moteur.</a:t>
            </a:r>
            <a:endParaRPr/>
          </a:p>
        </p:txBody>
      </p:sp>
      <p:sp>
        <p:nvSpPr>
          <p:cNvPr id="340" name="Google Shape;340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8" name="Google Shape;358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On apprend la tension parce qu'on n'a pas de capteur de courant. C'est un proxy assumé et documenté.</a:t>
            </a:r>
            <a:endParaRPr/>
          </a:p>
        </p:txBody>
      </p:sp>
      <p:sp>
        <p:nvSpPr>
          <p:cNvPr id="359" name="Google Shape;359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0" name="Google Shape;370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Transition vers ma contribution personnelle.</a:t>
            </a:r>
            <a:endParaRPr/>
          </a:p>
        </p:txBody>
      </p:sp>
      <p:sp>
        <p:nvSpPr>
          <p:cNvPr id="371" name="Google Shape;371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2" name="Google Shape;382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Cette double responsabilité me permet de garantir que le format des données produites en amont est bien adapté à l'apprentissage en aval.</a:t>
            </a:r>
            <a:endParaRPr/>
          </a:p>
        </p:txBody>
      </p:sp>
      <p:sp>
        <p:nvSpPr>
          <p:cNvPr id="383" name="Google Shape;383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3" name="Google Shape;403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serveur TCP reçoit les métadonnées de session avant chaque capture, normalise la condition de charge, attribue un identifiant et indexe la session dans le fichier maître.</a:t>
            </a:r>
            <a:endParaRPr/>
          </a:p>
        </p:txBody>
      </p:sp>
      <p:sp>
        <p:nvSpPr>
          <p:cNvPr id="404" name="Google Shape;404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5" name="Google Shape;415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client UDP gère le flux haut débit du son. Le buffer est agrandi à 8 Mo. La détection de fin de capture par timeout est simple et fiable.</a:t>
            </a:r>
            <a:endParaRPr/>
          </a:p>
        </p:txBody>
      </p:sp>
      <p:sp>
        <p:nvSpPr>
          <p:cNvPr id="416" name="Google Shape;416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7" name="Google Shape;42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Voici le format CSV maître à 9 colonnes. C'est le contrat de données entre l'IHM, le pipeline d'acquisition et le modèle IA.</a:t>
            </a:r>
            <a:endParaRPr/>
          </a:p>
        </p:txBody>
      </p:sp>
      <p:sp>
        <p:nvSpPr>
          <p:cNvPr id="428" name="Google Shape;42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5" name="Google Shape;465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L'idée derrière la double branche : aucune modalité prise seule ne capture toute l'information. Le son apporte des transitoires haute fréquence, la vibration une signature basse fréquence. La fusion tardive permet d'apprendre ce qui est complémentaire.</a:t>
            </a:r>
            <a:endParaRPr/>
          </a:p>
        </p:txBody>
      </p:sp>
      <p:sp>
        <p:nvSpPr>
          <p:cNvPr id="466" name="Google Shape;466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0" name="Google Shape;500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 mel-spectrogramme transforme le signal temporel en une image, où l'axe Y est la fréquence (perçue à la manière de l'oreille humaine) et l'axe X le temps. C'est ce que voit le CNN.</a:t>
            </a:r>
            <a:endParaRPr/>
          </a:p>
        </p:txBody>
      </p:sp>
      <p:sp>
        <p:nvSpPr>
          <p:cNvPr id="501" name="Google Shape;501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9" name="Google Shape;529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Les augmentations multiplient artificiellement le dataset. Le split par capture empêche la fuite : si une fenêtre d'une capture est en train, toutes les autres y sont aussi.</a:t>
            </a:r>
            <a:endParaRPr/>
          </a:p>
        </p:txBody>
      </p:sp>
      <p:sp>
        <p:nvSpPr>
          <p:cNvPr id="530" name="Google Shape;530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6" name="Google Shape;546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Deux branches CNN identiques (3 convolutions + GlobalAvgPool) traitent indépendamment son et vibration. Concaténation, Dense, Dropout, et une sortie sigmoïde × 100 pour la régression du % de tension.</a:t>
            </a:r>
            <a:endParaRPr/>
          </a:p>
        </p:txBody>
      </p:sp>
      <p:sp>
        <p:nvSpPr>
          <p:cNvPr id="547" name="Google Shape;547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2" name="Google Shape;592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Décision documentée Option A : utiliser uniquement |VZ| parce que VX et VY sont saturés sous le seuil MEMS. C'est un argument à l'oral : analyse + référence au manuel constructeur.</a:t>
            </a:r>
            <a:endParaRPr/>
          </a:p>
        </p:txBody>
      </p:sp>
      <p:sp>
        <p:nvSpPr>
          <p:cNvPr id="593" name="Google Shape;593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04" name="Google Shape;60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Les courbes d'entraînement montrent une convergence stable sans surapprentissage marqué. La MAE de validation se stabilise vers la fin.</a:t>
            </a:r>
            <a:endParaRPr/>
          </a:p>
        </p:txBody>
      </p:sp>
      <p:sp>
        <p:nvSpPr>
          <p:cNvPr id="605" name="Google Shape;60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8" name="Google Shape;618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11,2 % de MAE par capture, contre 27 % pour une baseline naïve. C'est une division par 2,5, défendable comme preuve de concept même avec un dataset limité.</a:t>
            </a:r>
            <a:endParaRPr/>
          </a:p>
        </p:txBody>
      </p:sp>
      <p:sp>
        <p:nvSpPr>
          <p:cNvPr id="619" name="Google Shape;619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3ec4d09648f_0_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9" name="Google Shape;639;g3ec4d09648f_0_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11,2 % de MAE par capture, contre 27 % pour une baseline naïve. C'est une division par 2,5, défendable comme preuve de concept même avec un dataset limité.</a:t>
            </a:r>
            <a:endParaRPr/>
          </a:p>
        </p:txBody>
      </p:sp>
      <p:sp>
        <p:nvSpPr>
          <p:cNvPr id="640" name="Google Shape;640;g3ec4d09648f_0_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9" name="Google Shape;64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Conclusion : la chaîne complète fonctionne, le modèle est défendable. Perspectives : compléter le dataset, ajouter un capteur de courant pour la puissance directe, comparer double branche vs mono. Merci, je suis à votre disposition pour les questions.</a:t>
            </a:r>
            <a:endParaRPr/>
          </a:p>
        </p:txBody>
      </p:sp>
      <p:sp>
        <p:nvSpPr>
          <p:cNvPr id="650" name="Google Shape;65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i_brain.png" id="86" name="Google Shape;8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2807" y="502920"/>
            <a:ext cx="2926080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457200" y="3611880"/>
            <a:ext cx="11247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Estimat</a:t>
            </a:r>
            <a:r>
              <a:rPr b="1" lang="en-US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 par intelligence artificielle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457200" y="416052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du niveau de tension d'un moteur électrique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1" lang="en-US" sz="20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à partir de signaux acoustiques et vibratoires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472338" y="5890303"/>
            <a:ext cx="11247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BTS CIEL — Option Informatique et Réseaux   ·   Session 2026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Soutenance U6  ·  Juin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472338" y="5532090"/>
            <a:ext cx="11247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ORAND Noa - CYPRE Hugo - MOPTY Mederick - YILDIRIM Ege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60825" y="118950"/>
            <a:ext cx="1040300" cy="101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Sommaire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02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40080" y="18653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1371600" y="18288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Présentation du projet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1371600" y="2377440"/>
            <a:ext cx="5029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Cadre académique, enjeu industriel, pivot du projet et objectif fonctionnel</a:t>
            </a:r>
            <a:r>
              <a:rPr lang="en-US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, analyse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6400800" y="18653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7132320" y="18288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Partie physique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7132320" y="2377440"/>
            <a:ext cx="50292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Banc d'essai, capteurs, chaîne d'acquisition, architecture, plan d'expérience et choix du label.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640080" y="429768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640080" y="43342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1371600" y="4297680"/>
            <a:ext cx="5029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 contribution individuelle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1371600" y="4846331"/>
            <a:ext cx="5029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Pipeline d'acquisition (serveur TCP + client UDP) et modèle IA double branche</a:t>
            </a:r>
            <a:r>
              <a:rPr lang="en-US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 + problématique rencontrées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6400800" y="429768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6400800" y="43342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7132320" y="4297680"/>
            <a:ext cx="5029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7132320" y="4846320"/>
            <a:ext cx="5029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Bilan technique, résultats obtenus, perspectives.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125" name="Google Shape;12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3"/>
          <p:cNvSpPr txBox="1"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1" lang="en-US" sz="2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Partie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Présentation du projet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3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Cadre académique, enjeu industriel, pivot du projet et objectif fonctionnel.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5730087" y="521208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5958687" y="5212080"/>
            <a:ext cx="73152" cy="73152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6187287" y="5212080"/>
            <a:ext cx="73152" cy="73152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4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Cadre académique et équipe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4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04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640080" y="1554480"/>
            <a:ext cx="7315200" cy="16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BTS CIEL — Cybersécurité, Informatique et Réseaux, Électronique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Option Informatique et Réseaux  ·  Session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Projet de fin d'études — épreuve U6 (Pratique professionnelle)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Compétences acquises : programmation système, réseaux, électronique embarquée, IA, gestion de projet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8229600" y="1554480"/>
            <a:ext cx="347472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4B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 txBox="1"/>
          <p:nvPr/>
        </p:nvSpPr>
        <p:spPr>
          <a:xfrm>
            <a:off x="8412480" y="1709915"/>
            <a:ext cx="3200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Équipe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4"/>
          <p:cNvSpPr txBox="1"/>
          <p:nvPr/>
        </p:nvSpPr>
        <p:spPr>
          <a:xfrm>
            <a:off x="8412480" y="22402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8412480" y="25328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Pipeline acquisition + modèle 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 txBox="1"/>
          <p:nvPr/>
        </p:nvSpPr>
        <p:spPr>
          <a:xfrm>
            <a:off x="8412480" y="29260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Hugo Cypré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8412480" y="32186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Qualité données + versioning modèles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4"/>
          <p:cNvSpPr txBox="1"/>
          <p:nvPr/>
        </p:nvSpPr>
        <p:spPr>
          <a:xfrm>
            <a:off x="8412480" y="36118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Mederick Mopty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8412480" y="39044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Firmware ESP32 + capture audio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4"/>
          <p:cNvSpPr txBox="1"/>
          <p:nvPr/>
        </p:nvSpPr>
        <p:spPr>
          <a:xfrm>
            <a:off x="8412480" y="4297680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Ege Yildirim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"/>
          <p:cNvSpPr txBox="1"/>
          <p:nvPr/>
        </p:nvSpPr>
        <p:spPr>
          <a:xfrm>
            <a:off x="8412480" y="4590288"/>
            <a:ext cx="3200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IHM Qt + supervision captures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Maintenance prédictive — enjeu industriel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5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05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Pourquoi écouter et capter la vibration d'une machine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"/>
          <p:cNvSpPr txBox="1"/>
          <p:nvPr/>
        </p:nvSpPr>
        <p:spPr>
          <a:xfrm>
            <a:off x="640080" y="2194560"/>
            <a:ext cx="109728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Détecter une dérive avant la panne réduit les arrêts non planifiés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L'analyse acoustique et vibratoire fournit une signature riche, non intrusive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Datasets de référence : MIMII (sons industriels), CWRU (roulements), MAFAULDA (rotors)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Un CNN sur mel-spectrogramme apprend efficacement à classer/régresser un état mécanique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640080" y="521208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 txBox="1"/>
          <p:nvPr/>
        </p:nvSpPr>
        <p:spPr>
          <a:xfrm>
            <a:off x="640080" y="534924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 txBox="1"/>
          <p:nvPr/>
        </p:nvSpPr>
        <p:spPr>
          <a:xfrm>
            <a:off x="640080" y="594360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datasets de référence cités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4434840" y="521208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 txBox="1"/>
          <p:nvPr/>
        </p:nvSpPr>
        <p:spPr>
          <a:xfrm>
            <a:off x="4434840" y="5349240"/>
            <a:ext cx="3291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16 kHz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5"/>
          <p:cNvSpPr txBox="1"/>
          <p:nvPr/>
        </p:nvSpPr>
        <p:spPr>
          <a:xfrm>
            <a:off x="4434840" y="594360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fréquence d'acquisition 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8229600" y="5212080"/>
            <a:ext cx="3291840" cy="11887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 txBox="1"/>
          <p:nvPr/>
        </p:nvSpPr>
        <p:spPr>
          <a:xfrm>
            <a:off x="8229600" y="5349240"/>
            <a:ext cx="3291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b="1" i="0" lang="en-US" sz="30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 Hz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"/>
          <p:cNvSpPr txBox="1"/>
          <p:nvPr/>
        </p:nvSpPr>
        <p:spPr>
          <a:xfrm>
            <a:off x="8229600" y="594360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vibration effective (BLE)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Pivot du projet : du CNC au banc moteur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6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06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640080" y="1554480"/>
            <a:ext cx="502920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64748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 txBox="1"/>
          <p:nvPr/>
        </p:nvSpPr>
        <p:spPr>
          <a:xfrm>
            <a:off x="822960" y="1746503"/>
            <a:ext cx="45720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Sujet initial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 txBox="1"/>
          <p:nvPr/>
        </p:nvSpPr>
        <p:spPr>
          <a:xfrm>
            <a:off x="822960" y="20116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Détection d'usure d'outil sur CNC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822960" y="2834640"/>
            <a:ext cx="45720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Accès à la machine très limité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Impossibilité de produire un jeu de données suffisant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Variance non maîtrisée des conditions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 txBox="1"/>
          <p:nvPr/>
        </p:nvSpPr>
        <p:spPr>
          <a:xfrm>
            <a:off x="5714995" y="3383280"/>
            <a:ext cx="731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492240" y="1554480"/>
            <a:ext cx="502920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 txBox="1"/>
          <p:nvPr/>
        </p:nvSpPr>
        <p:spPr>
          <a:xfrm>
            <a:off x="6675120" y="1746503"/>
            <a:ext cx="45720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1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Nouveau sujet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6675120" y="20116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Estimation de tension sur banc moteur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6675120" y="2834640"/>
            <a:ext cx="4572000" cy="7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Banc reproductible, conditions maîtrisées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Dataset constituable en un temps acceptables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Logique du projet conservée : IA sur signaux physiques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c4d09648f_0_3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3ec4d09648f_0_30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g3ec4d09648f_0_30"/>
          <p:cNvSpPr txBox="1"/>
          <p:nvPr/>
        </p:nvSpPr>
        <p:spPr>
          <a:xfrm>
            <a:off x="914400" y="384048"/>
            <a:ext cx="1097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Diagramme de cas d’utilisation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g3ec4d09648f_0_30"/>
          <p:cNvSpPr txBox="1"/>
          <p:nvPr/>
        </p:nvSpPr>
        <p:spPr>
          <a:xfrm>
            <a:off x="10911535" y="6492240"/>
            <a:ext cx="914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07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g3ec4d09648f_0_30"/>
          <p:cNvSpPr txBox="1"/>
          <p:nvPr/>
        </p:nvSpPr>
        <p:spPr>
          <a:xfrm>
            <a:off x="502920" y="6492240"/>
            <a:ext cx="8229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g3ec4d09648f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950" y="423638"/>
            <a:ext cx="11431801" cy="6010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Objectif fonctionnel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08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7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Estimer le niveau de tension appliqué au moteur à partir du son et de la 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640080" y="2286000"/>
            <a:ext cx="5166360" cy="1965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868680" y="251460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/>
        </p:nvSpPr>
        <p:spPr>
          <a:xfrm>
            <a:off x="868680" y="25511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7"/>
          <p:cNvSpPr txBox="1"/>
          <p:nvPr/>
        </p:nvSpPr>
        <p:spPr>
          <a:xfrm>
            <a:off x="1554480" y="256032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Mesurer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7"/>
          <p:cNvSpPr txBox="1"/>
          <p:nvPr/>
        </p:nvSpPr>
        <p:spPr>
          <a:xfrm>
            <a:off x="914400" y="320040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Capter en continu son (I2S 16 kHz) et vibration mécanique (BLE 3 axes)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6355080" y="2286000"/>
            <a:ext cx="5166360" cy="1965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7"/>
          <p:cNvSpPr/>
          <p:nvPr/>
        </p:nvSpPr>
        <p:spPr>
          <a:xfrm>
            <a:off x="6583680" y="251460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 txBox="1"/>
          <p:nvPr/>
        </p:nvSpPr>
        <p:spPr>
          <a:xfrm>
            <a:off x="6583680" y="255117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7"/>
          <p:cNvSpPr txBox="1"/>
          <p:nvPr/>
        </p:nvSpPr>
        <p:spPr>
          <a:xfrm>
            <a:off x="7269480" y="256032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Transmettre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7"/>
          <p:cNvSpPr txBox="1"/>
          <p:nvPr/>
        </p:nvSpPr>
        <p:spPr>
          <a:xfrm>
            <a:off x="6629400" y="320040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Envoyer au PC par Wi-Fi : flux UDP des données, TCP pour les métadonnées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640117" y="4389155"/>
            <a:ext cx="5166300" cy="1965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7"/>
          <p:cNvSpPr/>
          <p:nvPr/>
        </p:nvSpPr>
        <p:spPr>
          <a:xfrm>
            <a:off x="868680" y="4754880"/>
            <a:ext cx="502920" cy="50292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7"/>
          <p:cNvSpPr txBox="1"/>
          <p:nvPr/>
        </p:nvSpPr>
        <p:spPr>
          <a:xfrm>
            <a:off x="868680" y="47914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7"/>
          <p:cNvSpPr txBox="1"/>
          <p:nvPr/>
        </p:nvSpPr>
        <p:spPr>
          <a:xfrm>
            <a:off x="1554480" y="48006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Stocker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7"/>
          <p:cNvSpPr txBox="1"/>
          <p:nvPr/>
        </p:nvSpPr>
        <p:spPr>
          <a:xfrm>
            <a:off x="914400" y="544068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Dataset CSV à plat indexé par un fichier maître metadata_captures_moteur.csv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6355118" y="4389143"/>
            <a:ext cx="5166300" cy="1965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A0B3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7"/>
          <p:cNvSpPr/>
          <p:nvPr/>
        </p:nvSpPr>
        <p:spPr>
          <a:xfrm>
            <a:off x="6583680" y="4754880"/>
            <a:ext cx="502920" cy="502920"/>
          </a:xfrm>
          <a:prstGeom prst="ellipse">
            <a:avLst/>
          </a:prstGeom>
          <a:solidFill>
            <a:srgbClr val="1A0B3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7"/>
          <p:cNvSpPr txBox="1"/>
          <p:nvPr/>
        </p:nvSpPr>
        <p:spPr>
          <a:xfrm>
            <a:off x="6583680" y="4791456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7"/>
          <p:cNvSpPr txBox="1"/>
          <p:nvPr/>
        </p:nvSpPr>
        <p:spPr>
          <a:xfrm>
            <a:off x="7269480" y="48006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Prédire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7"/>
          <p:cNvSpPr txBox="1"/>
          <p:nvPr/>
        </p:nvSpPr>
        <p:spPr>
          <a:xfrm>
            <a:off x="6629400" y="544068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Modèle CNN double branche : sortie en % de la tension max de la condition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239" name="Google Shape;23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39"/>
          <p:cNvSpPr txBox="1"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1" lang="en-US" sz="2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Partie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9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Partie physique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39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Banc d'essai, capteurs, chaîne d'acquisition, architecture et plan d'expérience.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9"/>
          <p:cNvSpPr/>
          <p:nvPr/>
        </p:nvSpPr>
        <p:spPr>
          <a:xfrm>
            <a:off x="5730087" y="521208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39"/>
          <p:cNvSpPr/>
          <p:nvPr/>
        </p:nvSpPr>
        <p:spPr>
          <a:xfrm>
            <a:off x="5958687" y="5212080"/>
            <a:ext cx="73152" cy="73152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39"/>
          <p:cNvSpPr/>
          <p:nvPr/>
        </p:nvSpPr>
        <p:spPr>
          <a:xfrm>
            <a:off x="6187287" y="5212080"/>
            <a:ext cx="73152" cy="73152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Banc d'essai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8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8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8"/>
          <p:cNvSpPr txBox="1"/>
          <p:nvPr/>
        </p:nvSpPr>
        <p:spPr>
          <a:xfrm>
            <a:off x="640080" y="1554480"/>
            <a:ext cx="64008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Moteur électrique CC alimenté par alimentation à tension réglable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Deux conditions de charge retenues pour leur reproductibilité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Tension maximale mesurée propre à chaque condition (référence du label en %)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Troisième condition (frein + inertie) écartée : reproductibilité insuffisante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7772400" y="1737360"/>
            <a:ext cx="3931920" cy="3840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4B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 txBox="1"/>
          <p:nvPr/>
        </p:nvSpPr>
        <p:spPr>
          <a:xfrm>
            <a:off x="7955279" y="1874519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Conditions retenues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7955279" y="2331720"/>
            <a:ext cx="3657600" cy="128016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8"/>
          <p:cNvSpPr txBox="1"/>
          <p:nvPr/>
        </p:nvSpPr>
        <p:spPr>
          <a:xfrm>
            <a:off x="8092440" y="242316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 — Sans frein (à vide)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8"/>
          <p:cNvSpPr txBox="1"/>
          <p:nvPr/>
        </p:nvSpPr>
        <p:spPr>
          <a:xfrm>
            <a:off x="8092440" y="278892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Tension max  ·  30,3 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8"/>
          <p:cNvSpPr txBox="1"/>
          <p:nvPr/>
        </p:nvSpPr>
        <p:spPr>
          <a:xfrm>
            <a:off x="8092440" y="315468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Référence du label : 100 %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7955279" y="3749039"/>
            <a:ext cx="3657600" cy="1280160"/>
          </a:xfrm>
          <a:prstGeom prst="roundRect">
            <a:avLst>
              <a:gd fmla="val 16667" name="adj"/>
            </a:avLst>
          </a:prstGeom>
          <a:solidFill>
            <a:srgbClr val="FDE9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8"/>
          <p:cNvSpPr txBox="1"/>
          <p:nvPr/>
        </p:nvSpPr>
        <p:spPr>
          <a:xfrm>
            <a:off x="8092440" y="384048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 — Avec frein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8"/>
          <p:cNvSpPr txBox="1"/>
          <p:nvPr/>
        </p:nvSpPr>
        <p:spPr>
          <a:xfrm>
            <a:off x="8092440" y="420624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Tension max  ·  28,7 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8"/>
          <p:cNvSpPr txBox="1"/>
          <p:nvPr/>
        </p:nvSpPr>
        <p:spPr>
          <a:xfrm>
            <a:off x="8092440" y="4572000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Référence du label : 100 %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9"/>
          <p:cNvSpPr/>
          <p:nvPr/>
        </p:nvSpPr>
        <p:spPr>
          <a:xfrm>
            <a:off x="9968" y="0"/>
            <a:ext cx="12191700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Capteurs et chaîne d'acquisition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9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9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9"/>
          <p:cNvSpPr/>
          <p:nvPr/>
        </p:nvSpPr>
        <p:spPr>
          <a:xfrm>
            <a:off x="640080" y="1554480"/>
            <a:ext cx="5486400" cy="4297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9"/>
          <p:cNvSpPr/>
          <p:nvPr/>
        </p:nvSpPr>
        <p:spPr>
          <a:xfrm>
            <a:off x="914400" y="1783080"/>
            <a:ext cx="365760" cy="36576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9"/>
          <p:cNvSpPr txBox="1"/>
          <p:nvPr/>
        </p:nvSpPr>
        <p:spPr>
          <a:xfrm>
            <a:off x="1508760" y="17830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Microphone I2S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9"/>
          <p:cNvSpPr txBox="1"/>
          <p:nvPr/>
        </p:nvSpPr>
        <p:spPr>
          <a:xfrm>
            <a:off x="1508760" y="22402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INMP441 — capteur MEMS numérique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9"/>
          <p:cNvSpPr txBox="1"/>
          <p:nvPr/>
        </p:nvSpPr>
        <p:spPr>
          <a:xfrm>
            <a:off x="914400" y="2788920"/>
            <a:ext cx="5120700" cy="50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Fréquence théorique 16 kHz, effective ≈ 15,8 kHz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Mono, 32 bits par échantillon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9"/>
          <p:cNvSpPr/>
          <p:nvPr/>
        </p:nvSpPr>
        <p:spPr>
          <a:xfrm>
            <a:off x="6263640" y="1554480"/>
            <a:ext cx="5486400" cy="4297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6537959" y="1783080"/>
            <a:ext cx="365760" cy="36576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9"/>
          <p:cNvSpPr txBox="1"/>
          <p:nvPr/>
        </p:nvSpPr>
        <p:spPr>
          <a:xfrm>
            <a:off x="7132320" y="178308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Capteur de 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9"/>
          <p:cNvSpPr txBox="1"/>
          <p:nvPr/>
        </p:nvSpPr>
        <p:spPr>
          <a:xfrm>
            <a:off x="7132320" y="22402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WTVB01-BT50 — module BLE 3 axes WIT Motion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9"/>
          <p:cNvSpPr txBox="1"/>
          <p:nvPr/>
        </p:nvSpPr>
        <p:spPr>
          <a:xfrm>
            <a:off x="6537959" y="2788920"/>
            <a:ext cx="5120700" cy="7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Trame BLE de 28 octets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13 valeurs : VX/VY/VZ, ADX/ADY/ADZ, T°, DX/DY/DZ, HZX/HZY/HZZ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200 Hz déclaré, ≈ 10 Hz effectif (conflit BLE / Wi-Fi sur ESP32)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0"/>
          <p:cNvSpPr/>
          <p:nvPr/>
        </p:nvSpPr>
        <p:spPr>
          <a:xfrm>
            <a:off x="9968" y="0"/>
            <a:ext cx="12191700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40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40"/>
          <p:cNvSpPr txBox="1"/>
          <p:nvPr/>
        </p:nvSpPr>
        <p:spPr>
          <a:xfrm>
            <a:off x="914400" y="384048"/>
            <a:ext cx="1097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Théorème de Shannon </a:t>
            </a:r>
            <a:r>
              <a:rPr b="1" lang="en-US" sz="3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fréquence d'échantillonnage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40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12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40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40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Combien de fois par seconde mesurer un signal pour le reconstituer sans perte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40"/>
          <p:cNvSpPr txBox="1"/>
          <p:nvPr/>
        </p:nvSpPr>
        <p:spPr>
          <a:xfrm>
            <a:off x="640080" y="2194560"/>
            <a:ext cx="10972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Théorème de Nyquist–Shannon : la fréquence d'échantillonnage doit valoir au moins le double de la fréquence maximale utile du signal.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La fréquence de Nyquist — la moitié de la fréquence d'échantillonnage — est la plus haute fréquence représentable sans ambiguïté.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Sous ce seuil : repliement de spectre (aliasing) — des fréquences hautes se déguisent en basses fréquences parasites.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Son moteur : contenu utile sous 1 kHz → 16 kHz d'échantillonnage (Nyquist 8 kHz) largement suffisant.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Vibration : signature mécanique sous 5 Hz → les 10 Hz effectifs respectent le critère malgré le débit BLE limité.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40"/>
          <p:cNvSpPr/>
          <p:nvPr/>
        </p:nvSpPr>
        <p:spPr>
          <a:xfrm>
            <a:off x="640080" y="5577840"/>
            <a:ext cx="10972800" cy="86868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40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b="1" baseline="-25000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b="1" i="0" lang="en-US" sz="2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≥ 2 · f</a:t>
            </a:r>
            <a:r>
              <a:rPr b="1" baseline="-25000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max</a:t>
            </a:r>
            <a:r>
              <a:rPr b="0" i="1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      —      critère de Nyquist–Shannon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eaede78a28_0_1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g3eaede78a28_0_1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g3eaede78a28_0_15"/>
          <p:cNvSpPr txBox="1"/>
          <p:nvPr/>
        </p:nvSpPr>
        <p:spPr>
          <a:xfrm>
            <a:off x="914400" y="384048"/>
            <a:ext cx="1097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Acquisition des données son/vibration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g3eaede78a28_0_15"/>
          <p:cNvSpPr txBox="1"/>
          <p:nvPr/>
        </p:nvSpPr>
        <p:spPr>
          <a:xfrm>
            <a:off x="10911535" y="6492240"/>
            <a:ext cx="914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13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g3eaede78a28_0_15"/>
          <p:cNvSpPr txBox="1"/>
          <p:nvPr/>
        </p:nvSpPr>
        <p:spPr>
          <a:xfrm>
            <a:off x="502920" y="6492240"/>
            <a:ext cx="8229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eaede78a28_0_15"/>
          <p:cNvSpPr txBox="1"/>
          <p:nvPr/>
        </p:nvSpPr>
        <p:spPr>
          <a:xfrm>
            <a:off x="640080" y="5852160"/>
            <a:ext cx="10972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Capteurs → ESP32 → Wi-Fi → serveurs Python → CSV → modèle IA Keras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1" name="Google Shape;311;g3eaede78a28_0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2925" y="361025"/>
            <a:ext cx="10860625" cy="6135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0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0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ESP32 — rôle de concentrateur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0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14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0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0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Un seul microcontrôleur orchestre l'ensemble de l'acquisition embarquée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0"/>
          <p:cNvSpPr txBox="1"/>
          <p:nvPr/>
        </p:nvSpPr>
        <p:spPr>
          <a:xfrm>
            <a:off x="640080" y="2194560"/>
            <a:ext cx="109728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Pilote l'interface I2S pour récupérer les échantillons audio en continu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Ouvre une connexion BLE cliente vers le capteur de vibration et souscrit aux notifications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Émet deux flux UDP distincts vers le PC opérateur (préfixes SOUND et VIB)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Mutex FreeRTOS : sérialise les envois UDP entre tâche audio et callback BLE — pas d'entrelacement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Reconnexion Wi-Fi et BLE automatique en cas de coupure réseau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0"/>
          <p:cNvSpPr/>
          <p:nvPr/>
        </p:nvSpPr>
        <p:spPr>
          <a:xfrm>
            <a:off x="609455" y="5577855"/>
            <a:ext cx="10972800" cy="77730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0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Optimisations firmware  ·  snprintf au lieu de String, APLL activée, buffers DMA × 8, MTU BLE 247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1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1"/>
          <p:cNvSpPr txBox="1"/>
          <p:nvPr/>
        </p:nvSpPr>
        <p:spPr>
          <a:xfrm>
            <a:off x="914400" y="384048"/>
            <a:ext cx="109728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Architecture logicielle bout-en-bout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1"/>
          <p:cNvSpPr txBox="1"/>
          <p:nvPr/>
        </p:nvSpPr>
        <p:spPr>
          <a:xfrm>
            <a:off x="10911535" y="6492240"/>
            <a:ext cx="914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15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1"/>
          <p:cNvSpPr txBox="1"/>
          <p:nvPr/>
        </p:nvSpPr>
        <p:spPr>
          <a:xfrm>
            <a:off x="502920" y="6492240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1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Capteurs → ESP32 → Wi-Fi → serveurs Python → CSV → modèle IA Keras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2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2"/>
          <p:cNvSpPr txBox="1"/>
          <p:nvPr/>
        </p:nvSpPr>
        <p:spPr>
          <a:xfrm>
            <a:off x="914400" y="384048"/>
            <a:ext cx="1097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Plan d'expérience — </a:t>
            </a:r>
            <a:r>
              <a:rPr b="1" lang="en-US" sz="3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66 </a:t>
            </a: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sessions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2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16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2"/>
          <p:cNvSpPr txBox="1"/>
          <p:nvPr/>
        </p:nvSpPr>
        <p:spPr>
          <a:xfrm>
            <a:off x="640080" y="1554480"/>
            <a:ext cx="23774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2"/>
          <p:cNvSpPr txBox="1"/>
          <p:nvPr/>
        </p:nvSpPr>
        <p:spPr>
          <a:xfrm>
            <a:off x="64008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niveaux de tension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2"/>
          <p:cNvSpPr txBox="1"/>
          <p:nvPr/>
        </p:nvSpPr>
        <p:spPr>
          <a:xfrm>
            <a:off x="3474720" y="1554480"/>
            <a:ext cx="23774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×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2"/>
          <p:cNvSpPr txBox="1"/>
          <p:nvPr/>
        </p:nvSpPr>
        <p:spPr>
          <a:xfrm>
            <a:off x="347472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conditions de charge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2"/>
          <p:cNvSpPr txBox="1"/>
          <p:nvPr/>
        </p:nvSpPr>
        <p:spPr>
          <a:xfrm>
            <a:off x="6309360" y="1554480"/>
            <a:ext cx="23775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× </a:t>
            </a:r>
            <a:r>
              <a:rPr b="1" lang="en-US" sz="6000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2"/>
          <p:cNvSpPr txBox="1"/>
          <p:nvPr/>
        </p:nvSpPr>
        <p:spPr>
          <a:xfrm>
            <a:off x="630936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captures par couple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2"/>
          <p:cNvSpPr txBox="1"/>
          <p:nvPr/>
        </p:nvSpPr>
        <p:spPr>
          <a:xfrm>
            <a:off x="9144000" y="1554480"/>
            <a:ext cx="23775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1A0B3D"/>
                </a:solidFill>
                <a:latin typeface="Calibri"/>
                <a:ea typeface="Calibri"/>
                <a:cs typeface="Calibri"/>
                <a:sym typeface="Calibri"/>
              </a:rPr>
              <a:t>= </a:t>
            </a:r>
            <a:r>
              <a:rPr b="1" lang="en-US" sz="6000">
                <a:solidFill>
                  <a:srgbClr val="1A0B3D"/>
                </a:solidFill>
                <a:latin typeface="Calibri"/>
                <a:ea typeface="Calibri"/>
                <a:cs typeface="Calibri"/>
                <a:sym typeface="Calibri"/>
              </a:rPr>
              <a:t>66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2"/>
          <p:cNvSpPr txBox="1"/>
          <p:nvPr/>
        </p:nvSpPr>
        <p:spPr>
          <a:xfrm>
            <a:off x="9144000" y="269748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sessions de 15 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2"/>
          <p:cNvSpPr txBox="1"/>
          <p:nvPr/>
        </p:nvSpPr>
        <p:spPr>
          <a:xfrm>
            <a:off x="640080" y="3840480"/>
            <a:ext cx="10972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Niveaux : 0, 10, 20, ..., 100 % de la tension maximale propre à la condition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Conditions : A_vide (sans frein) et B_frein (avec frein)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Durée totale ≈ 1 h  de banc moteur, réalisée en deux phases pour limiter la dérive thermique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Vérification rapide du dataset à mi-parcours avant la phase 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3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Pourquoi la tension et non la puissance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17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3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3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Décision d'ingénierie justifiée par la disponibilité matérielle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3"/>
          <p:cNvSpPr txBox="1"/>
          <p:nvPr/>
        </p:nvSpPr>
        <p:spPr>
          <a:xfrm>
            <a:off x="640080" y="2157998"/>
            <a:ext cx="109728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 = U × I exigerait simultanément tension et courant </a:t>
            </a:r>
            <a:r>
              <a:rPr lang="en-US" sz="1600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pas de capteur d'intensité disponible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La tension reste une fonction monotone de la puissance pour une charge fixée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C'est donc un proxy honnête de la puissance, suffisant pour caractériser l'effort moteur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Approche relative par condition : chaque condition a sa propre tension maximale = 100 %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373" name="Google Shape;37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14"/>
          <p:cNvSpPr txBox="1"/>
          <p:nvPr/>
        </p:nvSpPr>
        <p:spPr>
          <a:xfrm>
            <a:off x="457200" y="2286000"/>
            <a:ext cx="11247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1" lang="en-US" sz="2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Partie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4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 contribution individuelle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4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C4B5FD"/>
                </a:solidFill>
                <a:latin typeface="Calibri"/>
                <a:ea typeface="Calibri"/>
                <a:cs typeface="Calibri"/>
                <a:sym typeface="Calibri"/>
              </a:rPr>
              <a:t>Pipeline d'acquisition logicielle et modèle d'intelligence artificielle.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5730087" y="5212080"/>
            <a:ext cx="73152" cy="73152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4"/>
          <p:cNvSpPr/>
          <p:nvPr/>
        </p:nvSpPr>
        <p:spPr>
          <a:xfrm>
            <a:off x="5958687" y="5212080"/>
            <a:ext cx="73152" cy="73152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4"/>
          <p:cNvSpPr/>
          <p:nvPr/>
        </p:nvSpPr>
        <p:spPr>
          <a:xfrm>
            <a:off x="6187287" y="5212080"/>
            <a:ext cx="73152" cy="73152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Périmètre de ma contribution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5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19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5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Deux briques fonctionnelles complémentaires de la chaîne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640080" y="2286000"/>
            <a:ext cx="548640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868680" y="2514600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/>
        </p:nvSpPr>
        <p:spPr>
          <a:xfrm>
            <a:off x="868680" y="256946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5"/>
          <p:cNvSpPr txBox="1"/>
          <p:nvPr/>
        </p:nvSpPr>
        <p:spPr>
          <a:xfrm>
            <a:off x="1508760" y="2514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Pipeline d'acquisition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15"/>
          <p:cNvSpPr txBox="1"/>
          <p:nvPr/>
        </p:nvSpPr>
        <p:spPr>
          <a:xfrm>
            <a:off x="914400" y="320040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Serveur TCP de métadonnées (port 9090)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Client UDP de données capteurs (port 9091)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Format CSV maître metadata_captures_moteur.csv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5"/>
          <p:cNvSpPr/>
          <p:nvPr/>
        </p:nvSpPr>
        <p:spPr>
          <a:xfrm>
            <a:off x="6263640" y="2286000"/>
            <a:ext cx="5486400" cy="3657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5"/>
          <p:cNvSpPr/>
          <p:nvPr/>
        </p:nvSpPr>
        <p:spPr>
          <a:xfrm>
            <a:off x="6492240" y="2514600"/>
            <a:ext cx="457200" cy="457200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5"/>
          <p:cNvSpPr txBox="1"/>
          <p:nvPr/>
        </p:nvSpPr>
        <p:spPr>
          <a:xfrm>
            <a:off x="6492240" y="256946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15"/>
          <p:cNvSpPr txBox="1"/>
          <p:nvPr/>
        </p:nvSpPr>
        <p:spPr>
          <a:xfrm>
            <a:off x="7132320" y="25146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Modèle IA double branche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5"/>
          <p:cNvSpPr txBox="1"/>
          <p:nvPr/>
        </p:nvSpPr>
        <p:spPr>
          <a:xfrm>
            <a:off x="6537960" y="3200400"/>
            <a:ext cx="5029200" cy="50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Architecture CNN à deux branches (son + vibration)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Mel-spectrogrammes en entrée, sortie en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6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6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Serveur TCP de métadonnées  ·  port 9090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6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20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6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6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serveurTCP_metadonnes_moteur.py — point d'entrée des métadonnées de session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6"/>
          <p:cNvSpPr txBox="1"/>
          <p:nvPr/>
        </p:nvSpPr>
        <p:spPr>
          <a:xfrm>
            <a:off x="640080" y="2194560"/>
            <a:ext cx="10972800" cy="21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Mode bloquant à connexion courte : 1 connexion = 1 session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L'IHM envoie un marqueur START suivi d'une ligne CSV à 5 champs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5 champs : condition_charge, durée, fréquence_son, fréquence_vibration, niveau_tension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Normalisation de condition_charge via dictionnaire (A_vide / B_frein)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Calcul automatique de l'identifiant : get_next_id sur nombre de lignes existantes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Écriture d'une ligne complète dans metadata_captures_moteur.csv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Génère les noms son_N.csv et vib_N.csv pour cohérence avec le client UDP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7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Client UDP de données  ·  port 9091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7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21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7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7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clientUDP_données.py — réception haut débit des signaux capteurs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7"/>
          <p:cNvSpPr txBox="1"/>
          <p:nvPr/>
        </p:nvSpPr>
        <p:spPr>
          <a:xfrm>
            <a:off x="640075" y="2083326"/>
            <a:ext cx="10972800" cy="176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Lit l'identifiant de session courant depuis le fichier maître TCP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Détecte automatiquement le début et la fin d'une capture (timeout 3 s d'inactivité)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Parse 2 formats de trames : SOUND,ts,amp1,amp2,…  et  VIB,ts,VX,VY,…,HZZ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Trames VIB strictement contrôlées : 15 champs exacts sinon rejet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Estimation de la fréquence effective + taux de perte affichés en fin de capture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8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8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Format du fichier maître metadata_captures_moteur.csv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8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22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8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8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1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9 colonnes — contrat de données partagé entre IHM, acquisition et modèle 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8"/>
          <p:cNvSpPr/>
          <p:nvPr/>
        </p:nvSpPr>
        <p:spPr>
          <a:xfrm>
            <a:off x="640080" y="210312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8"/>
          <p:cNvSpPr txBox="1"/>
          <p:nvPr/>
        </p:nvSpPr>
        <p:spPr>
          <a:xfrm>
            <a:off x="822960" y="21579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id_session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8"/>
          <p:cNvSpPr txBox="1"/>
          <p:nvPr/>
        </p:nvSpPr>
        <p:spPr>
          <a:xfrm>
            <a:off x="5029200" y="215798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identifiant unique auto-incrémenté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8"/>
          <p:cNvSpPr/>
          <p:nvPr/>
        </p:nvSpPr>
        <p:spPr>
          <a:xfrm>
            <a:off x="640080" y="251460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8"/>
          <p:cNvSpPr txBox="1"/>
          <p:nvPr/>
        </p:nvSpPr>
        <p:spPr>
          <a:xfrm>
            <a:off x="822960" y="256946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time_session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8"/>
          <p:cNvSpPr txBox="1"/>
          <p:nvPr/>
        </p:nvSpPr>
        <p:spPr>
          <a:xfrm>
            <a:off x="5029200" y="256946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horodatage  ·  YYYY-MM-DD_HH:MM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8"/>
          <p:cNvSpPr/>
          <p:nvPr/>
        </p:nvSpPr>
        <p:spPr>
          <a:xfrm>
            <a:off x="640080" y="292608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8"/>
          <p:cNvSpPr txBox="1"/>
          <p:nvPr/>
        </p:nvSpPr>
        <p:spPr>
          <a:xfrm>
            <a:off x="822960" y="298094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condition_charge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8"/>
          <p:cNvSpPr txBox="1"/>
          <p:nvPr/>
        </p:nvSpPr>
        <p:spPr>
          <a:xfrm>
            <a:off x="5029200" y="2980944"/>
            <a:ext cx="64008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A_vide  ou  B_frein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8"/>
          <p:cNvSpPr/>
          <p:nvPr/>
        </p:nvSpPr>
        <p:spPr>
          <a:xfrm>
            <a:off x="640080" y="333756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8"/>
          <p:cNvSpPr txBox="1"/>
          <p:nvPr/>
        </p:nvSpPr>
        <p:spPr>
          <a:xfrm>
            <a:off x="822960" y="339242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duree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8"/>
          <p:cNvSpPr txBox="1"/>
          <p:nvPr/>
        </p:nvSpPr>
        <p:spPr>
          <a:xfrm>
            <a:off x="5029200" y="339242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durée nominale  ·  15 s par défaut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8"/>
          <p:cNvSpPr/>
          <p:nvPr/>
        </p:nvSpPr>
        <p:spPr>
          <a:xfrm>
            <a:off x="640080" y="374904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8"/>
          <p:cNvSpPr txBox="1"/>
          <p:nvPr/>
        </p:nvSpPr>
        <p:spPr>
          <a:xfrm>
            <a:off x="822960" y="380390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frequence_son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8"/>
          <p:cNvSpPr txBox="1"/>
          <p:nvPr/>
        </p:nvSpPr>
        <p:spPr>
          <a:xfrm>
            <a:off x="5029200" y="380390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fréquence d'échantillonnage déclarée 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18"/>
          <p:cNvSpPr/>
          <p:nvPr/>
        </p:nvSpPr>
        <p:spPr>
          <a:xfrm>
            <a:off x="640080" y="416052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8"/>
          <p:cNvSpPr txBox="1"/>
          <p:nvPr/>
        </p:nvSpPr>
        <p:spPr>
          <a:xfrm>
            <a:off x="822960" y="421538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frequence_vibration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8"/>
          <p:cNvSpPr txBox="1"/>
          <p:nvPr/>
        </p:nvSpPr>
        <p:spPr>
          <a:xfrm>
            <a:off x="5029200" y="421538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fréquence déclarée 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8"/>
          <p:cNvSpPr/>
          <p:nvPr/>
        </p:nvSpPr>
        <p:spPr>
          <a:xfrm>
            <a:off x="640080" y="457200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8"/>
          <p:cNvSpPr txBox="1"/>
          <p:nvPr/>
        </p:nvSpPr>
        <p:spPr>
          <a:xfrm>
            <a:off x="822960" y="462686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fichier_son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8"/>
          <p:cNvSpPr txBox="1"/>
          <p:nvPr/>
        </p:nvSpPr>
        <p:spPr>
          <a:xfrm>
            <a:off x="5029200" y="462686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son_N.csv (lié à id_session)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18"/>
          <p:cNvSpPr/>
          <p:nvPr/>
        </p:nvSpPr>
        <p:spPr>
          <a:xfrm>
            <a:off x="640080" y="498348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3F0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8"/>
          <p:cNvSpPr txBox="1"/>
          <p:nvPr/>
        </p:nvSpPr>
        <p:spPr>
          <a:xfrm>
            <a:off x="822960" y="503834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fichier_vibration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8"/>
          <p:cNvSpPr txBox="1"/>
          <p:nvPr/>
        </p:nvSpPr>
        <p:spPr>
          <a:xfrm>
            <a:off x="5029200" y="503834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vib_N.csv (lié à id_session)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18"/>
          <p:cNvSpPr/>
          <p:nvPr/>
        </p:nvSpPr>
        <p:spPr>
          <a:xfrm>
            <a:off x="640080" y="5394960"/>
            <a:ext cx="10972800" cy="384048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8"/>
          <p:cNvSpPr txBox="1"/>
          <p:nvPr/>
        </p:nvSpPr>
        <p:spPr>
          <a:xfrm>
            <a:off x="822960" y="5449824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onsolas"/>
                <a:ea typeface="Consolas"/>
                <a:cs typeface="Consolas"/>
                <a:sym typeface="Consolas"/>
              </a:rPr>
              <a:t>niveau_tension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18"/>
          <p:cNvSpPr txBox="1"/>
          <p:nvPr/>
        </p:nvSpPr>
        <p:spPr>
          <a:xfrm>
            <a:off x="5029200" y="5449824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label IA en % de la tension max [0, 100]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9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9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Pourquoi une architecture double branche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19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23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9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19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Deux modalités physiques complémentaires, fusionnées tardivement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19"/>
          <p:cNvSpPr/>
          <p:nvPr/>
        </p:nvSpPr>
        <p:spPr>
          <a:xfrm>
            <a:off x="640080" y="2286000"/>
            <a:ext cx="4114800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9"/>
          <p:cNvSpPr txBox="1"/>
          <p:nvPr/>
        </p:nvSpPr>
        <p:spPr>
          <a:xfrm>
            <a:off x="822960" y="24688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Branche 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19"/>
          <p:cNvSpPr txBox="1"/>
          <p:nvPr/>
        </p:nvSpPr>
        <p:spPr>
          <a:xfrm>
            <a:off x="822960" y="3017520"/>
            <a:ext cx="38404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Spectre acoustique 16 kHz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Riche en transitoires haute fréquence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 64 bandes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19"/>
          <p:cNvSpPr/>
          <p:nvPr/>
        </p:nvSpPr>
        <p:spPr>
          <a:xfrm>
            <a:off x="7360920" y="2286000"/>
            <a:ext cx="4114800" cy="3200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9"/>
          <p:cNvSpPr txBox="1"/>
          <p:nvPr/>
        </p:nvSpPr>
        <p:spPr>
          <a:xfrm>
            <a:off x="7543800" y="24688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Branche 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19"/>
          <p:cNvSpPr txBox="1"/>
          <p:nvPr/>
        </p:nvSpPr>
        <p:spPr>
          <a:xfrm>
            <a:off x="7543800" y="3017520"/>
            <a:ext cx="384048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Vibration axe Z à 10 Hz effectif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Signature mécanique basse fréquence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 32 bandes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9"/>
          <p:cNvSpPr txBox="1"/>
          <p:nvPr/>
        </p:nvSpPr>
        <p:spPr>
          <a:xfrm>
            <a:off x="4846320" y="35204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9"/>
          <p:cNvSpPr txBox="1"/>
          <p:nvPr/>
        </p:nvSpPr>
        <p:spPr>
          <a:xfrm>
            <a:off x="6858000" y="35204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◀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9"/>
          <p:cNvSpPr/>
          <p:nvPr/>
        </p:nvSpPr>
        <p:spPr>
          <a:xfrm>
            <a:off x="5349240" y="2743200"/>
            <a:ext cx="1463040" cy="2011680"/>
          </a:xfrm>
          <a:prstGeom prst="roundRect">
            <a:avLst>
              <a:gd fmla="val 16667" name="adj"/>
            </a:avLst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9"/>
          <p:cNvSpPr txBox="1"/>
          <p:nvPr/>
        </p:nvSpPr>
        <p:spPr>
          <a:xfrm>
            <a:off x="5349240" y="288036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9"/>
          <p:cNvSpPr txBox="1"/>
          <p:nvPr/>
        </p:nvSpPr>
        <p:spPr>
          <a:xfrm>
            <a:off x="5349240" y="3383280"/>
            <a:ext cx="1463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Dense 64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Dropout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 Sortie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4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41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41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Transformée de Fourier — créer le mel-spectrogramme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41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24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41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41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Passer du domaine temporel au domaine fréquentiel pour révéler le contenu spectral.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41"/>
          <p:cNvSpPr txBox="1"/>
          <p:nvPr/>
        </p:nvSpPr>
        <p:spPr>
          <a:xfrm>
            <a:off x="640080" y="2194560"/>
            <a:ext cx="10972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La transformée de Fourier décompose un signal en une somme de sinusoïdes : elle donne l'amplitude de chaque fréquence présente.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STFT (Fourier à court terme) : la FFT est appliquée sur des fenêtres glissantes → on suit l'évolution du spectre dans le temps (spectrogramme).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Échelle de Mel : compression perceptuelle des fréquences, calquée sur l'oreille humaine (plus fine en basses fréquences).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Conversion en décibels (log) puis normalisation [0, 1] → une image 2D exploitable par le CNN.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Paramètres adaptés à chaque modalité : 64 bandes de Mel pour le son, 32 pour la vibration (n_fft et hop_length réduits).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41"/>
          <p:cNvSpPr/>
          <p:nvPr/>
        </p:nvSpPr>
        <p:spPr>
          <a:xfrm>
            <a:off x="640080" y="5577840"/>
            <a:ext cx="10972800" cy="86868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1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2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X(f) = ∫ x(t) · e</a:t>
            </a:r>
            <a:r>
              <a:rPr b="1" baseline="30000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−2iπft</a:t>
            </a:r>
            <a:r>
              <a:rPr b="1" i="0" lang="en-US" sz="2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dt</a:t>
            </a:r>
            <a:r>
              <a:rPr b="0" i="1" lang="en-US" sz="14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      —      appliquée par fenêtres glissantes (STFT)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0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0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Représentation : mel-spectrogrammes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20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25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20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20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Transformer un signal temporel en image perçue comme un humain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20"/>
          <p:cNvSpPr/>
          <p:nvPr/>
        </p:nvSpPr>
        <p:spPr>
          <a:xfrm>
            <a:off x="64008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0"/>
          <p:cNvSpPr txBox="1"/>
          <p:nvPr/>
        </p:nvSpPr>
        <p:spPr>
          <a:xfrm>
            <a:off x="64008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Signal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temporel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20"/>
          <p:cNvSpPr txBox="1"/>
          <p:nvPr/>
        </p:nvSpPr>
        <p:spPr>
          <a:xfrm>
            <a:off x="228600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20"/>
          <p:cNvSpPr/>
          <p:nvPr/>
        </p:nvSpPr>
        <p:spPr>
          <a:xfrm>
            <a:off x="251460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20"/>
          <p:cNvSpPr txBox="1"/>
          <p:nvPr/>
        </p:nvSpPr>
        <p:spPr>
          <a:xfrm>
            <a:off x="251460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STFT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20"/>
          <p:cNvSpPr txBox="1"/>
          <p:nvPr/>
        </p:nvSpPr>
        <p:spPr>
          <a:xfrm>
            <a:off x="416052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20"/>
          <p:cNvSpPr/>
          <p:nvPr/>
        </p:nvSpPr>
        <p:spPr>
          <a:xfrm>
            <a:off x="438912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0"/>
          <p:cNvSpPr txBox="1"/>
          <p:nvPr/>
        </p:nvSpPr>
        <p:spPr>
          <a:xfrm>
            <a:off x="438912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Échelle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20"/>
          <p:cNvSpPr txBox="1"/>
          <p:nvPr/>
        </p:nvSpPr>
        <p:spPr>
          <a:xfrm>
            <a:off x="603504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20"/>
          <p:cNvSpPr/>
          <p:nvPr/>
        </p:nvSpPr>
        <p:spPr>
          <a:xfrm>
            <a:off x="626364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20"/>
          <p:cNvSpPr txBox="1"/>
          <p:nvPr/>
        </p:nvSpPr>
        <p:spPr>
          <a:xfrm>
            <a:off x="626364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(dB)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20"/>
          <p:cNvSpPr txBox="1"/>
          <p:nvPr/>
        </p:nvSpPr>
        <p:spPr>
          <a:xfrm>
            <a:off x="790956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20"/>
          <p:cNvSpPr/>
          <p:nvPr/>
        </p:nvSpPr>
        <p:spPr>
          <a:xfrm>
            <a:off x="813816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0"/>
          <p:cNvSpPr txBox="1"/>
          <p:nvPr/>
        </p:nvSpPr>
        <p:spPr>
          <a:xfrm>
            <a:off x="813816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Normalisation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[0, 1]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20"/>
          <p:cNvSpPr txBox="1"/>
          <p:nvPr/>
        </p:nvSpPr>
        <p:spPr>
          <a:xfrm>
            <a:off x="9784080" y="2788920"/>
            <a:ext cx="274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20"/>
          <p:cNvSpPr/>
          <p:nvPr/>
        </p:nvSpPr>
        <p:spPr>
          <a:xfrm>
            <a:off x="10012680" y="2377440"/>
            <a:ext cx="1691640" cy="1371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0"/>
          <p:cNvSpPr txBox="1"/>
          <p:nvPr/>
        </p:nvSpPr>
        <p:spPr>
          <a:xfrm>
            <a:off x="10012680" y="2377440"/>
            <a:ext cx="16916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Resize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128 × 128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20"/>
          <p:cNvSpPr txBox="1"/>
          <p:nvPr/>
        </p:nvSpPr>
        <p:spPr>
          <a:xfrm>
            <a:off x="640080" y="4206240"/>
            <a:ext cx="109728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Découpage du son en fenêtres de 1 s avec recouvrement 50 % (augmentation gratuite)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Mel-spectrogramme son : 64 bandes  ·  vibration : 32 bandes (n_fft adaptatif)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Toutes les entrées du réseau ramenées à 128 × 128 px, un seul canal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1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1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Augmentations et split anti-fuite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21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26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21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21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Robustifier l'entraînement avec peu de captures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21"/>
          <p:cNvSpPr/>
          <p:nvPr/>
        </p:nvSpPr>
        <p:spPr>
          <a:xfrm>
            <a:off x="640080" y="2194560"/>
            <a:ext cx="5486400" cy="3840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1"/>
          <p:cNvSpPr txBox="1"/>
          <p:nvPr/>
        </p:nvSpPr>
        <p:spPr>
          <a:xfrm>
            <a:off x="822960" y="233172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Augmentations d'entraînement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21"/>
          <p:cNvSpPr txBox="1"/>
          <p:nvPr/>
        </p:nvSpPr>
        <p:spPr>
          <a:xfrm>
            <a:off x="822960" y="2788920"/>
            <a:ext cx="512064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Bruit gaussien ajouté au signal brut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Décalage temporel (time shift) aléatoire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SpecAugment : masquage de bandes de temps et de fréquence sur le spectrogramme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Multiplie virtuellement la taille du dataset par ≈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21"/>
          <p:cNvSpPr/>
          <p:nvPr/>
        </p:nvSpPr>
        <p:spPr>
          <a:xfrm>
            <a:off x="6263640" y="2194560"/>
            <a:ext cx="5486400" cy="3840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1"/>
          <p:cNvSpPr txBox="1"/>
          <p:nvPr/>
        </p:nvSpPr>
        <p:spPr>
          <a:xfrm>
            <a:off x="6446520" y="233172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Split anti-fuite par capture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21"/>
          <p:cNvSpPr txBox="1"/>
          <p:nvPr/>
        </p:nvSpPr>
        <p:spPr>
          <a:xfrm>
            <a:off x="6446520" y="2788920"/>
            <a:ext cx="512064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Toutes les fenêtres d'une même capture vont au même split (train OU val OU test)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Empêche le modèle de mémoriser une signature acoustique vue à l'entraînement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4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Métrique d'évaluation : MAE par capture (et non par fenêtre)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2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22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2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Architecture du réseau de neurones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22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27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22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22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Deux branches CNN convolutives + fusion par concaténation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22"/>
          <p:cNvSpPr txBox="1"/>
          <p:nvPr/>
        </p:nvSpPr>
        <p:spPr>
          <a:xfrm>
            <a:off x="640080" y="242316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Spectro son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22"/>
          <p:cNvSpPr/>
          <p:nvPr/>
        </p:nvSpPr>
        <p:spPr>
          <a:xfrm>
            <a:off x="201168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2"/>
          <p:cNvSpPr txBox="1"/>
          <p:nvPr/>
        </p:nvSpPr>
        <p:spPr>
          <a:xfrm>
            <a:off x="201168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Conv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22"/>
          <p:cNvSpPr/>
          <p:nvPr/>
        </p:nvSpPr>
        <p:spPr>
          <a:xfrm>
            <a:off x="310896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22"/>
          <p:cNvSpPr txBox="1"/>
          <p:nvPr/>
        </p:nvSpPr>
        <p:spPr>
          <a:xfrm>
            <a:off x="310896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Conv 64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22"/>
          <p:cNvSpPr/>
          <p:nvPr/>
        </p:nvSpPr>
        <p:spPr>
          <a:xfrm>
            <a:off x="420624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22"/>
          <p:cNvSpPr txBox="1"/>
          <p:nvPr/>
        </p:nvSpPr>
        <p:spPr>
          <a:xfrm>
            <a:off x="420624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Conv 128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22"/>
          <p:cNvSpPr/>
          <p:nvPr/>
        </p:nvSpPr>
        <p:spPr>
          <a:xfrm>
            <a:off x="5303520" y="22860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2"/>
          <p:cNvSpPr txBox="1"/>
          <p:nvPr/>
        </p:nvSpPr>
        <p:spPr>
          <a:xfrm>
            <a:off x="5303520" y="22860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GlobAvg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22"/>
          <p:cNvSpPr txBox="1"/>
          <p:nvPr/>
        </p:nvSpPr>
        <p:spPr>
          <a:xfrm>
            <a:off x="640080" y="379476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Spectro vib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22"/>
          <p:cNvSpPr/>
          <p:nvPr/>
        </p:nvSpPr>
        <p:spPr>
          <a:xfrm>
            <a:off x="201168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2"/>
          <p:cNvSpPr txBox="1"/>
          <p:nvPr/>
        </p:nvSpPr>
        <p:spPr>
          <a:xfrm>
            <a:off x="201168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Conv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22"/>
          <p:cNvSpPr/>
          <p:nvPr/>
        </p:nvSpPr>
        <p:spPr>
          <a:xfrm>
            <a:off x="310896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2"/>
          <p:cNvSpPr txBox="1"/>
          <p:nvPr/>
        </p:nvSpPr>
        <p:spPr>
          <a:xfrm>
            <a:off x="310896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Conv 64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22"/>
          <p:cNvSpPr/>
          <p:nvPr/>
        </p:nvSpPr>
        <p:spPr>
          <a:xfrm>
            <a:off x="420624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2"/>
          <p:cNvSpPr txBox="1"/>
          <p:nvPr/>
        </p:nvSpPr>
        <p:spPr>
          <a:xfrm>
            <a:off x="420624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Conv 128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22"/>
          <p:cNvSpPr/>
          <p:nvPr/>
        </p:nvSpPr>
        <p:spPr>
          <a:xfrm>
            <a:off x="5303520" y="3657600"/>
            <a:ext cx="1005840" cy="640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2"/>
          <p:cNvSpPr txBox="1"/>
          <p:nvPr/>
        </p:nvSpPr>
        <p:spPr>
          <a:xfrm>
            <a:off x="5303520" y="3657600"/>
            <a:ext cx="1005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GlobAvg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22"/>
          <p:cNvSpPr/>
          <p:nvPr/>
        </p:nvSpPr>
        <p:spPr>
          <a:xfrm>
            <a:off x="6606548" y="2468875"/>
            <a:ext cx="1371600" cy="15546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2"/>
          <p:cNvSpPr txBox="1"/>
          <p:nvPr/>
        </p:nvSpPr>
        <p:spPr>
          <a:xfrm>
            <a:off x="6606560" y="2881888"/>
            <a:ext cx="1371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Concat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Dense 64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Dropout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22"/>
          <p:cNvSpPr/>
          <p:nvPr/>
        </p:nvSpPr>
        <p:spPr>
          <a:xfrm>
            <a:off x="8355348" y="2698988"/>
            <a:ext cx="1371600" cy="1097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1A0B3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2"/>
          <p:cNvSpPr txBox="1"/>
          <p:nvPr/>
        </p:nvSpPr>
        <p:spPr>
          <a:xfrm>
            <a:off x="8355335" y="3039938"/>
            <a:ext cx="1371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75" lIns="45700" spcFirstLastPara="1" rIns="45700" wrap="square" tIns="18275">
            <a:sp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A0B3D"/>
                </a:solidFill>
                <a:latin typeface="Calibri"/>
                <a:ea typeface="Calibri"/>
                <a:cs typeface="Calibri"/>
                <a:sym typeface="Calibri"/>
              </a:rPr>
              <a:t>Dense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A0B3D"/>
                </a:solidFill>
                <a:latin typeface="Calibri"/>
                <a:ea typeface="Calibri"/>
                <a:cs typeface="Calibri"/>
                <a:sym typeface="Calibri"/>
              </a:rPr>
              <a:t>sigmoid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22"/>
          <p:cNvSpPr txBox="1"/>
          <p:nvPr/>
        </p:nvSpPr>
        <p:spPr>
          <a:xfrm>
            <a:off x="9808220" y="3078988"/>
            <a:ext cx="137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× 100 →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22"/>
          <p:cNvSpPr txBox="1"/>
          <p:nvPr/>
        </p:nvSpPr>
        <p:spPr>
          <a:xfrm>
            <a:off x="3017520" y="24688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22"/>
          <p:cNvSpPr txBox="1"/>
          <p:nvPr/>
        </p:nvSpPr>
        <p:spPr>
          <a:xfrm>
            <a:off x="4114800" y="24688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0" name="Google Shape;580;p22"/>
          <p:cNvSpPr txBox="1"/>
          <p:nvPr/>
        </p:nvSpPr>
        <p:spPr>
          <a:xfrm>
            <a:off x="5212080" y="246888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1" name="Google Shape;581;p22"/>
          <p:cNvSpPr txBox="1"/>
          <p:nvPr/>
        </p:nvSpPr>
        <p:spPr>
          <a:xfrm>
            <a:off x="3017520" y="3840479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22"/>
          <p:cNvSpPr txBox="1"/>
          <p:nvPr/>
        </p:nvSpPr>
        <p:spPr>
          <a:xfrm>
            <a:off x="4114800" y="3840479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22"/>
          <p:cNvSpPr txBox="1"/>
          <p:nvPr/>
        </p:nvSpPr>
        <p:spPr>
          <a:xfrm>
            <a:off x="5212080" y="3840479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22"/>
          <p:cNvSpPr txBox="1"/>
          <p:nvPr/>
        </p:nvSpPr>
        <p:spPr>
          <a:xfrm>
            <a:off x="6309360" y="24688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22"/>
          <p:cNvSpPr txBox="1"/>
          <p:nvPr/>
        </p:nvSpPr>
        <p:spPr>
          <a:xfrm>
            <a:off x="6309360" y="38404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22"/>
          <p:cNvSpPr txBox="1"/>
          <p:nvPr/>
        </p:nvSpPr>
        <p:spPr>
          <a:xfrm>
            <a:off x="7978150" y="3109015"/>
            <a:ext cx="365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22"/>
          <p:cNvSpPr/>
          <p:nvPr/>
        </p:nvSpPr>
        <p:spPr>
          <a:xfrm>
            <a:off x="640080" y="5120640"/>
            <a:ext cx="10972800" cy="1280160"/>
          </a:xfrm>
          <a:prstGeom prst="roundRect">
            <a:avLst>
              <a:gd fmla="val 16667" name="adj"/>
            </a:avLst>
          </a:prstGeom>
          <a:solidFill>
            <a:srgbClr val="EF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22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Loss : MSE   ·   Métrique : MAE en %   ·   Optimiseur : Adam, lr 1e-3   ·   Batch 32   ·   50 epochs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22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Tâche de régression : sortie sigmoïde × 100 → niveau de tension en pourcentage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3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3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Décision d'ingénierie  ·  Option A : |VZ| seul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23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28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23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23"/>
          <p:cNvSpPr txBox="1"/>
          <p:nvPr/>
        </p:nvSpPr>
        <p:spPr>
          <a:xfrm>
            <a:off x="640080" y="15544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1" lang="en-US" sz="17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Pourquoi n'utiliser qu'un seul axe vibration sur les trois disponibles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23"/>
          <p:cNvSpPr txBox="1"/>
          <p:nvPr/>
        </p:nvSpPr>
        <p:spPr>
          <a:xfrm>
            <a:off x="640080" y="2194560"/>
            <a:ext cx="10972800" cy="116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Observation : axes VX et VY figés à 271 et 1 dans notre configuration capteur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Cause identifiée : axes perpendiculaires à la vibration dominante du moteur, sous le seuil MEMS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Magnitude 3-axes √(VX² + VY² + VZ²) aurait un plancher à ≈ 271 qui écrase la dynamique utile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5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Option A retenue : utiliser |VZ| seul comme signal vibration → on récupère la vraie variation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4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24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Résultats  ·  courbes d'entraînement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24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29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2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esultats_modele.png" id="612" name="Google Shape;61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554480"/>
            <a:ext cx="7772400" cy="4206240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24"/>
          <p:cNvSpPr/>
          <p:nvPr/>
        </p:nvSpPr>
        <p:spPr>
          <a:xfrm>
            <a:off x="8686800" y="1554480"/>
            <a:ext cx="3017520" cy="42062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4B5F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4"/>
          <p:cNvSpPr txBox="1"/>
          <p:nvPr/>
        </p:nvSpPr>
        <p:spPr>
          <a:xfrm>
            <a:off x="8869680" y="169164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Lecture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24"/>
          <p:cNvSpPr txBox="1"/>
          <p:nvPr/>
        </p:nvSpPr>
        <p:spPr>
          <a:xfrm>
            <a:off x="8823955" y="2103120"/>
            <a:ext cx="2834700" cy="118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Convergence stable sur 30 epochs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Pas de divergence train/val significative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MAE entraînement décroît régulièrement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2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Validation se stabilise → fin d'apprentissage utile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2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5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25"/>
          <p:cNvSpPr txBox="1"/>
          <p:nvPr/>
        </p:nvSpPr>
        <p:spPr>
          <a:xfrm>
            <a:off x="914400" y="384048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Résultats  ·  MAE 11,2 % par capture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25"/>
          <p:cNvSpPr txBox="1"/>
          <p:nvPr/>
        </p:nvSpPr>
        <p:spPr>
          <a:xfrm>
            <a:off x="10911535" y="649224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30 / 32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2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25"/>
          <p:cNvSpPr/>
          <p:nvPr/>
        </p:nvSpPr>
        <p:spPr>
          <a:xfrm>
            <a:off x="640080" y="1737360"/>
            <a:ext cx="530352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8B5CF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25"/>
          <p:cNvSpPr txBox="1"/>
          <p:nvPr/>
        </p:nvSpPr>
        <p:spPr>
          <a:xfrm>
            <a:off x="640080" y="192024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Erreur absolue moyenne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25"/>
          <p:cNvSpPr txBox="1"/>
          <p:nvPr/>
        </p:nvSpPr>
        <p:spPr>
          <a:xfrm>
            <a:off x="640080" y="2468880"/>
            <a:ext cx="53035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0"/>
              <a:buFont typeface="Arial"/>
              <a:buNone/>
            </a:pPr>
            <a:r>
              <a:rPr b="1" i="0" lang="en-US" sz="110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11,2 %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25"/>
          <p:cNvSpPr txBox="1"/>
          <p:nvPr/>
        </p:nvSpPr>
        <p:spPr>
          <a:xfrm>
            <a:off x="640080" y="457200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par capture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25"/>
          <p:cNvSpPr txBox="1"/>
          <p:nvPr/>
        </p:nvSpPr>
        <p:spPr>
          <a:xfrm>
            <a:off x="640080" y="512064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Métrique métier — pourcentage de tension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25"/>
          <p:cNvSpPr/>
          <p:nvPr/>
        </p:nvSpPr>
        <p:spPr>
          <a:xfrm>
            <a:off x="6263640" y="1737360"/>
            <a:ext cx="5486400" cy="4114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25"/>
          <p:cNvSpPr txBox="1"/>
          <p:nvPr/>
        </p:nvSpPr>
        <p:spPr>
          <a:xfrm>
            <a:off x="6446520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Comparaison à une baseline naïve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25"/>
          <p:cNvSpPr txBox="1"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Baseline (prédire la moyenne) : ≈ 27 %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25"/>
          <p:cNvSpPr txBox="1"/>
          <p:nvPr/>
        </p:nvSpPr>
        <p:spPr>
          <a:xfrm>
            <a:off x="6446520" y="3063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Modèle double branche : 11,2 %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25"/>
          <p:cNvSpPr txBox="1"/>
          <p:nvPr/>
        </p:nvSpPr>
        <p:spPr>
          <a:xfrm>
            <a:off x="6446520" y="361188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→ erreur divisée par ≈ 2,5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25"/>
          <p:cNvSpPr txBox="1"/>
          <p:nvPr/>
        </p:nvSpPr>
        <p:spPr>
          <a:xfrm>
            <a:off x="6446520" y="4297680"/>
            <a:ext cx="51206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Preuve de concept fonctionnelle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8B5CF6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334055"/>
                </a:solidFill>
                <a:latin typeface="Calibri"/>
                <a:ea typeface="Calibri"/>
                <a:cs typeface="Calibri"/>
                <a:sym typeface="Calibri"/>
              </a:rPr>
              <a:t>Marge d'amélioration : campagne complète + meilleure qualité vibration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ec4d09648f_0_3"/>
          <p:cNvSpPr/>
          <p:nvPr/>
        </p:nvSpPr>
        <p:spPr>
          <a:xfrm>
            <a:off x="502920" y="53035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g3ec4d09648f_0_3"/>
          <p:cNvSpPr txBox="1"/>
          <p:nvPr/>
        </p:nvSpPr>
        <p:spPr>
          <a:xfrm>
            <a:off x="914400" y="384048"/>
            <a:ext cx="1097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Problématiques rencontrées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g3ec4d09648f_0_3"/>
          <p:cNvSpPr txBox="1"/>
          <p:nvPr/>
        </p:nvSpPr>
        <p:spPr>
          <a:xfrm>
            <a:off x="10911535" y="6492240"/>
            <a:ext cx="914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31 / 32</a:t>
            </a: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g3ec4d09648f_0_3"/>
          <p:cNvSpPr txBox="1"/>
          <p:nvPr/>
        </p:nvSpPr>
        <p:spPr>
          <a:xfrm>
            <a:off x="502920" y="6492240"/>
            <a:ext cx="8229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BTS CIEL 2026  ·  Soutenance U6  ·  Noa Orand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g3ec4d09648f_0_3"/>
          <p:cNvSpPr txBox="1"/>
          <p:nvPr/>
        </p:nvSpPr>
        <p:spPr>
          <a:xfrm>
            <a:off x="914400" y="1355625"/>
            <a:ext cx="10705800" cy="44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-"/>
            </a:pPr>
            <a:r>
              <a:rPr lang="en-US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 pivot du projet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-"/>
            </a:pPr>
            <a:r>
              <a:rPr lang="en-US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Problèmes de pertes de données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-"/>
            </a:pPr>
            <a:r>
              <a:rPr lang="en-US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Dataset insuffisant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Calibri"/>
              <a:buChar char="-"/>
            </a:pPr>
            <a:r>
              <a:rPr lang="en-US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Modeles bon a l’entrainement, mais mauvais sur les données de test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d_bg.jpg" id="652" name="Google Shape;65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p26"/>
          <p:cNvSpPr txBox="1"/>
          <p:nvPr/>
        </p:nvSpPr>
        <p:spPr>
          <a:xfrm>
            <a:off x="457200" y="64008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et perspectives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26"/>
          <p:cNvSpPr/>
          <p:nvPr/>
        </p:nvSpPr>
        <p:spPr>
          <a:xfrm>
            <a:off x="640080" y="1828800"/>
            <a:ext cx="5394960" cy="2103120"/>
          </a:xfrm>
          <a:prstGeom prst="roundRect">
            <a:avLst>
              <a:gd fmla="val 16667" name="adj"/>
            </a:avLst>
          </a:prstGeom>
          <a:solidFill>
            <a:srgbClr val="2A145E"/>
          </a:solidFill>
          <a:ln cap="flat" cmpd="sng" w="12700">
            <a:solidFill>
              <a:srgbClr val="22D3E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6"/>
          <p:cNvSpPr txBox="1"/>
          <p:nvPr/>
        </p:nvSpPr>
        <p:spPr>
          <a:xfrm>
            <a:off x="86868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Bilan technique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26"/>
          <p:cNvSpPr txBox="1"/>
          <p:nvPr/>
        </p:nvSpPr>
        <p:spPr>
          <a:xfrm>
            <a:off x="868680" y="2377440"/>
            <a:ext cx="50292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Chaîne complète fonctionnelle de bout en bout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2D3EE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Modèle IA défendable (MAE 11,2 %)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26"/>
          <p:cNvSpPr/>
          <p:nvPr/>
        </p:nvSpPr>
        <p:spPr>
          <a:xfrm>
            <a:off x="6126480" y="1828800"/>
            <a:ext cx="5394960" cy="2103120"/>
          </a:xfrm>
          <a:prstGeom prst="roundRect">
            <a:avLst>
              <a:gd fmla="val 16667" name="adj"/>
            </a:avLst>
          </a:prstGeom>
          <a:solidFill>
            <a:srgbClr val="2A145E"/>
          </a:solidFill>
          <a:ln cap="flat" cmpd="sng" w="12700">
            <a:solidFill>
              <a:srgbClr val="E879F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6"/>
          <p:cNvSpPr txBox="1"/>
          <p:nvPr/>
        </p:nvSpPr>
        <p:spPr>
          <a:xfrm>
            <a:off x="635508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Perspectives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26"/>
          <p:cNvSpPr txBox="1"/>
          <p:nvPr/>
        </p:nvSpPr>
        <p:spPr>
          <a:xfrm>
            <a:off x="6355080" y="2377440"/>
            <a:ext cx="5029200" cy="74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Compléter la campagne de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70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captures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Ajouter capteur courant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=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mesure directe puissance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879F9"/>
                </a:solidFill>
                <a:latin typeface="Calibri"/>
                <a:ea typeface="Calibri"/>
                <a:cs typeface="Calibri"/>
                <a:sym typeface="Calibri"/>
              </a:rPr>
              <a:t>●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Comparer mono-modalité vs double branche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26"/>
          <p:cNvSpPr txBox="1"/>
          <p:nvPr/>
        </p:nvSpPr>
        <p:spPr>
          <a:xfrm>
            <a:off x="457200" y="438912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 pour votre attention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26"/>
          <p:cNvSpPr/>
          <p:nvPr/>
        </p:nvSpPr>
        <p:spPr>
          <a:xfrm>
            <a:off x="5730087" y="6035040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26"/>
          <p:cNvSpPr/>
          <p:nvPr/>
        </p:nvSpPr>
        <p:spPr>
          <a:xfrm>
            <a:off x="6040983" y="6035040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26"/>
          <p:cNvSpPr/>
          <p:nvPr/>
        </p:nvSpPr>
        <p:spPr>
          <a:xfrm>
            <a:off x="6351879" y="6035040"/>
            <a:ext cx="109728" cy="109728"/>
          </a:xfrm>
          <a:prstGeom prst="ellipse">
            <a:avLst/>
          </a:prstGeom>
          <a:solidFill>
            <a:srgbClr val="E879F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