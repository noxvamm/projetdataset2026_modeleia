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Bonjour, je suis Noa Orand. Je vous présente mon projet de fin d'études : l'estimation par intelligence artificielle du niveau de tension d'un moteur électrique à partir de signaux acoustiques et vibratoires. 20 minutes : présentation du projet d'équipe, puis ma contribution personnelle.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: projet collectif (10 min) puis ma contribution (10 min). Le jury me questionnera ensuite pendant 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démarre par la présentation du projet collectif.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 collectif à quatre. Je m'occupe du pipeline d'acquisition logicielle et du modèle IA. Hugo gère la qualité des données et le versionnage. Mederick le firmware embarqué. Ege l'IHM Qt.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projet s'inscrit dans le domaine de la maintenance prédictive. L'idée : ausculter une machine pour anticiper sa défaillance.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pivot est un point fort : c'est une décision d'ingénierie justifiée, pas un échec.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étapes du pipeline : mesurer, transmettre, stocker, prédire. Tout est fonctionnel de bout en 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Banc moteur volontairement simple. Deux conditions A_vide / B_frein. Le label IA est en pourcentage de la tension max propre à la condition, pour normaliser l'apprentissage.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capteurs : microphone I2S pour le son à 16 kHz, et WTVB01-BT50 en BLE pour la vibration. La fréquence vibration effective est réduite à cause du partage d'antenne BLE/Wi-Fi sur l'ESP32 — limitation acceptée car le contenu utile est sous 5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L'ESP32 est le concentrateur embarqué. Le firmware a été optimisé pour éviter les pertes : passage de String à snprintf, APLL pour l'I2S, et augmentation des buffers DMA. Résultat : fréquence son effective passée de 10 kHz à 15,8 kHz, soit 99 % de la 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diagramme de déploiement. Toute la chaîne est mise en lumière : le capteur, l'ESP32, le réseau, les serveurs Python (TCP métadonnées + UDP données), le stockage CSV et enfin le modèle d'IA en post-traitement.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plan est croisé. 11 niveaux × 2 conditions × 5 captures = 110 sessions. Découpage en deux phases pour éviter une dérive thermique du moteur.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apprend la tension parce qu'on n'a pas de capteur de courant. C'est un proxy assumé et documenté.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vers ma contribution personnelle.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double responsabilité me permet de garantir que le format des données produites en amont est bien adapté à l'apprentissage en aval.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serveur TCP reçoit les métadonnées de session avant chaque capture, normalise la condition de charge, attribue un identifiant et indexe la session dans le fichier maître.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client UDP gère le flux haut débit du son. Le buffer est agrandi à 8 Mo. La détection de fin de capture par timeout est simple et 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format CSV maître à 9 colonnes. C'est le contrat de données entre l'IHM, le pipeline d'acquisition et le modèle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L'idée derrière la double branche : aucune modalité prise seule ne capture toute l'information. Le son apporte des transitoires haute fréquence, la vibration une signature basse fréquence. La fusion tardive permet d'apprendre ce qui est complémentaire.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mel-spectrogramme transforme le signal temporel en une image, où l'axe Y est la fréquence (perçue à la manière de l'oreille humaine) et l'axe X le temps. C'est ce que voit le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augmentations multiplient artificiellement le dataset. Le split par capture empêche la fuite : si une fenêtre d'une capture est en train, toutes les autres y sont aussi.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branches CNN identiques (3 convolutions + GlobalAvgPool) traitent indépendamment son et vibration. Concaténation, Dense, Dropout, et une sortie sigmoïde × 100 pour la régression du % de 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Décision documentée Option A : utiliser uniquement |VZ| parce que VX et VY sont saturés sous le seuil MEMS. C'est un argument à l'oral : analyse + référence au manuel constructeur.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courbes d'entraînement montrent une convergence stable sans surapprentissage marqué. La MAE de validation se stabilise vers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11,2 % de MAE par capture, contre 27 % pour une baseline naïve. C'est une division par 2,5, défendable comme preuve de concept même avec un dataset limité.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: la chaîne complète fonctionne, le modèle est défendable. Perspectives : compléter le dataset, ajouter un capteur de courant pour la puissance directe, comparer double branche vs mono. Merci, je suis à votre disposition pour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i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7" y="502920"/>
            <a:ext cx="292608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118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Estimation par intelligence artificielle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60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du niveau de tension d'un moteur électrique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C4B5FD"/>
                </a:solidFill>
                <a:latin typeface="Calibri"/>
              </a:rPr>
              <a:t>à partir de signaux acoustiques et vibratoires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Noa Orand   ·   BTS CIEL — Option Informatique et Réseaux   ·   Session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4B5FD"/>
                </a:solidFill>
                <a:latin typeface="Calibri"/>
              </a:rPr>
              <a:t>Soutenance U6  · 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02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6537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Présentation du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7744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34055"/>
                </a:solidFill>
                <a:latin typeface="Calibri"/>
              </a:rPr>
              <a:t>Contexte, banc d'essai, capteurs, architecture, plan d'expérience et choix du label.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Durée : 10 minutes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6537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Ma contribution individuelle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37744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34055"/>
                </a:solidFill>
                <a:latin typeface="Calibri"/>
              </a:rPr>
              <a:t>Pipeline d'acquisition (serveur TCP + client UDP) et modèle IA double branche.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Durée : 10 minutes</a:t>
            </a:r>
          </a:p>
        </p:txBody>
      </p:sp>
      <p:sp>
        <p:nvSpPr>
          <p:cNvPr id="17" name="Oval 16"/>
          <p:cNvSpPr/>
          <p:nvPr/>
        </p:nvSpPr>
        <p:spPr>
          <a:xfrm>
            <a:off x="3566160" y="429768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33425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297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Conclusion et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4632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34055"/>
                </a:solidFill>
                <a:latin typeface="Calibri"/>
              </a:rPr>
              <a:t>Bilan technique, résultats obtenus, perspectives. Échanges avec le jury (20 min).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760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Durée :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1">
                <a:solidFill>
                  <a:srgbClr val="22D3EE"/>
                </a:solidFill>
                <a:latin typeface="Calibri"/>
              </a:rP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Présentation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C4B5FD"/>
                </a:solidFill>
                <a:latin typeface="Calibri"/>
              </a:rPr>
              <a:t>Contexte académique, banc d'essai, architecture et plan d'expérience.</a:t>
            </a:r>
          </a:p>
        </p:txBody>
      </p:sp>
      <p:sp>
        <p:nvSpPr>
          <p:cNvPr id="6" name="Oval 5"/>
          <p:cNvSpPr/>
          <p:nvPr/>
        </p:nvSpPr>
        <p:spPr>
          <a:xfrm>
            <a:off x="5730087" y="521208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58687" y="5212080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87287" y="5212080"/>
            <a:ext cx="73152" cy="73152"/>
          </a:xfrm>
          <a:prstGeom prst="ellipse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Cadre académique et équipe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315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BTS CIEL — Cybersécurité, Informatique et Réseaux, Électronique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Option Informatique et Réseaux  ·  Session 2026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Projet de fin d'études — épreuve U6 (Pratique professionnelle)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Mobilise programmation système, réseaux, électronique embarquée, IA, gestion de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5448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  <a:latin typeface="Calibri"/>
              </a:rPr>
              <a:t>Équipe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2402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Noa Orand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328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Pipeline acquisition + modèle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26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Hugo Cypré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2186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Qualité données + versioning modèles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118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Mederick Mopty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9044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Firmware ESP32 + capture audio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976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Ege Yildirim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59028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IHM Qt + supervision captures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Maintenance prédictive — enjeu industriel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334055"/>
                </a:solidFill>
                <a:latin typeface="Calibri"/>
              </a:rPr>
              <a:t>Pourquoi écouter et capter la vibration d'une machine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Détecter une dérive avant la panne réduit les arrêts non planifiés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L'analyse acoustique et vibratoire fournit une signature riche, non intrusive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Datasets de référence : MIMII (sons industriels), CWRU (roulements), MAFAULDA (rotors)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Un CNN sur mel-spectrogramme apprend efficacement à classer/régresser un état mécanique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1208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22D3EE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datasets de référence cités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521208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5349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8B5CF6"/>
                </a:solidFill>
                <a:latin typeface="Calibri"/>
              </a:rPr>
              <a:t>16 kHz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943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fréquence d'acquisition 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521208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5349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879F9"/>
                </a:solidFill>
                <a:latin typeface="Calibri"/>
              </a:rPr>
              <a:t>10 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943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vibration effective (BLE)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Pivot du projet : du CNC au banc moteur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06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Sujet initial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Détection d'usure d'outil sur CNC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4572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8B5CF6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Accès à la machine très limité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8B5CF6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Impossibilité de produire un jeu de données suffisant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8B5CF6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Variance non maîtrisée des 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3832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8B5CF6"/>
                </a:solidFill>
                <a:latin typeface="Calibr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55448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8B5CF6"/>
                </a:solidFill>
                <a:latin typeface="Calibri"/>
              </a:rPr>
              <a:t>Nouveau périmètre retenu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Estimation de tension sur banc moteur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40"/>
            <a:ext cx="4572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8B5CF6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Banc reproductible, conditions maîtrisées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8B5CF6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Dataset constituable en un semestre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8B5CF6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Esprit du projet conservé : IA sur signaux physiques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Calibri"/>
              </a:rPr>
              <a:t>Décision d'ingénierie documentée — argument à l'oral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Objectif fonctionnel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07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8B5CF6"/>
                </a:solidFill>
                <a:latin typeface="Calibri"/>
              </a:rPr>
              <a:t>Estimer le niveau de tension appliqué au moteur à partir du son et de la vibration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5117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603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Mesurer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Capter en continu son (I2S 16 kHz) et vibration mécanique (BLE 3 axes)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28600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25146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5117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5603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Transmettre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0040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Envoyer au PC par Wi-Fi : flux UDP des données, TCP pour les métadonnées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2628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754880"/>
            <a:ext cx="502920" cy="502920"/>
          </a:xfrm>
          <a:prstGeom prst="ellipse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9145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8006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Stocker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Dataset CSV à plat indexé par un fichier maître metadata_captures_moteur.csv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52628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0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0" y="4754880"/>
            <a:ext cx="502920" cy="502920"/>
          </a:xfrm>
          <a:prstGeom prst="ellipse">
            <a:avLst/>
          </a:prstGeom>
          <a:solidFill>
            <a:srgbClr val="1A0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79145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8006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Prédire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44068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Modèle CNN double branche : sortie en % de la tension max de la condition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Banc d'essai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08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Moteur électrique CC alimenté par alimentation à tension réglable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Deux conditions de charge retenues pour leur reproductibilité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Tension maximale mesurée propre à chaque condition (référence du label en %)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8B5CF6"/>
                </a:solidFill>
              </a:rPr>
              <a:t>● </a:t>
            </a:r>
            <a:r>
              <a:rPr sz="1700">
                <a:solidFill>
                  <a:srgbClr val="334055"/>
                </a:solidFill>
                <a:latin typeface="Calibri"/>
              </a:rPr>
              <a:t>Troisième condition (frein + inertie) écartée : reproductibilité insuffisante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737360"/>
            <a:ext cx="39319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Conditions retenues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331720"/>
            <a:ext cx="3657600" cy="1280160"/>
          </a:xfrm>
          <a:prstGeom prst="roundRect">
            <a:avLst/>
          </a:prstGeom>
          <a:solidFill>
            <a:srgbClr val="EF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4231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A — Sans frein (à vide)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7889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Tension max  ·  30,3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1546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22D3EE"/>
                </a:solidFill>
                <a:latin typeface="Calibri"/>
              </a:rPr>
              <a:t>Référence du label : 100 %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49039"/>
            <a:ext cx="3657600" cy="1280160"/>
          </a:xfrm>
          <a:prstGeom prst="roundRect">
            <a:avLst/>
          </a:prstGeom>
          <a:solidFill>
            <a:srgbClr val="FD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8404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B — Avec frein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206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Tension max  ·  28,7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572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E879F9"/>
                </a:solidFill>
                <a:latin typeface="Calibri"/>
              </a:rPr>
              <a:t>Référence du label : 100 %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  <a:latin typeface="Calibri"/>
              </a:rPr>
              <a:t>Approche relative par condition  ·  label = pourcentage × tension_max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Capteurs et chaîne d'acquisition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09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783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Microphone I2S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INMP441 — capteur MEMS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22D3EE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Fréquence théorique 16 kHz, effective ≈ 15,8 kHz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22D3EE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Mono, 32 bits par échantillon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22D3EE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Connexion ESP32 : SCK GPIO14, WS GPIO25, SD GPIO32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1783080"/>
            <a:ext cx="365760" cy="365760"/>
          </a:xfrm>
          <a:prstGeom prst="ellipse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783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Capteur de vibration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WTVB01-BT50 — module BLE 3 axes WIT 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78892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E879F9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Trame BLE de 28 octets, en-tête 0x55 0x61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E879F9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13 valeurs : VX/VY/VZ, ADX/ADY/ADZ, T°, DX/DY/DZ, HZX/HZY/HZZ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E879F9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50 Hz déclaré, ≈ 10 Hz effectif (conflit BLE / Wi-Fi sur ESP32)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ESP32 — rôle de concentrateur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334055"/>
                </a:solidFill>
                <a:latin typeface="Calibri"/>
              </a:rPr>
              <a:t>Un seul microcontrôleur orchestre l'ensemble de l'acquisition embarquée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</a:rPr>
              <a:t>● </a:t>
            </a:r>
            <a:r>
              <a:rPr sz="1600">
                <a:solidFill>
                  <a:srgbClr val="334055"/>
                </a:solidFill>
                <a:latin typeface="Calibri"/>
              </a:rPr>
              <a:t>Pilote l'interface I2S pour récupérer les échantillons audio en continu</a:t>
            </a:r>
          </a:p>
          <a:p>
            <a:pPr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</a:rPr>
              <a:t>● </a:t>
            </a:r>
            <a:r>
              <a:rPr sz="1600">
                <a:solidFill>
                  <a:srgbClr val="334055"/>
                </a:solidFill>
                <a:latin typeface="Calibri"/>
              </a:rPr>
              <a:t>Ouvre une connexion BLE cliente vers le capteur de vibration et souscrit aux notifications</a:t>
            </a:r>
          </a:p>
          <a:p>
            <a:pPr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</a:rPr>
              <a:t>● </a:t>
            </a:r>
            <a:r>
              <a:rPr sz="1600">
                <a:solidFill>
                  <a:srgbClr val="334055"/>
                </a:solidFill>
                <a:latin typeface="Calibri"/>
              </a:rPr>
              <a:t>Émet deux flux UDP distincts vers le PC opérateur (préfixes SOUND et VIB)</a:t>
            </a:r>
          </a:p>
          <a:p>
            <a:pPr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</a:rPr>
              <a:t>● </a:t>
            </a:r>
            <a:r>
              <a:rPr sz="1600">
                <a:solidFill>
                  <a:srgbClr val="334055"/>
                </a:solidFill>
                <a:latin typeface="Calibri"/>
              </a:rPr>
              <a:t>Mutex FreeRTOS : sérialise les envois UDP entre tâche audio et callback BLE — pas d'entrelacement</a:t>
            </a:r>
          </a:p>
          <a:p>
            <a:pPr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</a:rPr>
              <a:t>● </a:t>
            </a:r>
            <a:r>
              <a:rPr sz="1600">
                <a:solidFill>
                  <a:srgbClr val="334055"/>
                </a:solidFill>
                <a:latin typeface="Calibri"/>
              </a:rPr>
              <a:t>Reconnexion Wi-Fi et BLE automatique en cas de coupure réseau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669280"/>
            <a:ext cx="10972800" cy="777240"/>
          </a:xfrm>
          <a:prstGeom prst="roundRect">
            <a:avLst/>
          </a:prstGeom>
          <a:solidFill>
            <a:srgbClr val="EF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B5CF6"/>
                </a:solidFill>
                <a:latin typeface="Calibri"/>
              </a:rPr>
              <a:t>Optimisations firmware  ·  snprintf au lieu de String, APLL activée, buffers DMA × 8, MTU BLE 247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Architecture logicielle bout-en-bout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pic>
        <p:nvPicPr>
          <p:cNvPr id="7" name="Picture 6" descr="diag_deploi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54480"/>
            <a:ext cx="82296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  <a:latin typeface="Calibri"/>
              </a:rPr>
              <a:t>Capteurs → ESP32 → Wi-Fi → serveurs Python → CSV → modèle IA Keras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Plan d'expérience — 110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12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22D3EE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niveaux de 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8B5CF6"/>
                </a:solidFill>
                <a:latin typeface="Calibri"/>
              </a:rPr>
              <a:t>×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974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conditions de charge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E879F9"/>
                </a:solidFill>
                <a:latin typeface="Calibri"/>
              </a:rPr>
              <a:t>×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captures par couple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55448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1A0B3D"/>
                </a:solidFill>
                <a:latin typeface="Calibri"/>
              </a:rPr>
              <a:t>= 110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6974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sessions de 15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Niveaux : 0, 10, 20, ..., 100 % de la tension maximale propre à la condition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Conditions : A_vide (sans frein) et B_frein (avec frein)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Durée totale ≈ 1 h 50 de banc moteur, réalisée en deux phases pour limiter la dérive thermique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Vérification rapide du dataset à mi-parcours avant la phase 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Pourquoi la tension et non la puissance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8B5CF6"/>
                </a:solidFill>
                <a:latin typeface="Calibri"/>
              </a:rPr>
              <a:t>Décision d'ingénierie justifiée par la disponibilité matérielle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</a:rPr>
              <a:t>● </a:t>
            </a:r>
            <a:r>
              <a:rPr sz="1600">
                <a:solidFill>
                  <a:srgbClr val="334055"/>
                </a:solidFill>
                <a:latin typeface="Calibri"/>
              </a:rPr>
              <a:t>P = U × I exigerait simultanément tension et courant — pas de capteur d'intensité disponible</a:t>
            </a:r>
          </a:p>
          <a:p>
            <a:pPr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</a:rPr>
              <a:t>● </a:t>
            </a:r>
            <a:r>
              <a:rPr sz="1600">
                <a:solidFill>
                  <a:srgbClr val="334055"/>
                </a:solidFill>
                <a:latin typeface="Calibri"/>
              </a:rPr>
              <a:t>La tension reste une fonction monotone de la puissance pour une charge fixée</a:t>
            </a:r>
          </a:p>
          <a:p>
            <a:pPr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</a:rPr>
              <a:t>● </a:t>
            </a:r>
            <a:r>
              <a:rPr sz="1600">
                <a:solidFill>
                  <a:srgbClr val="334055"/>
                </a:solidFill>
                <a:latin typeface="Calibri"/>
              </a:rPr>
              <a:t>C'est donc un proxy honnête de la puissance, suffisant pour caractériser l'effort moteur</a:t>
            </a:r>
          </a:p>
          <a:p>
            <a:pPr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</a:rPr>
              <a:t>● </a:t>
            </a:r>
            <a:r>
              <a:rPr sz="1600">
                <a:solidFill>
                  <a:srgbClr val="334055"/>
                </a:solidFill>
                <a:latin typeface="Calibri"/>
              </a:rPr>
              <a:t>Approche relative par condition : chaque condition a sa propre tension maximale = 100 %</a:t>
            </a:r>
          </a:p>
          <a:p>
            <a:pPr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</a:rPr>
              <a:t>● </a:t>
            </a:r>
            <a:r>
              <a:rPr sz="1600">
                <a:solidFill>
                  <a:srgbClr val="334055"/>
                </a:solidFill>
                <a:latin typeface="Calibri"/>
              </a:rPr>
              <a:t>Normalisation : label_apprentissage = pourcentage / 100,0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77840"/>
            <a:ext cx="10972800" cy="868680"/>
          </a:xfrm>
          <a:prstGeom prst="roundRect">
            <a:avLst/>
          </a:prstGeom>
          <a:solidFill>
            <a:srgbClr val="EF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B5CF6"/>
                </a:solidFill>
                <a:latin typeface="Calibri"/>
              </a:rPr>
              <a:t>Perspective : ajout d'un capteur de courant (effet Hall) permettrait la mesure directe de la puissance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1">
                <a:solidFill>
                  <a:srgbClr val="E879F9"/>
                </a:solidFill>
                <a:latin typeface="Calibri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Ma contribution individuelle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C4B5FD"/>
                </a:solidFill>
                <a:latin typeface="Calibri"/>
              </a:rPr>
              <a:t>Pipeline d'acquisition logicielle et modèle d'intelligence artificielle.</a:t>
            </a:r>
          </a:p>
        </p:txBody>
      </p:sp>
      <p:sp>
        <p:nvSpPr>
          <p:cNvPr id="6" name="Oval 5"/>
          <p:cNvSpPr/>
          <p:nvPr/>
        </p:nvSpPr>
        <p:spPr>
          <a:xfrm>
            <a:off x="5730087" y="521208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58687" y="5212080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87287" y="5212080"/>
            <a:ext cx="73152" cy="73152"/>
          </a:xfrm>
          <a:prstGeom prst="ellipse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Périmètre de ma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334055"/>
                </a:solidFill>
                <a:latin typeface="Calibri"/>
              </a:rPr>
              <a:t>Deux briques fonctionnelles complémentaires de la chaîne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486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694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14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Pipeline d'acquisition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50292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22D3EE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Serveur TCP de métadonnées (port 9090)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22D3EE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Client UDP de données capteurs (port 9091)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22D3EE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Format CSV maître metadata_captures_moteur.csv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86000"/>
            <a:ext cx="5486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514600"/>
            <a:ext cx="457200" cy="457200"/>
          </a:xfrm>
          <a:prstGeom prst="ellipse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5694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14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Modèle IA double branche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00400"/>
            <a:ext cx="50292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E879F9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Architecture CNN à deux branches (son + vibration)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E879F9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Mel-spectrogrammes en entrée, sortie en %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E879F9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Augmentations + split anti-fuite par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Calibri"/>
              </a:rPr>
              <a:t>Cohérence : produire le format en amont qui sera consommé en aval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Serveur TCP de métadonnées  ·  port 9090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16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34055"/>
                </a:solidFill>
                <a:latin typeface="Calibri"/>
              </a:rPr>
              <a:t>serveurTCP_metadonnes_moteur.py — point d'entrée des métadonnées de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Mode bloquant à connexion courte : 1 connexion = 1 session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L'IHM envoie un marqueur START suivi d'une ligne CSV à 5 champs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5 champs : condition_charge, durée, fréquence_son, fréquence_vibration, niveau_tension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Normalisation de condition_charge via dictionnaire (A_vide / B_frein canoniques)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Calcul automatique de l'identifiant : get_next_id sur nombre de lignes existantes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Écriture d'une ligne complète dans metadata_captures_moteur.csv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Génère les noms son_N.csv et vib_N.csv pour cohérence avec le client UDP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Client UDP de données  ·  port 9091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17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334055"/>
                </a:solidFill>
                <a:latin typeface="Calibri"/>
              </a:rPr>
              <a:t>clientUDP_données.py — réception haut débit des signaux capteurs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Buffer UDP agrandi à 8 Mo pour éviter les pertes à haute fréquence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Lit l'identifiant de session courant depuis le fichier maître TCP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Détecte automatiquement le début et la fin d'une capture (timeout 3 s d'inactivité)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Parse 2 formats de trames : SOUND,ts,amp1,amp2,…  et  VIB,ts,VX,VY,…,HZZ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Trames VIB strictement contrôlées : 15 champs exacts sinon rejet (défense en profondeur)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Reconstruction des timestamps son à partir de la fréquence d'échantillonnage déclarée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Estimation de la fréquence effective + taux de perte affichés en fin de capture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Format du fichier maître metadata_captures_moteur.csv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18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334055"/>
                </a:solidFill>
                <a:latin typeface="Calibri"/>
              </a:rPr>
              <a:t>9 colonnes — contrat de données partagé entre IHM, acquisition et modèle 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9728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579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onsolas"/>
              </a:rPr>
              <a:t>id_session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5798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identifiant unique auto-incrémenté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10972800" cy="384048"/>
          </a:xfrm>
          <a:prstGeom prst="roundRect">
            <a:avLst/>
          </a:prstGeom>
          <a:solidFill>
            <a:srgbClr val="F3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694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onsolas"/>
              </a:rPr>
              <a:t>time_session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5694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horodatage  ·  YYYY-MM-DD_HH:MM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109728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8094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onsolas"/>
              </a:rPr>
              <a:t>condition_charge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98094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A_vide  ou  B_frein (canonique)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37560"/>
            <a:ext cx="10972800" cy="384048"/>
          </a:xfrm>
          <a:prstGeom prst="roundRect">
            <a:avLst/>
          </a:prstGeom>
          <a:solidFill>
            <a:srgbClr val="F3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924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onsolas"/>
              </a:rPr>
              <a:t>duree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924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durée nominale  ·  15 s par défaut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49040"/>
            <a:ext cx="109728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0390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onsolas"/>
              </a:rPr>
              <a:t>frequence_son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0390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fréquence d'échantillonnage déclarée 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60520"/>
            <a:ext cx="10972800" cy="384048"/>
          </a:xfrm>
          <a:prstGeom prst="roundRect">
            <a:avLst/>
          </a:prstGeom>
          <a:solidFill>
            <a:srgbClr val="F3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153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onsolas"/>
              </a:rPr>
              <a:t>frequence_vibration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21538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fréquence déclarée vibration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72000"/>
            <a:ext cx="109728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6268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onsolas"/>
              </a:rPr>
              <a:t>fichier_son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6268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son_N.csv (lié à id_session)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83480"/>
            <a:ext cx="10972800" cy="384048"/>
          </a:xfrm>
          <a:prstGeom prst="roundRect">
            <a:avLst/>
          </a:prstGeom>
          <a:solidFill>
            <a:srgbClr val="F3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03834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onsolas"/>
              </a:rPr>
              <a:t>fichier_vibration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03834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vib_N.csv (lié à id_session)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394960"/>
            <a:ext cx="1097280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4498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onsolas"/>
              </a:rPr>
              <a:t>niveau_tension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4498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label IA en % de la tension max [0, 100]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Pourquoi une architecture double branche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19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8B5CF6"/>
                </a:solidFill>
                <a:latin typeface="Calibri"/>
              </a:rPr>
              <a:t>Deux modalités physiques complémentaires, fusionnées tardivement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4114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Branche 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3840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22D3EE"/>
                </a:solidFill>
              </a:rPr>
              <a:t>● </a:t>
            </a:r>
            <a:r>
              <a:rPr sz="1300">
                <a:solidFill>
                  <a:srgbClr val="334055"/>
                </a:solidFill>
                <a:latin typeface="Calibri"/>
              </a:rPr>
              <a:t>Spectre acoustique 16 kHz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22D3EE"/>
                </a:solidFill>
              </a:rPr>
              <a:t>● </a:t>
            </a:r>
            <a:r>
              <a:rPr sz="1300">
                <a:solidFill>
                  <a:srgbClr val="334055"/>
                </a:solidFill>
                <a:latin typeface="Calibri"/>
              </a:rPr>
              <a:t>Riche en transitoires haute fréquence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22D3EE"/>
                </a:solidFill>
              </a:rPr>
              <a:t>● </a:t>
            </a:r>
            <a:r>
              <a:rPr sz="1300">
                <a:solidFill>
                  <a:srgbClr val="334055"/>
                </a:solidFill>
                <a:latin typeface="Calibri"/>
              </a:rPr>
              <a:t>Mel-spectrogramme 64 bandes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86000"/>
            <a:ext cx="41148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4688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879F9"/>
                </a:solidFill>
                <a:latin typeface="Calibri"/>
              </a:rPr>
              <a:t>Branche vibration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017520"/>
            <a:ext cx="3840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E879F9"/>
                </a:solidFill>
              </a:rPr>
              <a:t>● </a:t>
            </a:r>
            <a:r>
              <a:rPr sz="1300">
                <a:solidFill>
                  <a:srgbClr val="334055"/>
                </a:solidFill>
                <a:latin typeface="Calibri"/>
              </a:rPr>
              <a:t>Vibration axe Z à 10 Hz effectif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E879F9"/>
                </a:solidFill>
              </a:rPr>
              <a:t>● </a:t>
            </a:r>
            <a:r>
              <a:rPr sz="1300">
                <a:solidFill>
                  <a:srgbClr val="334055"/>
                </a:solidFill>
                <a:latin typeface="Calibri"/>
              </a:rPr>
              <a:t>Signature mécanique basse fréquence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E879F9"/>
                </a:solidFill>
              </a:rPr>
              <a:t>● </a:t>
            </a:r>
            <a:r>
              <a:rPr sz="1300">
                <a:solidFill>
                  <a:srgbClr val="334055"/>
                </a:solidFill>
                <a:latin typeface="Calibri"/>
              </a:rPr>
              <a:t>Mel-spectrogramme 32 bandes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520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Calibri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520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Calibri"/>
              </a:rPr>
              <a:t>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2743200"/>
            <a:ext cx="1463040" cy="2011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88036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383280"/>
            <a:ext cx="146304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Dense 64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+ Dropout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→ Sortie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  <a:latin typeface="Calibri"/>
              </a:rPr>
              <a:t>Justification : aucune modalité seule ne suffit ; la fusion exploite leur complémentarité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Représentation : mel-spectrogrammes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20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334055"/>
                </a:solidFill>
                <a:latin typeface="Calibri"/>
              </a:rPr>
              <a:t>Transformer un signal temporel en image perçue comme un humain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1691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69164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Signal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temporel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889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377440"/>
            <a:ext cx="1691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169164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STFT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7889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Calibr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377440"/>
            <a:ext cx="1691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377440"/>
            <a:ext cx="169164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Échelle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Mel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7889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377440"/>
            <a:ext cx="1691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377440"/>
            <a:ext cx="169164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Log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(dB)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7889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Calibri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377440"/>
            <a:ext cx="1691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377440"/>
            <a:ext cx="169164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Normalisation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[0, 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7889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Calibr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12680" y="2377440"/>
            <a:ext cx="1691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2377440"/>
            <a:ext cx="169164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Resize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128 × 128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0624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Découpage du son en fenêtres de 1 s avec recouvrement 50 % (augmentation gratuite)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Mel-spectrogramme son : 64 bandes  ·  vibration : 32 bandes (n_fft adaptatif)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Toutes les entrées du réseau ramenées à 128 × 128 px, un seul canal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Augmentations et split anti-fuite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21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8B5CF6"/>
                </a:solidFill>
                <a:latin typeface="Calibri"/>
              </a:rPr>
              <a:t>Robustifier l'entraînement avec peu de captures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486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2D3EE"/>
                </a:solidFill>
                <a:latin typeface="Calibri"/>
              </a:rPr>
              <a:t>Augmentations d'entraînement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22D3EE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Bruit gaussien ajouté au signal brut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22D3EE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Décalage temporel (time shift) aléatoire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22D3EE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SpecAugment : masquage de bandes de temps et de fréquence sur le spectrogramme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22D3EE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Multiplie virtuellement la taille du dataset par ≈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94560"/>
            <a:ext cx="5486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879F9"/>
                </a:solidFill>
                <a:latin typeface="Calibri"/>
              </a:rPr>
              <a:t>Split anti-fuite par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E879F9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Toutes les fenêtres d'une même capture vont au même split (train OU val OU test)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E879F9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Empêche le modèle de mémoriser une signature acoustique vue à l'entraînement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E879F9"/>
                </a:solidFill>
              </a:rPr>
              <a:t>● </a:t>
            </a:r>
            <a:r>
              <a:rPr sz="1400">
                <a:solidFill>
                  <a:srgbClr val="334055"/>
                </a:solidFill>
                <a:latin typeface="Calibri"/>
              </a:rPr>
              <a:t>Métrique d'évaluation : MAE par capture (et non par fenêtre)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Architecture du réseau de neurones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22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334055"/>
                </a:solidFill>
                <a:latin typeface="Calibri"/>
              </a:rPr>
              <a:t>Deux branches CNN convolutives + fusion par concaténation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Spectro 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286000"/>
            <a:ext cx="1005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22860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Calibri"/>
              </a:rPr>
              <a:t>Conv 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2286000"/>
            <a:ext cx="1005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Calibri"/>
              </a:rPr>
              <a:t>Conv 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286000"/>
            <a:ext cx="1005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2860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Calibri"/>
              </a:rPr>
              <a:t>Conv 128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2286000"/>
            <a:ext cx="1005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2860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2D3EE"/>
                </a:solidFill>
                <a:latin typeface="Calibri"/>
              </a:rPr>
              <a:t>GlobAvg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79F9"/>
                </a:solidFill>
                <a:latin typeface="Calibri"/>
              </a:rPr>
              <a:t>Spectro vib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657600"/>
            <a:ext cx="1005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6576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E879F9"/>
                </a:solidFill>
                <a:latin typeface="Calibri"/>
              </a:rPr>
              <a:t>Conv 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3657600"/>
            <a:ext cx="1005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6576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E879F9"/>
                </a:solidFill>
                <a:latin typeface="Calibri"/>
              </a:rPr>
              <a:t>Conv 64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657600"/>
            <a:ext cx="1005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6576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E879F9"/>
                </a:solidFill>
                <a:latin typeface="Calibri"/>
              </a:rPr>
              <a:t>Conv 128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3657600"/>
            <a:ext cx="1005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36576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E879F9"/>
                </a:solidFill>
                <a:latin typeface="Calibri"/>
              </a:rPr>
              <a:t>GlobAvg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2743200"/>
            <a:ext cx="1371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743200"/>
            <a:ext cx="137160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Concat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Dense 64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Dropout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2971800"/>
            <a:ext cx="1371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0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2971800"/>
            <a:ext cx="1371600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0B3D"/>
                </a:solidFill>
                <a:latin typeface="Calibri"/>
              </a:rPr>
              <a:t>Dense 1</a:t>
            </a:r>
          </a:p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A0B3D"/>
                </a:solidFill>
                <a:latin typeface="Calibri"/>
              </a:rPr>
              <a:t>sigmoid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32004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× 100 →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2468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468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2468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840479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840479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840479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Calibr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840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291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Calibr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120640"/>
            <a:ext cx="10972800" cy="1280160"/>
          </a:xfrm>
          <a:prstGeom prst="roundRect">
            <a:avLst/>
          </a:prstGeom>
          <a:solidFill>
            <a:srgbClr val="EF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Calibri"/>
              </a:rPr>
              <a:t>Loss : MSE   ·   Métrique : MAE en %   ·   Optimiseur : Adam, lr 1e-3   ·   Batch 32   ·   50 epochs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334055"/>
                </a:solidFill>
                <a:latin typeface="Calibri"/>
              </a:rPr>
              <a:t>Tâche de régression : sortie sigmoïde × 100 → niveau de tension en pourcentage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Décision d'ingénierie  ·  Option A : |VZ| seul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23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8B5CF6"/>
                </a:solidFill>
                <a:latin typeface="Calibri"/>
              </a:rPr>
              <a:t>Pourquoi n'utiliser qu'un seul axe vibration sur les trois disponibles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Observation : axes VX et VY figés à 271 et 1 dans notre configuration capteur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Cause identifiée : axes perpendiculaires à la vibration dominante du moteur, sous le seuil MEMS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Magnitude 3-axes √(VX² + VY² + VZ²) aurait un plancher à ≈ 271 qui écrase la dynamique utile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Option A retenue : utiliser |VZ| seul comme signal vibration → on récupère la vraie variation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</a:rPr>
              <a:t>● </a:t>
            </a:r>
            <a:r>
              <a:rPr sz="1500">
                <a:solidFill>
                  <a:srgbClr val="334055"/>
                </a:solidFill>
                <a:latin typeface="Calibri"/>
              </a:rPr>
              <a:t>Décision documentée dans CLAUDE.md, ligne ancienne conservée en commentaire pour réversibilité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52160"/>
            <a:ext cx="10972800" cy="594360"/>
          </a:xfrm>
          <a:prstGeom prst="roundRect">
            <a:avLst/>
          </a:prstGeom>
          <a:solidFill>
            <a:srgbClr val="EF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8B5CF6"/>
                </a:solidFill>
                <a:latin typeface="Calibri"/>
              </a:rPr>
              <a:t>C'est un argument à l'oral : analyse statistique + manuel constructeur, pas un défaut hardware ignoré.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Résultats  ·  courbes d'entraînement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24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pic>
        <p:nvPicPr>
          <p:cNvPr id="7" name="Picture 6" descr="resultats_mod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772400" cy="4206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554480"/>
            <a:ext cx="30175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Calibri"/>
              </a:rPr>
              <a:t>Lecture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10312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</a:rPr>
              <a:t>● </a:t>
            </a:r>
            <a:r>
              <a:rPr sz="1200">
                <a:solidFill>
                  <a:srgbClr val="334055"/>
                </a:solidFill>
                <a:latin typeface="Calibri"/>
              </a:rPr>
              <a:t>Convergence stable sur 50 epochs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</a:rPr>
              <a:t>● </a:t>
            </a:r>
            <a:r>
              <a:rPr sz="1200">
                <a:solidFill>
                  <a:srgbClr val="334055"/>
                </a:solidFill>
                <a:latin typeface="Calibri"/>
              </a:rPr>
              <a:t>Pas de divergence train/val significative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</a:rPr>
              <a:t>● </a:t>
            </a:r>
            <a:r>
              <a:rPr sz="1200">
                <a:solidFill>
                  <a:srgbClr val="334055"/>
                </a:solidFill>
                <a:latin typeface="Calibri"/>
              </a:rPr>
              <a:t>MAE entraînement décroît régulièrement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</a:rPr>
              <a:t>● </a:t>
            </a:r>
            <a:r>
              <a:rPr sz="1200">
                <a:solidFill>
                  <a:srgbClr val="334055"/>
                </a:solidFill>
                <a:latin typeface="Calibri"/>
              </a:rPr>
              <a:t>Validation se stabilise → fin d'apprentissage utile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93B"/>
                </a:solidFill>
                <a:latin typeface="Calibri"/>
              </a:rPr>
              <a:t>Résultats  ·  MAE 11,2 % par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25 /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BTS CIEL 2026  ·  Soutenance U6  ·  Noa Orand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8B5CF6"/>
                </a:solidFill>
                <a:latin typeface="Calibri"/>
              </a:rPr>
              <a:t>Erreur absolue moyenne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1" i="0">
                <a:solidFill>
                  <a:srgbClr val="8B5CF6"/>
                </a:solidFill>
                <a:latin typeface="Calibri"/>
              </a:rPr>
              <a:t>11,2 %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334055"/>
                </a:solidFill>
                <a:latin typeface="Calibri"/>
              </a:rPr>
              <a:t>par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Métrique métier — pourcentage de tension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486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Comparaison à une baseline naïve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34055"/>
                </a:solidFill>
                <a:latin typeface="Calibri"/>
              </a:rPr>
              <a:t>Baseline (prédire la moyenne) : ≈ 27 %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63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  <a:latin typeface="Calibri"/>
              </a:rPr>
              <a:t>Modèle double branche : 11,2 %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879F9"/>
                </a:solidFill>
                <a:latin typeface="Calibri"/>
              </a:rPr>
              <a:t>→ erreur divisée par ≈ 2,5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976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</a:rPr>
              <a:t>● </a:t>
            </a:r>
            <a:r>
              <a:rPr sz="1300">
                <a:solidFill>
                  <a:srgbClr val="334055"/>
                </a:solidFill>
                <a:latin typeface="Calibri"/>
              </a:rPr>
              <a:t>Preuve de concept fonctionnelle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</a:rPr>
              <a:t>● </a:t>
            </a:r>
            <a:r>
              <a:rPr sz="1300">
                <a:solidFill>
                  <a:srgbClr val="334055"/>
                </a:solidFill>
                <a:latin typeface="Calibri"/>
              </a:rPr>
              <a:t>Marge d'amélioration : campagne complète + meilleure qualité vibration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Calibri"/>
              </a:rPr>
              <a:t>Argument oral : un proof-of-concept défendable avec un dataset volontairement limité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Conclusion et perspectives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94960" cy="2103120"/>
          </a:xfrm>
          <a:prstGeom prst="roundRect">
            <a:avLst/>
          </a:prstGeom>
          <a:solidFill>
            <a:srgbClr val="2A145E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Bilan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22D3EE"/>
                </a:solidFill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Chaîne complète fonctionnelle de bout en bout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22D3EE"/>
                </a:solidFill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Modèle IA défendable (MAE 11,2 %)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22D3EE"/>
                </a:solidFill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Décisions d'ingénierie documentées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394960" cy="2103120"/>
          </a:xfrm>
          <a:prstGeom prst="roundRect">
            <a:avLst/>
          </a:prstGeom>
          <a:solidFill>
            <a:srgbClr val="2A145E"/>
          </a:solidFill>
          <a:ln w="1270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79F9"/>
                </a:solidFill>
                <a:latin typeface="Calibri"/>
              </a:rPr>
              <a:t>Perspectives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37744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E879F9"/>
                </a:solidFill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Compléter la campagne 110 captures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E879F9"/>
                </a:solidFill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Ajouter capteur courant → mesure directe puissance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E879F9"/>
                </a:solidFill>
              </a:rPr>
              <a:t>● </a:t>
            </a:r>
            <a:r>
              <a:rPr sz="1300">
                <a:solidFill>
                  <a:srgbClr val="FFFFFF"/>
                </a:solidFill>
                <a:latin typeface="Calibri"/>
              </a:rPr>
              <a:t>Comparer mono-modalité vs double branche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Merci pour votre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C4B5FD"/>
                </a:solidFill>
                <a:latin typeface="Calibri"/>
              </a:rPr>
              <a:t>Place aux questions</a:t>
            </a:r>
          </a:p>
        </p:txBody>
      </p:sp>
      <p:sp>
        <p:nvSpPr>
          <p:cNvPr id="12" name="Oval 11"/>
          <p:cNvSpPr/>
          <p:nvPr/>
        </p:nvSpPr>
        <p:spPr>
          <a:xfrm>
            <a:off x="5730087" y="603504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40983" y="603504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1879" y="6035040"/>
            <a:ext cx="109728" cy="109728"/>
          </a:xfrm>
          <a:prstGeom prst="ellipse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