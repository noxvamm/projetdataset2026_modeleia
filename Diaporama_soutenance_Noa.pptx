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?>
<Relationships xmlns="http://schemas.openxmlformats.org/package/2006/relationships">
  <Relationship Id="rId1" Type="http://schemas.openxmlformats.org/package/2006/relationships/metadata/core-properties" Target="docProps/core.xml"/>
  <Relationship Id="rId2" Type="http://schemas.openxmlformats.org/officeDocument/2006/relationships/officeDocument" Target="ppt/presentation.xml"/>
</Relationships>
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</p:sldIdLst>
  <p:sldSz cy="6858000" cx="121916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32" roundtripDataSignature="AMtx7mg9/ZcvGNgdEJ0O/hvtH/XqeUIGi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?>
<Relationships xmlns="http://schemas.openxmlformats.org/package/2006/relationships">
  <Relationship Id="rId20" Type="http://schemas.openxmlformats.org/officeDocument/2006/relationships/slide" Target="slides/slide15.xml"/>
  <Relationship Id="rId22" Type="http://schemas.openxmlformats.org/officeDocument/2006/relationships/slide" Target="slides/slide17.xml"/>
  <Relationship Id="rId21" Type="http://schemas.openxmlformats.org/officeDocument/2006/relationships/slide" Target="slides/slide16.xml"/>
  <Relationship Id="rId24" Type="http://schemas.openxmlformats.org/officeDocument/2006/relationships/slide" Target="slides/slide19.xml"/>
  <Relationship Id="rId23" Type="http://schemas.openxmlformats.org/officeDocument/2006/relationships/slide" Target="slides/slide18.xml"/>
  <Relationship Id="rId1" Type="http://schemas.openxmlformats.org/officeDocument/2006/relationships/theme" Target="theme/theme2.xml"/>
  <Relationship Id="rId2" Type="http://schemas.openxmlformats.org/officeDocument/2006/relationships/viewProps" Target="viewProps.xml"/>
  <Relationship Id="rId3" Type="http://schemas.openxmlformats.org/officeDocument/2006/relationships/presProps" Target="presProps.xml"/>
  <Relationship Id="rId4" Type="http://schemas.openxmlformats.org/officeDocument/2006/relationships/slideMaster" Target="slideMasters/slideMaster1.xml"/>
  <Relationship Id="rId9" Type="http://schemas.openxmlformats.org/officeDocument/2006/relationships/slide" Target="slides/slide4.xml"/>
  <Relationship Id="rId26" Type="http://schemas.openxmlformats.org/officeDocument/2006/relationships/slide" Target="slides/slide21.xml"/>
  <Relationship Id="rId25" Type="http://schemas.openxmlformats.org/officeDocument/2006/relationships/slide" Target="slides/slide20.xml"/>
  <Relationship Id="rId28" Type="http://schemas.openxmlformats.org/officeDocument/2006/relationships/slide" Target="slides/slide23.xml"/>
  <Relationship Id="rId27" Type="http://schemas.openxmlformats.org/officeDocument/2006/relationships/slide" Target="slides/slide22.xml"/>
  <Relationship Id="rId5" Type="http://schemas.openxmlformats.org/officeDocument/2006/relationships/notesMaster" Target="notesMasters/notesMaster1.xml"/>
  <Relationship Id="rId6" Type="http://schemas.openxmlformats.org/officeDocument/2006/relationships/slide" Target="slides/slide1.xml"/>
  <Relationship Id="rId29" Type="http://schemas.openxmlformats.org/officeDocument/2006/relationships/slide" Target="slides/slide24.xml"/>
  <Relationship Id="rId7" Type="http://schemas.openxmlformats.org/officeDocument/2006/relationships/slide" Target="slides/slide2.xml"/>
  <Relationship Id="rId8" Type="http://schemas.openxmlformats.org/officeDocument/2006/relationships/slide" Target="slides/slide3.xml"/>
  <Relationship Id="rId31" Type="http://schemas.openxmlformats.org/officeDocument/2006/relationships/slide" Target="slides/slide26.xml"/>
  <Relationship Id="rId30" Type="http://schemas.openxmlformats.org/officeDocument/2006/relationships/slide" Target="slides/slide25.xml"/>
  <Relationship Id="rId11" Type="http://schemas.openxmlformats.org/officeDocument/2006/relationships/slide" Target="slides/slide6.xml"/>
  <Relationship Id="rId10" Type="http://schemas.openxmlformats.org/officeDocument/2006/relationships/slide" Target="slides/slide5.xml"/>
  <Relationship Id="rId32" Type="http://customschemas.google.com/relationships/presentationmetadata" Target="metadata"/>
  <Relationship Id="rId13" Type="http://schemas.openxmlformats.org/officeDocument/2006/relationships/slide" Target="slides/slide8.xml"/>
  <Relationship Id="rId12" Type="http://schemas.openxmlformats.org/officeDocument/2006/relationships/slide" Target="slides/slide7.xml"/>
  <Relationship Id="rId15" Type="http://schemas.openxmlformats.org/officeDocument/2006/relationships/slide" Target="slides/slide10.xml"/>
  <Relationship Id="rId14" Type="http://schemas.openxmlformats.org/officeDocument/2006/relationships/slide" Target="slides/slide9.xml"/>
  <Relationship Id="rId17" Type="http://schemas.openxmlformats.org/officeDocument/2006/relationships/slide" Target="slides/slide12.xml"/>
  <Relationship Id="rId16" Type="http://schemas.openxmlformats.org/officeDocument/2006/relationships/slide" Target="slides/slide11.xml"/>
  <Relationship Id="rId19" Type="http://schemas.openxmlformats.org/officeDocument/2006/relationships/slide" Target="slides/slide14.xml"/>
  <Relationship Id="rId18" Type="http://schemas.openxmlformats.org/officeDocument/2006/relationships/slide" Target="slides/slide13.xml"/>
</Relationships>

</file>

<file path=ppt/notesMasters/_rels/notesMaster1.xml.rels><?xml version="1.0" encoding="utf-8"?>
<Relationships xmlns="http://schemas.openxmlformats.org/package/2006/relationships">
  <Relationship Id="rId1" Type="http://schemas.openxmlformats.org/officeDocument/2006/relationships/theme" Target="../theme/theme1.xml"/>
</Relationships>
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?>
<Relationships xmlns="http://schemas.openxmlformats.org/package/2006/relationships">
  <Relationship Id="rId1" Type="http://schemas.openxmlformats.org/officeDocument/2006/relationships/notesMaster" Target="../notesMasters/notesMaster1.xml"/>
</Relationships>

</file>

<file path=ppt/notesSlides/_rels/notesSlide2.xml.rels><?xml version="1.0" encoding="utf-8"?>
<Relationships xmlns="http://schemas.openxmlformats.org/package/2006/relationships">
  <Relationship Id="rId1" Type="http://schemas.openxmlformats.org/officeDocument/2006/relationships/notesMaster" Target="../notesMasters/notesMaster1.xml"/>
</Relationships>

</file>

<file path=ppt/notesSlides/_rels/notesSlide3.xml.rels><?xml version="1.0" encoding="utf-8"?>
<Relationships xmlns="http://schemas.openxmlformats.org/package/2006/relationships">
  <Relationship Id="rId1" Type="http://schemas.openxmlformats.org/officeDocument/2006/relationships/notesMaster" Target="../notesMasters/notesMaster1.xml"/>
</Relationships>

</file>

<file path=ppt/notesSlides/_rels/notesSlide4.xml.rels><?xml version="1.0" encoding="utf-8"?>
<Relationships xmlns="http://schemas.openxmlformats.org/package/2006/relationships">
  <Relationship Id="rId1" Type="http://schemas.openxmlformats.org/officeDocument/2006/relationships/notesMaster" Target="../notesMasters/notesMaster1.xml"/>
</Relationships>

</file>

<file path=ppt/notesSlides/_rels/notesSlide5.xml.rels><?xml version="1.0" encoding="utf-8"?>
<Relationships xmlns="http://schemas.openxmlformats.org/package/2006/relationships">
  <Relationship Id="rId1" Type="http://schemas.openxmlformats.org/officeDocument/2006/relationships/notesMaster" Target="../notesMasters/notesMaster1.xml"/>
</Relationships>

</file>

<file path=ppt/notesSlides/_rels/notesSlide6.xml.rels><?xml version="1.0" encoding="utf-8"?>
<Relationships xmlns="http://schemas.openxmlformats.org/package/2006/relationships">
  <Relationship Id="rId1" Type="http://schemas.openxmlformats.org/officeDocument/2006/relationships/notesMaster" Target="../notesMasters/notesMaster1.xml"/>
</Relationships>

</file>

<file path=ppt/notesSlides/_rels/notesSlide7.xml.rels><?xml version="1.0" encoding="utf-8"?>
<Relationships xmlns="http://schemas.openxmlformats.org/package/2006/relationships">
  <Relationship Id="rId1" Type="http://schemas.openxmlformats.org/officeDocument/2006/relationships/notesMaster" Target="../notesMasters/notesMaster1.xml"/>
</Relationships>

</file>

<file path=ppt/notesSlides/_rels/notesSlide8.xml.rels><?xml version="1.0" encoding="utf-8"?>
<Relationships xmlns="http://schemas.openxmlformats.org/package/2006/relationships">
  <Relationship Id="rId1" Type="http://schemas.openxmlformats.org/officeDocument/2006/relationships/notesMaster" Target="../notesMasters/notesMaster1.xml"/>
</Relationships>

</file>

<file path=ppt/notesSlides/_rels/notesSlide9.xml.rels><?xml version="1.0" encoding="utf-8"?>
<Relationships xmlns="http://schemas.openxmlformats.org/package/2006/relationships">
  <Relationship Id="rId1" Type="http://schemas.openxmlformats.org/officeDocument/2006/relationships/notesMaster" Target="../notesMasters/notesMaster1.xml"/>
</Relationships>

</file>

<file path=ppt/notesSlides/_rels/notesSlide10.xml.rels><?xml version="1.0" encoding="utf-8"?>
<Relationships xmlns="http://schemas.openxmlformats.org/package/2006/relationships">
  <Relationship Id="rId1" Type="http://schemas.openxmlformats.org/officeDocument/2006/relationships/notesMaster" Target="../notesMasters/notesMaster1.xml"/>
</Relationships>

</file>

<file path=ppt/notesSlides/_rels/notesSlide11.xml.rels><?xml version="1.0" encoding="utf-8"?>
<Relationships xmlns="http://schemas.openxmlformats.org/package/2006/relationships">
  <Relationship Id="rId1" Type="http://schemas.openxmlformats.org/officeDocument/2006/relationships/notesMaster" Target="../notesMasters/notesMaster1.xml"/>
</Relationships>

</file>

<file path=ppt/notesSlides/_rels/notesSlide12.xml.rels><?xml version="1.0" encoding="utf-8"?>
<Relationships xmlns="http://schemas.openxmlformats.org/package/2006/relationships">
  <Relationship Id="rId1" Type="http://schemas.openxmlformats.org/officeDocument/2006/relationships/notesMaster" Target="../notesMasters/notesMaster1.xml"/>
</Relationships>

</file>

<file path=ppt/notesSlides/_rels/notesSlide13.xml.rels><?xml version="1.0" encoding="utf-8"?>
<Relationships xmlns="http://schemas.openxmlformats.org/package/2006/relationships">
  <Relationship Id="rId1" Type="http://schemas.openxmlformats.org/officeDocument/2006/relationships/notesMaster" Target="../notesMasters/notesMaster1.xml"/>
</Relationships>

</file>

<file path=ppt/notesSlides/_rels/notesSlide14.xml.rels><?xml version="1.0" encoding="utf-8"?>
<Relationships xmlns="http://schemas.openxmlformats.org/package/2006/relationships">
  <Relationship Id="rId1" Type="http://schemas.openxmlformats.org/officeDocument/2006/relationships/notesMaster" Target="../notesMasters/notesMaster1.xml"/>
</Relationships>

</file>

<file path=ppt/notesSlides/_rels/notesSlide15.xml.rels><?xml version="1.0" encoding="utf-8"?>
<Relationships xmlns="http://schemas.openxmlformats.org/package/2006/relationships">
  <Relationship Id="rId1" Type="http://schemas.openxmlformats.org/officeDocument/2006/relationships/notesMaster" Target="../notesMasters/notesMaster1.xml"/>
</Relationships>

</file>

<file path=ppt/notesSlides/_rels/notesSlide16.xml.rels><?xml version="1.0" encoding="utf-8"?>
<Relationships xmlns="http://schemas.openxmlformats.org/package/2006/relationships">
  <Relationship Id="rId1" Type="http://schemas.openxmlformats.org/officeDocument/2006/relationships/notesMaster" Target="../notesMasters/notesMaster1.xml"/>
</Relationships>

</file>

<file path=ppt/notesSlides/_rels/notesSlide17.xml.rels><?xml version="1.0" encoding="utf-8"?>
<Relationships xmlns="http://schemas.openxmlformats.org/package/2006/relationships">
  <Relationship Id="rId1" Type="http://schemas.openxmlformats.org/officeDocument/2006/relationships/notesMaster" Target="../notesMasters/notesMaster1.xml"/>
</Relationships>

</file>

<file path=ppt/notesSlides/_rels/notesSlide18.xml.rels><?xml version="1.0" encoding="utf-8"?>
<Relationships xmlns="http://schemas.openxmlformats.org/package/2006/relationships">
  <Relationship Id="rId1" Type="http://schemas.openxmlformats.org/officeDocument/2006/relationships/notesMaster" Target="../notesMasters/notesMaster1.xml"/>
</Relationships>

</file>

<file path=ppt/notesSlides/_rels/notesSlide19.xml.rels><?xml version="1.0" encoding="utf-8"?>
<Relationships xmlns="http://schemas.openxmlformats.org/package/2006/relationships">
  <Relationship Id="rId1" Type="http://schemas.openxmlformats.org/officeDocument/2006/relationships/notesMaster" Target="../notesMasters/notesMaster1.xml"/>
</Relationships>

</file>

<file path=ppt/notesSlides/_rels/notesSlide20.xml.rels><?xml version="1.0" encoding="utf-8"?>
<Relationships xmlns="http://schemas.openxmlformats.org/package/2006/relationships">
  <Relationship Id="rId1" Type="http://schemas.openxmlformats.org/officeDocument/2006/relationships/notesMaster" Target="../notesMasters/notesMaster1.xml"/>
</Relationships>

</file>

<file path=ppt/notesSlides/_rels/notesSlide21.xml.rels><?xml version="1.0" encoding="utf-8"?>
<Relationships xmlns="http://schemas.openxmlformats.org/package/2006/relationships">
  <Relationship Id="rId1" Type="http://schemas.openxmlformats.org/officeDocument/2006/relationships/notesMaster" Target="../notesMasters/notesMaster1.xml"/>
</Relationships>

</file>

<file path=ppt/notesSlides/_rels/notesSlide22.xml.rels><?xml version="1.0" encoding="utf-8"?>
<Relationships xmlns="http://schemas.openxmlformats.org/package/2006/relationships">
  <Relationship Id="rId1" Type="http://schemas.openxmlformats.org/officeDocument/2006/relationships/notesMaster" Target="../notesMasters/notesMaster1.xml"/>
</Relationships>

</file>

<file path=ppt/notesSlides/_rels/notesSlide23.xml.rels><?xml version="1.0" encoding="utf-8"?>
<Relationships xmlns="http://schemas.openxmlformats.org/package/2006/relationships">
  <Relationship Id="rId1" Type="http://schemas.openxmlformats.org/officeDocument/2006/relationships/notesMaster" Target="../notesMasters/notesMaster1.xml"/>
</Relationships>

</file>

<file path=ppt/notesSlides/_rels/notesSlide24.xml.rels><?xml version="1.0" encoding="utf-8"?>
<Relationships xmlns="http://schemas.openxmlformats.org/package/2006/relationships">
  <Relationship Id="rId1" Type="http://schemas.openxmlformats.org/officeDocument/2006/relationships/notesMaster" Target="../notesMasters/notesMaster1.xml"/>
</Relationships>

</file>

<file path=ppt/notesSlides/_rels/notesSlide25.xml.rels><?xml version="1.0" encoding="utf-8"?>
<Relationships xmlns="http://schemas.openxmlformats.org/package/2006/relationships">
  <Relationship Id="rId1" Type="http://schemas.openxmlformats.org/officeDocument/2006/relationships/notesMaster" Target="../notesMasters/notesMaster1.xml"/>
</Relationships>

</file>

<file path=ppt/notesSlides/_rels/notesSlide26.xml.rels><?xml version="1.0" encoding="utf-8"?>
<Relationships xmlns="http://schemas.openxmlformats.org/package/2006/relationships">
  <Relationship Id="rId1" Type="http://schemas.openxmlformats.org/officeDocument/2006/relationships/notesMaster" Target="../notesMasters/notesMaster1.xml"/>
</Relationships>
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" name="Google Shape;82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Bonjour, je suis Noa Orand. Je vous présente mon projet de fin d'études : l'estimation par intelligence artificielle du niveau de tension d'un moteur électrique à partir de signaux acoustiques et vibratoires. 20 minutes : présentation du projet d'équipe, puis ma contribution personnelle.</a:t>
            </a:r>
            <a:endParaRPr/>
          </a:p>
        </p:txBody>
      </p:sp>
      <p:sp>
        <p:nvSpPr>
          <p:cNvPr id="83" name="Google Shape;83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5" name="Google Shape;95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Plan : projet collectif (10 min) puis ma contribution (10 min). Le jury me questionnera ensuite pendant 20 minutes.</a:t>
            </a:r>
            <a:endParaRPr/>
          </a:p>
        </p:txBody>
      </p:sp>
      <p:sp>
        <p:nvSpPr>
          <p:cNvPr id="96" name="Google Shape;96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7" name="Google Shape;117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On démarre par la présentation du projet collectif.</a:t>
            </a:r>
            <a:endParaRPr/>
          </a:p>
        </p:txBody>
      </p:sp>
      <p:sp>
        <p:nvSpPr>
          <p:cNvPr id="118" name="Google Shape;118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9" name="Google Shape;129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Projet collectif à quatre. Je m'occupe du pipeline d'acquisition logicielle et du modèle IA. Hugo gère la qualité des données et le versionnage. Mederick le firmware embarqué. Ege l'IHM Qt.</a:t>
            </a:r>
            <a:endParaRPr/>
          </a:p>
        </p:txBody>
      </p:sp>
      <p:sp>
        <p:nvSpPr>
          <p:cNvPr id="130" name="Google Shape;130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0" name="Google Shape;150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Le projet s'inscrit dans le domaine de la maintenance prédictive. L'idée : ausculter une machine pour anticiper sa défaillance.</a:t>
            </a:r>
            <a:endParaRPr/>
          </a:p>
        </p:txBody>
      </p:sp>
      <p:sp>
        <p:nvSpPr>
          <p:cNvPr id="151" name="Google Shape;151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1" name="Google Shape;171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Le pivot est un point fort : c'est une décision d'ingénierie justifiée, pas un échec.</a:t>
            </a:r>
            <a:endParaRPr/>
          </a:p>
        </p:txBody>
      </p:sp>
      <p:sp>
        <p:nvSpPr>
          <p:cNvPr id="172" name="Google Shape;172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0" name="Google Shape;190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Quatre étapes du pipeline : mesurer, transmettre, stocker, prédire. Tout est fonctionnel de bout en bout.</a:t>
            </a:r>
            <a:endParaRPr/>
          </a:p>
        </p:txBody>
      </p:sp>
      <p:sp>
        <p:nvSpPr>
          <p:cNvPr id="191" name="Google Shape;191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1" name="Google Shape;221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Banc moteur volontairement simple. Deux conditions A_vide / B_frein. Le label IA est en pourcentage de la tension max propre à la condition, pour normaliser l'apprentissage.</a:t>
            </a:r>
            <a:endParaRPr/>
          </a:p>
        </p:txBody>
      </p:sp>
      <p:sp>
        <p:nvSpPr>
          <p:cNvPr id="222" name="Google Shape;222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2" name="Google Shape;242;p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Deux capteurs : microphone I2S pour le son à 16 kHz, et WTVB01-BT50 en BLE pour la vibration. La fréquence vibration effective est réduite à cause du partage d'antenne BLE/Wi-Fi sur l'ESP32 — limitation acceptée car le contenu utile est sous 5 Hz.</a:t>
            </a:r>
            <a:endParaRPr/>
          </a:p>
        </p:txBody>
      </p:sp>
      <p:sp>
        <p:nvSpPr>
          <p:cNvPr id="243" name="Google Shape;243;p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1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62" name="Google Shape;262;p1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L'ESP32 est le concentrateur embarqué. Le firmware a été optimisé pour éviter les pertes : passage de String à snprintf, APLL pour l'I2S, et augmentation des buffers DMA. Résultat : fréquence son effective passée de 10 kHz à 15,8 kHz, soit 99 % de la cible.</a:t>
            </a:r>
            <a:endParaRPr/>
          </a:p>
        </p:txBody>
      </p:sp>
      <p:sp>
        <p:nvSpPr>
          <p:cNvPr id="263" name="Google Shape;263;p1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76" name="Google Shape;276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Voici le diagramme de déploiement. Toute la chaîne est mise en lumière : le capteur, l'ESP32, le réseau, les serveurs Python (TCP métadonnées + UDP données), le stockage CSV et enfin le modèle d'IA en post-traitement.</a:t>
            </a:r>
            <a:endParaRPr/>
          </a:p>
        </p:txBody>
      </p:sp>
      <p:sp>
        <p:nvSpPr>
          <p:cNvPr id="277" name="Google Shape;277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88" name="Google Shape;288;p1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Le plan est croisé. 11 niveaux × 2 conditions × 5 captures = 110 sessions. Découpage en deux phases pour éviter une dérive thermique du moteur.</a:t>
            </a:r>
            <a:endParaRPr/>
          </a:p>
        </p:txBody>
      </p:sp>
      <p:sp>
        <p:nvSpPr>
          <p:cNvPr id="289" name="Google Shape;289;p1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1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07" name="Google Shape;307;p1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On apprend la tension parce qu'on n'a pas de capteur de courant. C'est un proxy assumé et documenté.</a:t>
            </a:r>
            <a:endParaRPr/>
          </a:p>
        </p:txBody>
      </p:sp>
      <p:sp>
        <p:nvSpPr>
          <p:cNvPr id="308" name="Google Shape;308;p1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1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1" name="Google Shape;321;p1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Transition vers ma contribution personnelle.</a:t>
            </a:r>
            <a:endParaRPr/>
          </a:p>
        </p:txBody>
      </p:sp>
      <p:sp>
        <p:nvSpPr>
          <p:cNvPr id="322" name="Google Shape;322;p1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33" name="Google Shape;333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Cette double responsabilité me permet de garantir que le format des données produites en amont est bien adapté à l'apprentissage en aval.</a:t>
            </a:r>
            <a:endParaRPr/>
          </a:p>
        </p:txBody>
      </p:sp>
      <p:sp>
        <p:nvSpPr>
          <p:cNvPr id="334" name="Google Shape;334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2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1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54" name="Google Shape;354;p1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Le serveur TCP reçoit les métadonnées de session avant chaque capture, normalise la condition de charge, attribue un identifiant et indexe la session dans le fichier maître.</a:t>
            </a:r>
            <a:endParaRPr/>
          </a:p>
        </p:txBody>
      </p:sp>
      <p:sp>
        <p:nvSpPr>
          <p:cNvPr id="355" name="Google Shape;355;p1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66" name="Google Shape;366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Le client UDP gère le flux haut débit du son. Le buffer est agrandi à 8 Mo. La détection de fin de capture par timeout est simple et fiable.</a:t>
            </a:r>
            <a:endParaRPr/>
          </a:p>
        </p:txBody>
      </p:sp>
      <p:sp>
        <p:nvSpPr>
          <p:cNvPr id="367" name="Google Shape;367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1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78" name="Google Shape;378;p1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Voici le format CSV maître à 9 colonnes. C'est le contrat de données entre l'IHM, le pipeline d'acquisition et le modèle IA.</a:t>
            </a:r>
            <a:endParaRPr/>
          </a:p>
        </p:txBody>
      </p:sp>
      <p:sp>
        <p:nvSpPr>
          <p:cNvPr id="379" name="Google Shape;379;p1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4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p1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16" name="Google Shape;416;p1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L'idée derrière la double branche : aucune modalité prise seule ne capture toute l'information. Le son apporte des transitoires haute fréquence, la vibration une signature basse fréquence. La fusion tardive permet d'apprendre ce qui est complémentaire.</a:t>
            </a:r>
            <a:endParaRPr/>
          </a:p>
        </p:txBody>
      </p:sp>
      <p:sp>
        <p:nvSpPr>
          <p:cNvPr id="417" name="Google Shape;417;p1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2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38" name="Google Shape;438;p2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Le mel-spectrogramme transforme le signal temporel en une image, où l'axe Y est la fréquence (perçue à la manière de l'oreille humaine) et l'axe X le temps. C'est ce que voit le CNN.</a:t>
            </a:r>
            <a:endParaRPr/>
          </a:p>
        </p:txBody>
      </p:sp>
      <p:sp>
        <p:nvSpPr>
          <p:cNvPr id="439" name="Google Shape;439;p2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5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2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67" name="Google Shape;467;p2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Les augmentations multiplient artificiellement le dataset. Le split par capture empêche la fuite : si une fenêtre d'une capture est en train, toutes les autres y sont aussi.</a:t>
            </a:r>
            <a:endParaRPr/>
          </a:p>
        </p:txBody>
      </p:sp>
      <p:sp>
        <p:nvSpPr>
          <p:cNvPr id="468" name="Google Shape;468;p2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2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2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4" name="Google Shape;484;p2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Deux branches CNN identiques (3 convolutions + GlobalAvgPool) traitent indépendamment son et vibration. Concaténation, Dense, Dropout, et une sortie sigmoïde × 100 pour la régression du % de tension.</a:t>
            </a:r>
            <a:endParaRPr/>
          </a:p>
        </p:txBody>
      </p:sp>
      <p:sp>
        <p:nvSpPr>
          <p:cNvPr id="485" name="Google Shape;485;p2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8" name="Shape 5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Google Shape;529;p2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30" name="Google Shape;530;p2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Décision documentée Option A : utiliser uniquement |VZ| parce que VX et VY sont saturés sous le seuil MEMS. C'est un argument à l'oral : analyse + référence au manuel constructeur.</a:t>
            </a:r>
            <a:endParaRPr/>
          </a:p>
        </p:txBody>
      </p:sp>
      <p:sp>
        <p:nvSpPr>
          <p:cNvPr id="531" name="Google Shape;531;p2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2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p2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44" name="Google Shape;544;p2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Les courbes d'entraînement montrent une convergence stable sans surapprentissage marqué. La MAE de validation se stabilise vers la fin.</a:t>
            </a:r>
            <a:endParaRPr/>
          </a:p>
        </p:txBody>
      </p:sp>
      <p:sp>
        <p:nvSpPr>
          <p:cNvPr id="545" name="Google Shape;545;p2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6" name="Shape 5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Google Shape;557;p2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58" name="Google Shape;558;p2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11,2 % de MAE par capture, contre 27 % pour une baseline naïve. C'est une division par 2,5, défendable comme preuve de concept même avec un dataset limité.</a:t>
            </a:r>
            <a:endParaRPr/>
          </a:p>
        </p:txBody>
      </p:sp>
      <p:sp>
        <p:nvSpPr>
          <p:cNvPr id="559" name="Google Shape;559;p2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p2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80" name="Google Shape;580;p2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Conclusion : la chaîne complète fonctionne, le modèle est défendable. Perspectives : compléter le dataset, ajouter un capteur de courant pour la puissance directe, comparer double branche vs mono. Merci, je suis à votre disposition pour les questions.</a:t>
            </a:r>
            <a:endParaRPr/>
          </a:p>
        </p:txBody>
      </p:sp>
      <p:sp>
        <p:nvSpPr>
          <p:cNvPr id="581" name="Google Shape;581;p2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?>
<Relationships xmlns="http://schemas.openxmlformats.org/package/2006/relationships">
  <Relationship Id="rId1" Type="http://schemas.openxmlformats.org/officeDocument/2006/relationships/slideMaster" Target="../slideMasters/slideMaster1.xml"/>
</Relationships>

</file>

<file path=ppt/slideLayouts/_rels/slideLayout2.xml.rels><?xml version="1.0" encoding="utf-8"?>
<Relationships xmlns="http://schemas.openxmlformats.org/package/2006/relationships">
  <Relationship Id="rId1" Type="http://schemas.openxmlformats.org/officeDocument/2006/relationships/slideMaster" Target="../slideMasters/slideMaster1.xml"/>
</Relationships>

</file>

<file path=ppt/slideLayouts/_rels/slideLayout3.xml.rels><?xml version="1.0" encoding="utf-8"?>
<Relationships xmlns="http://schemas.openxmlformats.org/package/2006/relationships">
  <Relationship Id="rId1" Type="http://schemas.openxmlformats.org/officeDocument/2006/relationships/slideMaster" Target="../slideMasters/slideMaster1.xml"/>
</Relationships>

</file>

<file path=ppt/slideLayouts/_rels/slideLayout4.xml.rels><?xml version="1.0" encoding="utf-8"?>
<Relationships xmlns="http://schemas.openxmlformats.org/package/2006/relationships">
  <Relationship Id="rId1" Type="http://schemas.openxmlformats.org/officeDocument/2006/relationships/slideMaster" Target="../slideMasters/slideMaster1.xml"/>
</Relationships>

</file>

<file path=ppt/slideLayouts/_rels/slideLayout5.xml.rels><?xml version="1.0" encoding="utf-8"?>
<Relationships xmlns="http://schemas.openxmlformats.org/package/2006/relationships">
  <Relationship Id="rId1" Type="http://schemas.openxmlformats.org/officeDocument/2006/relationships/slideMaster" Target="../slideMasters/slideMaster1.xml"/>
</Relationships>

</file>

<file path=ppt/slideLayouts/_rels/slideLayout6.xml.rels><?xml version="1.0" encoding="utf-8"?>
<Relationships xmlns="http://schemas.openxmlformats.org/package/2006/relationships">
  <Relationship Id="rId1" Type="http://schemas.openxmlformats.org/officeDocument/2006/relationships/slideMaster" Target="../slideMasters/slideMaster1.xml"/>
</Relationships>

</file>

<file path=ppt/slideLayouts/_rels/slideLayout7.xml.rels><?xml version="1.0" encoding="utf-8"?>
<Relationships xmlns="http://schemas.openxmlformats.org/package/2006/relationships">
  <Relationship Id="rId1" Type="http://schemas.openxmlformats.org/officeDocument/2006/relationships/slideMaster" Target="../slideMasters/slideMaster1.xml"/>
</Relationships>

</file>

<file path=ppt/slideLayouts/_rels/slideLayout8.xml.rels><?xml version="1.0" encoding="utf-8"?>
<Relationships xmlns="http://schemas.openxmlformats.org/package/2006/relationships">
  <Relationship Id="rId1" Type="http://schemas.openxmlformats.org/officeDocument/2006/relationships/slideMaster" Target="../slideMasters/slideMaster1.xml"/>
</Relationships>

</file>

<file path=ppt/slideLayouts/_rels/slideLayout9.xml.rels><?xml version="1.0" encoding="utf-8"?>
<Relationships xmlns="http://schemas.openxmlformats.org/package/2006/relationships">
  <Relationship Id="rId1" Type="http://schemas.openxmlformats.org/officeDocument/2006/relationships/slideMaster" Target="../slideMasters/slideMaster1.xml"/>
</Relationships>

</file>

<file path=ppt/slideLayouts/_rels/slideLayout10.xml.rels><?xml version="1.0" encoding="utf-8"?>
<Relationships xmlns="http://schemas.openxmlformats.org/package/2006/relationships">
  <Relationship Id="rId1" Type="http://schemas.openxmlformats.org/officeDocument/2006/relationships/slideMaster" Target="../slideMasters/slideMaster1.xml"/>
</Relationships>

</file>

<file path=ppt/slideLayouts/_rels/slideLayout11.xml.rels><?xml version="1.0" encoding="utf-8"?>
<Relationships xmlns="http://schemas.openxmlformats.org/package/2006/relationships">
  <Relationship Id="rId1" Type="http://schemas.openxmlformats.org/officeDocument/2006/relationships/slideMaster" Target="../slideMasters/slideMaster1.xml"/>
</Relationships>
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9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9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2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30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3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3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31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1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3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3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3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3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32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32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3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3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3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3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33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33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33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33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3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3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3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3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3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3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5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35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35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3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3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3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6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36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36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3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3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3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37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3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3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3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8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38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3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3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3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slideLayout" Target="../slideLayouts/slideLayout2.xml"/>
  <Relationship Id="rId3" Type="http://schemas.openxmlformats.org/officeDocument/2006/relationships/slideLayout" Target="../slideLayouts/slideLayout3.xml"/>
  <Relationship Id="rId4" Type="http://schemas.openxmlformats.org/officeDocument/2006/relationships/slideLayout" Target="../slideLayouts/slideLayout4.xml"/>
  <Relationship Id="rId11" Type="http://schemas.openxmlformats.org/officeDocument/2006/relationships/slideLayout" Target="../slideLayouts/slideLayout11.xml"/>
  <Relationship Id="rId10" Type="http://schemas.openxmlformats.org/officeDocument/2006/relationships/slideLayout" Target="../slideLayouts/slideLayout10.xml"/>
  <Relationship Id="rId12" Type="http://schemas.openxmlformats.org/officeDocument/2006/relationships/theme" Target="../theme/theme2.xml"/>
  <Relationship Id="rId9" Type="http://schemas.openxmlformats.org/officeDocument/2006/relationships/slideLayout" Target="../slideLayouts/slideLayout9.xml"/>
  <Relationship Id="rId5" Type="http://schemas.openxmlformats.org/officeDocument/2006/relationships/slideLayout" Target="../slideLayouts/slideLayout5.xml"/>
  <Relationship Id="rId6" Type="http://schemas.openxmlformats.org/officeDocument/2006/relationships/slideLayout" Target="../slideLayouts/slideLayout6.xml"/>
  <Relationship Id="rId7" Type="http://schemas.openxmlformats.org/officeDocument/2006/relationships/slideLayout" Target="../slideLayouts/slideLayout7.xml"/>
  <Relationship Id="rId8" Type="http://schemas.openxmlformats.org/officeDocument/2006/relationships/slideLayout" Target="../slideLayouts/slideLayout8.xml"/>
</Relationships>
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27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2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2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2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1.xml"/>
  <Relationship Id="rId3" Type="http://schemas.openxmlformats.org/officeDocument/2006/relationships/image" Target="../media/image2.jpg"/>
  <Relationship Id="rId4" Type="http://schemas.openxmlformats.org/officeDocument/2006/relationships/image" Target="../media/image1.png"/>
</Relationships>

</file>

<file path=ppt/slides/_rels/slide2.xml.rels><?xml version="1.0" encoding="utf-8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2.xml"/>
</Relationships>

</file>

<file path=ppt/slides/_rels/slide3.xml.rels><?xml version="1.0" encoding="utf-8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3.xml"/>
  <Relationship Id="rId3" Type="http://schemas.openxmlformats.org/officeDocument/2006/relationships/image" Target="../media/image2.jpg"/>
</Relationships>

</file>

<file path=ppt/slides/_rels/slide4.xml.rels><?xml version="1.0" encoding="utf-8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4.xml"/>
</Relationships>

</file>

<file path=ppt/slides/_rels/slide5.xml.rels><?xml version="1.0" encoding="utf-8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5.xml"/>
</Relationships>

</file>

<file path=ppt/slides/_rels/slide6.xml.rels><?xml version="1.0" encoding="utf-8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6.xml"/>
</Relationships>

</file>

<file path=ppt/slides/_rels/slide7.xml.rels><?xml version="1.0" encoding="utf-8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7.xml"/>
</Relationships>

</file>

<file path=ppt/slides/_rels/slide8.xml.rels><?xml version="1.0" encoding="utf-8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8.xml"/>
</Relationships>

</file>

<file path=ppt/slides/_rels/slide9.xml.rels><?xml version="1.0" encoding="utf-8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9.xml"/>
  <Relationship Id="rId3" Type="http://schemas.openxmlformats.org/officeDocument/2006/relationships/image" Target="../media/image5.png"/>
</Relationships>

</file>

<file path=ppt/slides/_rels/slide10.xml.rels><?xml version="1.0" encoding="utf-8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10.xml"/>
</Relationships>

</file>

<file path=ppt/slides/_rels/slide11.xml.rels><?xml version="1.0" encoding="utf-8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11.xml"/>
  <Relationship Id="rId3" Type="http://schemas.openxmlformats.org/officeDocument/2006/relationships/image" Target="../media/image6.jpg"/>
</Relationships>

</file>

<file path=ppt/slides/_rels/slide12.xml.rels><?xml version="1.0" encoding="utf-8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12.xml"/>
</Relationships>

</file>

<file path=ppt/slides/_rels/slide13.xml.rels><?xml version="1.0" encoding="utf-8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13.xml"/>
</Relationships>

</file>

<file path=ppt/slides/_rels/slide14.xml.rels><?xml version="1.0" encoding="utf-8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14.xml"/>
  <Relationship Id="rId3" Type="http://schemas.openxmlformats.org/officeDocument/2006/relationships/image" Target="../media/image2.jpg"/>
</Relationships>

</file>

<file path=ppt/slides/_rels/slide15.xml.rels><?xml version="1.0" encoding="utf-8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15.xml"/>
</Relationships>

</file>

<file path=ppt/slides/_rels/slide16.xml.rels><?xml version="1.0" encoding="utf-8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16.xml"/>
</Relationships>

</file>

<file path=ppt/slides/_rels/slide17.xml.rels><?xml version="1.0" encoding="utf-8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17.xml"/>
</Relationships>

</file>

<file path=ppt/slides/_rels/slide18.xml.rels><?xml version="1.0" encoding="utf-8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18.xml"/>
</Relationships>

</file>

<file path=ppt/slides/_rels/slide19.xml.rels><?xml version="1.0" encoding="utf-8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19.xml"/>
  <Relationship Id="rId3" Type="http://schemas.openxmlformats.org/officeDocument/2006/relationships/image" Target="../media/image7.png"/>
</Relationships>

</file>

<file path=ppt/slides/_rels/slide20.xml.rels><?xml version="1.0" encoding="utf-8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20.xml"/>
</Relationships>

</file>

<file path=ppt/slides/_rels/slide21.xml.rels><?xml version="1.0" encoding="utf-8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21.xml"/>
</Relationships>

</file>

<file path=ppt/slides/_rels/slide22.xml.rels><?xml version="1.0" encoding="utf-8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22.xml"/>
</Relationships>

</file>

<file path=ppt/slides/_rels/slide23.xml.rels><?xml version="1.0" encoding="utf-8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23.xml"/>
</Relationships>

</file>

<file path=ppt/slides/_rels/slide24.xml.rels><?xml version="1.0" encoding="utf-8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24.xml"/>
  <Relationship Id="rId3" Type="http://schemas.openxmlformats.org/officeDocument/2006/relationships/image" Target="../media/image3.png"/>
</Relationships>

</file>

<file path=ppt/slides/_rels/slide25.xml.rels><?xml version="1.0" encoding="utf-8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25.xml"/>
</Relationships>

</file>

<file path=ppt/slides/_rels/slide26.xml.rels><?xml version="1.0" encoding="utf-8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26.xml"/>
  <Relationship Id="rId3" Type="http://schemas.openxmlformats.org/officeDocument/2006/relationships/image" Target="../media/image2.jpg"/>
</Relationships>
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rad_bg.jpg" id="85" name="Google Shape;85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i_brain.png" id="86" name="Google Shape;86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632807" y="502920"/>
            <a:ext cx="2926080" cy="292608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"/>
          <p:cNvSpPr txBox="1"/>
          <p:nvPr/>
        </p:nvSpPr>
        <p:spPr>
          <a:xfrm>
            <a:off x="457200" y="3611880"/>
            <a:ext cx="112471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Estimation par intelligence artificielle</a:t>
            </a:r>
            <a:endParaRPr/>
          </a:p>
        </p:txBody>
      </p:sp>
      <p:sp>
        <p:nvSpPr>
          <p:cNvPr id="88" name="Google Shape;88;p1"/>
          <p:cNvSpPr txBox="1"/>
          <p:nvPr/>
        </p:nvSpPr>
        <p:spPr>
          <a:xfrm>
            <a:off x="457200" y="4160520"/>
            <a:ext cx="112471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du niveau de tension d'un moteur électrique</a:t>
            </a:r>
            <a:endParaRPr/>
          </a:p>
        </p:txBody>
      </p:sp>
      <p:sp>
        <p:nvSpPr>
          <p:cNvPr id="89" name="Google Shape;89;p1"/>
          <p:cNvSpPr txBox="1"/>
          <p:nvPr/>
        </p:nvSpPr>
        <p:spPr>
          <a:xfrm>
            <a:off x="457200" y="493776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2000" u="none" cap="none" strike="noStrike">
                <a:solidFill>
                  <a:srgbClr val="C4B5FD"/>
                </a:solidFill>
                <a:latin typeface="Calibri"/>
                <a:ea typeface="Calibri"/>
                <a:cs typeface="Calibri"/>
                <a:sym typeface="Calibri"/>
              </a:rPr>
              <a:t>à partir de signaux acoustiques et vibratoires</a:t>
            </a:r>
            <a:endParaRPr/>
          </a:p>
        </p:txBody>
      </p:sp>
      <p:sp>
        <p:nvSpPr>
          <p:cNvPr id="90" name="Google Shape;90;p1"/>
          <p:cNvSpPr txBox="1"/>
          <p:nvPr/>
        </p:nvSpPr>
        <p:spPr>
          <a:xfrm>
            <a:off x="457200" y="5806440"/>
            <a:ext cx="112470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BTS CIEL — Option Informatique et Réseaux   ·   Session 2026</a:t>
            </a:r>
            <a:endParaRPr sz="1200"/>
          </a:p>
        </p:txBody>
      </p:sp>
      <p:sp>
        <p:nvSpPr>
          <p:cNvPr id="91" name="Google Shape;91;p1"/>
          <p:cNvSpPr txBox="1"/>
          <p:nvPr/>
        </p:nvSpPr>
        <p:spPr>
          <a:xfrm>
            <a:off x="457200" y="621792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C4B5FD"/>
                </a:solidFill>
                <a:latin typeface="Calibri"/>
                <a:ea typeface="Calibri"/>
                <a:cs typeface="Calibri"/>
                <a:sym typeface="Calibri"/>
              </a:rPr>
              <a:t>Soutenance U6  ·  Juin 2026</a:t>
            </a:r>
            <a:endParaRPr/>
          </a:p>
        </p:txBody>
      </p:sp>
      <p:sp>
        <p:nvSpPr>
          <p:cNvPr id="92" name="Google Shape;92;p1"/>
          <p:cNvSpPr txBox="1"/>
          <p:nvPr/>
        </p:nvSpPr>
        <p:spPr>
          <a:xfrm>
            <a:off x="472338" y="5532090"/>
            <a:ext cx="112470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ORAND Noa - CYPRE Hugo - MOPTY Mederick - YILDIRIM Ege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2"/>
          <p:cNvSpPr/>
          <p:nvPr/>
        </p:nvSpPr>
        <p:spPr>
          <a:xfrm>
            <a:off x="502920" y="530352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2"/>
          <p:cNvSpPr txBox="1"/>
          <p:nvPr/>
        </p:nvSpPr>
        <p:spPr>
          <a:xfrm>
            <a:off x="914400" y="384048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Sommaire</a:t>
            </a:r>
            <a:endParaRPr/>
          </a:p>
        </p:txBody>
      </p:sp>
      <p:sp>
        <p:nvSpPr>
          <p:cNvPr id="101" name="Google Shape;101;p2"/>
          <p:cNvSpPr txBox="1"/>
          <p:nvPr/>
        </p:nvSpPr>
        <p:spPr>
          <a:xfrm>
            <a:off x="10911535" y="64922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02 / 26</a:t>
            </a:r>
            <a:endParaRPr/>
          </a:p>
        </p:txBody>
      </p:sp>
      <p:sp>
        <p:nvSpPr>
          <p:cNvPr id="102" name="Google Shape;102;p2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BTS CIEL 2026  ·  Soutenance U6  ·  Noa Orand</a:t>
            </a:r>
            <a:endParaRPr/>
          </a:p>
        </p:txBody>
      </p:sp>
      <p:sp>
        <p:nvSpPr>
          <p:cNvPr id="103" name="Google Shape;103;p2"/>
          <p:cNvSpPr/>
          <p:nvPr/>
        </p:nvSpPr>
        <p:spPr>
          <a:xfrm>
            <a:off x="640080" y="1828800"/>
            <a:ext cx="502920" cy="502920"/>
          </a:xfrm>
          <a:prstGeom prst="ellipse">
            <a:avLst/>
          </a:prstGeom>
          <a:solidFill>
            <a:srgbClr val="22D3E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2"/>
          <p:cNvSpPr txBox="1"/>
          <p:nvPr/>
        </p:nvSpPr>
        <p:spPr>
          <a:xfrm>
            <a:off x="640080" y="1865376"/>
            <a:ext cx="502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105" name="Google Shape;105;p2"/>
          <p:cNvSpPr txBox="1"/>
          <p:nvPr/>
        </p:nvSpPr>
        <p:spPr>
          <a:xfrm>
            <a:off x="1371600" y="1828800"/>
            <a:ext cx="5029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Présentation du projet</a:t>
            </a:r>
            <a:endParaRPr/>
          </a:p>
        </p:txBody>
      </p:sp>
      <p:sp>
        <p:nvSpPr>
          <p:cNvPr id="106" name="Google Shape;106;p2"/>
          <p:cNvSpPr txBox="1"/>
          <p:nvPr/>
        </p:nvSpPr>
        <p:spPr>
          <a:xfrm>
            <a:off x="1371600" y="2377440"/>
            <a:ext cx="50292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Contexte, banc d'essai, capteurs, architecture, plan d'expérience et choix du label.</a:t>
            </a:r>
            <a:endParaRPr/>
          </a:p>
        </p:txBody>
      </p:sp>
      <p:sp>
        <p:nvSpPr>
          <p:cNvPr id="107" name="Google Shape;107;p2"/>
          <p:cNvSpPr/>
          <p:nvPr/>
        </p:nvSpPr>
        <p:spPr>
          <a:xfrm>
            <a:off x="6400800" y="1828800"/>
            <a:ext cx="502920" cy="502920"/>
          </a:xfrm>
          <a:prstGeom prst="ellipse">
            <a:avLst/>
          </a:prstGeom>
          <a:solidFill>
            <a:srgbClr val="E879F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2"/>
          <p:cNvSpPr txBox="1"/>
          <p:nvPr/>
        </p:nvSpPr>
        <p:spPr>
          <a:xfrm>
            <a:off x="6400800" y="1865376"/>
            <a:ext cx="502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109" name="Google Shape;109;p2"/>
          <p:cNvSpPr txBox="1"/>
          <p:nvPr/>
        </p:nvSpPr>
        <p:spPr>
          <a:xfrm>
            <a:off x="7132320" y="1828800"/>
            <a:ext cx="5029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Ma contribution individuelle</a:t>
            </a:r>
            <a:endParaRPr/>
          </a:p>
        </p:txBody>
      </p:sp>
      <p:sp>
        <p:nvSpPr>
          <p:cNvPr id="110" name="Google Shape;110;p2"/>
          <p:cNvSpPr txBox="1"/>
          <p:nvPr/>
        </p:nvSpPr>
        <p:spPr>
          <a:xfrm>
            <a:off x="7132320" y="2377440"/>
            <a:ext cx="50292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Pipeline d'acquisition (serveur TCP + client UDP) et modèle IA double branche.</a:t>
            </a:r>
            <a:endParaRPr/>
          </a:p>
        </p:txBody>
      </p:sp>
      <p:sp>
        <p:nvSpPr>
          <p:cNvPr id="111" name="Google Shape;111;p2"/>
          <p:cNvSpPr/>
          <p:nvPr/>
        </p:nvSpPr>
        <p:spPr>
          <a:xfrm>
            <a:off x="3566160" y="4297680"/>
            <a:ext cx="502920" cy="502920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2"/>
          <p:cNvSpPr txBox="1"/>
          <p:nvPr/>
        </p:nvSpPr>
        <p:spPr>
          <a:xfrm>
            <a:off x="3566160" y="4334256"/>
            <a:ext cx="502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113" name="Google Shape;113;p2"/>
          <p:cNvSpPr txBox="1"/>
          <p:nvPr/>
        </p:nvSpPr>
        <p:spPr>
          <a:xfrm>
            <a:off x="4297680" y="4297680"/>
            <a:ext cx="5029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Conclusion</a:t>
            </a:r>
            <a:endParaRPr/>
          </a:p>
        </p:txBody>
      </p:sp>
      <p:sp>
        <p:nvSpPr>
          <p:cNvPr id="114" name="Google Shape;114;p2"/>
          <p:cNvSpPr txBox="1"/>
          <p:nvPr/>
        </p:nvSpPr>
        <p:spPr>
          <a:xfrm>
            <a:off x="4297680" y="4846320"/>
            <a:ext cx="50292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Bilan technique, résultats obtenus, perspectives. 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rad_bg.jpg" id="120" name="Google Shape;1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3"/>
          <p:cNvSpPr txBox="1"/>
          <p:nvPr/>
        </p:nvSpPr>
        <p:spPr>
          <a:xfrm>
            <a:off x="457200" y="2286000"/>
            <a:ext cx="112471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US" sz="2200" u="none" cap="none" strike="noStrike">
                <a:solidFill>
                  <a:srgbClr val="22D3EE"/>
                </a:solidFill>
                <a:latin typeface="Calibri"/>
                <a:ea typeface="Calibri"/>
                <a:cs typeface="Calibri"/>
                <a:sym typeface="Calibri"/>
              </a:rPr>
              <a:t>Partie 1</a:t>
            </a:r>
            <a:endParaRPr/>
          </a:p>
        </p:txBody>
      </p:sp>
      <p:sp>
        <p:nvSpPr>
          <p:cNvPr id="122" name="Google Shape;122;p3"/>
          <p:cNvSpPr txBox="1"/>
          <p:nvPr/>
        </p:nvSpPr>
        <p:spPr>
          <a:xfrm>
            <a:off x="457200" y="3017520"/>
            <a:ext cx="112471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Présentation du projet</a:t>
            </a:r>
            <a:endParaRPr/>
          </a:p>
        </p:txBody>
      </p:sp>
      <p:sp>
        <p:nvSpPr>
          <p:cNvPr id="123" name="Google Shape;123;p3"/>
          <p:cNvSpPr txBox="1"/>
          <p:nvPr/>
        </p:nvSpPr>
        <p:spPr>
          <a:xfrm>
            <a:off x="457200" y="4297680"/>
            <a:ext cx="112471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800" u="none" cap="none" strike="noStrike">
                <a:solidFill>
                  <a:srgbClr val="C4B5FD"/>
                </a:solidFill>
                <a:latin typeface="Calibri"/>
                <a:ea typeface="Calibri"/>
                <a:cs typeface="Calibri"/>
                <a:sym typeface="Calibri"/>
              </a:rPr>
              <a:t>Contexte académique, banc d'essai, architecture et plan d'expérience.</a:t>
            </a:r>
            <a:endParaRPr/>
          </a:p>
        </p:txBody>
      </p:sp>
      <p:sp>
        <p:nvSpPr>
          <p:cNvPr id="124" name="Google Shape;124;p3"/>
          <p:cNvSpPr/>
          <p:nvPr/>
        </p:nvSpPr>
        <p:spPr>
          <a:xfrm>
            <a:off x="5730087" y="5212080"/>
            <a:ext cx="73152" cy="73152"/>
          </a:xfrm>
          <a:prstGeom prst="ellipse">
            <a:avLst/>
          </a:prstGeom>
          <a:solidFill>
            <a:srgbClr val="22D3E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3"/>
          <p:cNvSpPr/>
          <p:nvPr/>
        </p:nvSpPr>
        <p:spPr>
          <a:xfrm>
            <a:off x="5958687" y="5212080"/>
            <a:ext cx="73152" cy="73152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3"/>
          <p:cNvSpPr/>
          <p:nvPr/>
        </p:nvSpPr>
        <p:spPr>
          <a:xfrm>
            <a:off x="6187287" y="5212080"/>
            <a:ext cx="73152" cy="73152"/>
          </a:xfrm>
          <a:prstGeom prst="ellipse">
            <a:avLst/>
          </a:prstGeom>
          <a:solidFill>
            <a:srgbClr val="E879F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4"/>
          <p:cNvSpPr/>
          <p:nvPr/>
        </p:nvSpPr>
        <p:spPr>
          <a:xfrm>
            <a:off x="502920" y="530352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4"/>
          <p:cNvSpPr txBox="1"/>
          <p:nvPr/>
        </p:nvSpPr>
        <p:spPr>
          <a:xfrm>
            <a:off x="914400" y="384048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Cadre académique et équipe</a:t>
            </a:r>
            <a:endParaRPr/>
          </a:p>
        </p:txBody>
      </p:sp>
      <p:sp>
        <p:nvSpPr>
          <p:cNvPr id="135" name="Google Shape;135;p4"/>
          <p:cNvSpPr txBox="1"/>
          <p:nvPr/>
        </p:nvSpPr>
        <p:spPr>
          <a:xfrm>
            <a:off x="10911535" y="64922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04 / 26</a:t>
            </a:r>
            <a:endParaRPr/>
          </a:p>
        </p:txBody>
      </p:sp>
      <p:sp>
        <p:nvSpPr>
          <p:cNvPr id="136" name="Google Shape;136;p4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BTS CIEL 2026  ·  Soutenance U6  ·  Noa Orand</a:t>
            </a:r>
            <a:endParaRPr/>
          </a:p>
        </p:txBody>
      </p:sp>
      <p:sp>
        <p:nvSpPr>
          <p:cNvPr id="137" name="Google Shape;137;p4"/>
          <p:cNvSpPr txBox="1"/>
          <p:nvPr/>
        </p:nvSpPr>
        <p:spPr>
          <a:xfrm>
            <a:off x="640080" y="1554480"/>
            <a:ext cx="7315200" cy="16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7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BTS CIEL — Cybersécurité, Informatique et Réseaux, Électronique</a:t>
            </a:r>
            <a:endParaRPr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7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Option Informatique et Réseaux  ·  Session 2026</a:t>
            </a:r>
            <a:endParaRPr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7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Projet de fin d'études — épreuve U6 (Pratique professionnelle)</a:t>
            </a:r>
            <a:endParaRPr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lang="en-US" sz="1700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Compétences acquises : </a:t>
            </a:r>
            <a:r>
              <a:rPr b="0" i="0" lang="en-US" sz="17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programmation système, réseaux, électronique embarquée, IA, gestion de projet</a:t>
            </a:r>
            <a:endParaRPr/>
          </a:p>
        </p:txBody>
      </p:sp>
      <p:sp>
        <p:nvSpPr>
          <p:cNvPr id="138" name="Google Shape;138;p4"/>
          <p:cNvSpPr/>
          <p:nvPr/>
        </p:nvSpPr>
        <p:spPr>
          <a:xfrm>
            <a:off x="8229600" y="1554480"/>
            <a:ext cx="3474720" cy="36576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4B5F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4"/>
          <p:cNvSpPr txBox="1"/>
          <p:nvPr/>
        </p:nvSpPr>
        <p:spPr>
          <a:xfrm>
            <a:off x="8412480" y="1691640"/>
            <a:ext cx="3200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Équipe</a:t>
            </a:r>
            <a:endParaRPr/>
          </a:p>
        </p:txBody>
      </p:sp>
      <p:sp>
        <p:nvSpPr>
          <p:cNvPr id="140" name="Google Shape;140;p4"/>
          <p:cNvSpPr txBox="1"/>
          <p:nvPr/>
        </p:nvSpPr>
        <p:spPr>
          <a:xfrm>
            <a:off x="8412480" y="2240280"/>
            <a:ext cx="3200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Noa Orand</a:t>
            </a:r>
            <a:endParaRPr/>
          </a:p>
        </p:txBody>
      </p:sp>
      <p:sp>
        <p:nvSpPr>
          <p:cNvPr id="141" name="Google Shape;141;p4"/>
          <p:cNvSpPr txBox="1"/>
          <p:nvPr/>
        </p:nvSpPr>
        <p:spPr>
          <a:xfrm>
            <a:off x="8412480" y="2532888"/>
            <a:ext cx="3200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Pipeline acquisition + modèle IA</a:t>
            </a:r>
            <a:endParaRPr/>
          </a:p>
        </p:txBody>
      </p:sp>
      <p:sp>
        <p:nvSpPr>
          <p:cNvPr id="142" name="Google Shape;142;p4"/>
          <p:cNvSpPr txBox="1"/>
          <p:nvPr/>
        </p:nvSpPr>
        <p:spPr>
          <a:xfrm>
            <a:off x="8412480" y="2926080"/>
            <a:ext cx="3200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Hugo Cypré</a:t>
            </a:r>
            <a:endParaRPr/>
          </a:p>
        </p:txBody>
      </p:sp>
      <p:sp>
        <p:nvSpPr>
          <p:cNvPr id="143" name="Google Shape;143;p4"/>
          <p:cNvSpPr txBox="1"/>
          <p:nvPr/>
        </p:nvSpPr>
        <p:spPr>
          <a:xfrm>
            <a:off x="8412480" y="3218688"/>
            <a:ext cx="3200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Qualité données + versioning modèles</a:t>
            </a:r>
            <a:endParaRPr/>
          </a:p>
        </p:txBody>
      </p:sp>
      <p:sp>
        <p:nvSpPr>
          <p:cNvPr id="144" name="Google Shape;144;p4"/>
          <p:cNvSpPr txBox="1"/>
          <p:nvPr/>
        </p:nvSpPr>
        <p:spPr>
          <a:xfrm>
            <a:off x="8412480" y="3611880"/>
            <a:ext cx="3200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Mederick Mopty</a:t>
            </a:r>
            <a:endParaRPr/>
          </a:p>
        </p:txBody>
      </p:sp>
      <p:sp>
        <p:nvSpPr>
          <p:cNvPr id="145" name="Google Shape;145;p4"/>
          <p:cNvSpPr txBox="1"/>
          <p:nvPr/>
        </p:nvSpPr>
        <p:spPr>
          <a:xfrm>
            <a:off x="8412480" y="3904488"/>
            <a:ext cx="3200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Firmware ESP32 + capture audio</a:t>
            </a:r>
            <a:endParaRPr/>
          </a:p>
        </p:txBody>
      </p:sp>
      <p:sp>
        <p:nvSpPr>
          <p:cNvPr id="146" name="Google Shape;146;p4"/>
          <p:cNvSpPr txBox="1"/>
          <p:nvPr/>
        </p:nvSpPr>
        <p:spPr>
          <a:xfrm>
            <a:off x="8412480" y="4297680"/>
            <a:ext cx="3200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Ege Yildirim</a:t>
            </a:r>
            <a:endParaRPr/>
          </a:p>
        </p:txBody>
      </p:sp>
      <p:sp>
        <p:nvSpPr>
          <p:cNvPr id="147" name="Google Shape;147;p4"/>
          <p:cNvSpPr txBox="1"/>
          <p:nvPr/>
        </p:nvSpPr>
        <p:spPr>
          <a:xfrm>
            <a:off x="8412480" y="4590288"/>
            <a:ext cx="3200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IHM Qt + supervision captures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5"/>
          <p:cNvSpPr/>
          <p:nvPr/>
        </p:nvSpPr>
        <p:spPr>
          <a:xfrm>
            <a:off x="502920" y="530352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5"/>
          <p:cNvSpPr txBox="1"/>
          <p:nvPr/>
        </p:nvSpPr>
        <p:spPr>
          <a:xfrm>
            <a:off x="914400" y="384048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Maintenance prédictive — enjeu industriel</a:t>
            </a:r>
            <a:endParaRPr/>
          </a:p>
        </p:txBody>
      </p:sp>
      <p:sp>
        <p:nvSpPr>
          <p:cNvPr id="156" name="Google Shape;156;p5"/>
          <p:cNvSpPr txBox="1"/>
          <p:nvPr/>
        </p:nvSpPr>
        <p:spPr>
          <a:xfrm>
            <a:off x="10911535" y="64922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05 / 26</a:t>
            </a:r>
            <a:endParaRPr/>
          </a:p>
        </p:txBody>
      </p:sp>
      <p:sp>
        <p:nvSpPr>
          <p:cNvPr id="157" name="Google Shape;157;p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BTS CIEL 2026  ·  Soutenance U6  ·  Noa Orand</a:t>
            </a:r>
            <a:endParaRPr/>
          </a:p>
        </p:txBody>
      </p:sp>
      <p:sp>
        <p:nvSpPr>
          <p:cNvPr id="158" name="Google Shape;158;p5"/>
          <p:cNvSpPr txBox="1"/>
          <p:nvPr/>
        </p:nvSpPr>
        <p:spPr>
          <a:xfrm>
            <a:off x="640080" y="155448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8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Pourquoi écouter et capter la vibration d'une machine ?</a:t>
            </a:r>
            <a:endParaRPr/>
          </a:p>
        </p:txBody>
      </p:sp>
      <p:sp>
        <p:nvSpPr>
          <p:cNvPr id="159" name="Google Shape;159;p5"/>
          <p:cNvSpPr txBox="1"/>
          <p:nvPr/>
        </p:nvSpPr>
        <p:spPr>
          <a:xfrm>
            <a:off x="640080" y="2194560"/>
            <a:ext cx="10972800" cy="27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7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Détecter une dérive avant la panne réduit les arrêts non planifiés</a:t>
            </a:r>
            <a:endParaRPr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7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L'analyse acoustique et vibratoire fournit une signature riche, non intrusive</a:t>
            </a:r>
            <a:endParaRPr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7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Datasets de référence : MIMII (sons industriels), CWRU (roulements), MAFAULDA (rotors)</a:t>
            </a:r>
            <a:endParaRPr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7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Un CNN sur mel-spectrogramme apprend efficacement à classer/régresser un état mécanique</a:t>
            </a:r>
            <a:endParaRPr/>
          </a:p>
        </p:txBody>
      </p:sp>
      <p:sp>
        <p:nvSpPr>
          <p:cNvPr id="160" name="Google Shape;160;p5"/>
          <p:cNvSpPr/>
          <p:nvPr/>
        </p:nvSpPr>
        <p:spPr>
          <a:xfrm>
            <a:off x="640080" y="5212080"/>
            <a:ext cx="3291840" cy="11887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22D3E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5"/>
          <p:cNvSpPr txBox="1"/>
          <p:nvPr/>
        </p:nvSpPr>
        <p:spPr>
          <a:xfrm>
            <a:off x="640080" y="5349240"/>
            <a:ext cx="32918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22D3EE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162" name="Google Shape;162;p5"/>
          <p:cNvSpPr txBox="1"/>
          <p:nvPr/>
        </p:nvSpPr>
        <p:spPr>
          <a:xfrm>
            <a:off x="640080" y="5943600"/>
            <a:ext cx="3291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datasets de référence cités</a:t>
            </a:r>
            <a:endParaRPr/>
          </a:p>
        </p:txBody>
      </p:sp>
      <p:sp>
        <p:nvSpPr>
          <p:cNvPr id="163" name="Google Shape;163;p5"/>
          <p:cNvSpPr/>
          <p:nvPr/>
        </p:nvSpPr>
        <p:spPr>
          <a:xfrm>
            <a:off x="4434840" y="5212080"/>
            <a:ext cx="3291840" cy="11887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8B5CF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5"/>
          <p:cNvSpPr txBox="1"/>
          <p:nvPr/>
        </p:nvSpPr>
        <p:spPr>
          <a:xfrm>
            <a:off x="4434840" y="5349240"/>
            <a:ext cx="32918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16 kHz</a:t>
            </a:r>
            <a:endParaRPr/>
          </a:p>
        </p:txBody>
      </p:sp>
      <p:sp>
        <p:nvSpPr>
          <p:cNvPr id="165" name="Google Shape;165;p5"/>
          <p:cNvSpPr txBox="1"/>
          <p:nvPr/>
        </p:nvSpPr>
        <p:spPr>
          <a:xfrm>
            <a:off x="4434840" y="5943600"/>
            <a:ext cx="3291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fréquence d'acquisition son</a:t>
            </a:r>
            <a:endParaRPr/>
          </a:p>
        </p:txBody>
      </p:sp>
      <p:sp>
        <p:nvSpPr>
          <p:cNvPr id="166" name="Google Shape;166;p5"/>
          <p:cNvSpPr/>
          <p:nvPr/>
        </p:nvSpPr>
        <p:spPr>
          <a:xfrm>
            <a:off x="8229600" y="5212080"/>
            <a:ext cx="3291840" cy="11887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879F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5"/>
          <p:cNvSpPr txBox="1"/>
          <p:nvPr/>
        </p:nvSpPr>
        <p:spPr>
          <a:xfrm>
            <a:off x="8229600" y="5349240"/>
            <a:ext cx="3291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200</a:t>
            </a:r>
            <a:r>
              <a:rPr b="1" i="0" lang="en-US" sz="3000" u="none" cap="none" strike="noStrike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 Hz</a:t>
            </a:r>
            <a:endParaRPr/>
          </a:p>
        </p:txBody>
      </p:sp>
      <p:sp>
        <p:nvSpPr>
          <p:cNvPr id="168" name="Google Shape;168;p5"/>
          <p:cNvSpPr txBox="1"/>
          <p:nvPr/>
        </p:nvSpPr>
        <p:spPr>
          <a:xfrm>
            <a:off x="8229600" y="5943600"/>
            <a:ext cx="3291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vibration effective (BLE)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6"/>
          <p:cNvSpPr/>
          <p:nvPr/>
        </p:nvSpPr>
        <p:spPr>
          <a:xfrm>
            <a:off x="502920" y="530352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6"/>
          <p:cNvSpPr txBox="1"/>
          <p:nvPr/>
        </p:nvSpPr>
        <p:spPr>
          <a:xfrm>
            <a:off x="914400" y="384048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Pivot du projet : du CNC au banc moteur</a:t>
            </a:r>
            <a:endParaRPr/>
          </a:p>
        </p:txBody>
      </p:sp>
      <p:sp>
        <p:nvSpPr>
          <p:cNvPr id="177" name="Google Shape;177;p6"/>
          <p:cNvSpPr txBox="1"/>
          <p:nvPr/>
        </p:nvSpPr>
        <p:spPr>
          <a:xfrm>
            <a:off x="10911535" y="64922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06 / 26</a:t>
            </a:r>
            <a:endParaRPr/>
          </a:p>
        </p:txBody>
      </p:sp>
      <p:sp>
        <p:nvSpPr>
          <p:cNvPr id="178" name="Google Shape;178;p6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BTS CIEL 2026  ·  Soutenance U6  ·  Noa Orand</a:t>
            </a:r>
            <a:endParaRPr/>
          </a:p>
        </p:txBody>
      </p:sp>
      <p:sp>
        <p:nvSpPr>
          <p:cNvPr id="179" name="Google Shape;179;p6"/>
          <p:cNvSpPr/>
          <p:nvPr/>
        </p:nvSpPr>
        <p:spPr>
          <a:xfrm>
            <a:off x="640080" y="1554480"/>
            <a:ext cx="5029200" cy="41148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64748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6"/>
          <p:cNvSpPr txBox="1"/>
          <p:nvPr/>
        </p:nvSpPr>
        <p:spPr>
          <a:xfrm>
            <a:off x="822960" y="1746503"/>
            <a:ext cx="45720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3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Sujet initial</a:t>
            </a:r>
            <a:endParaRPr/>
          </a:p>
        </p:txBody>
      </p:sp>
      <p:sp>
        <p:nvSpPr>
          <p:cNvPr id="181" name="Google Shape;181;p6"/>
          <p:cNvSpPr txBox="1"/>
          <p:nvPr/>
        </p:nvSpPr>
        <p:spPr>
          <a:xfrm>
            <a:off x="822960" y="2011680"/>
            <a:ext cx="4572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Détection d'usure d'outil sur CNC</a:t>
            </a:r>
            <a:endParaRPr/>
          </a:p>
        </p:txBody>
      </p:sp>
      <p:sp>
        <p:nvSpPr>
          <p:cNvPr id="182" name="Google Shape;182;p6"/>
          <p:cNvSpPr txBox="1"/>
          <p:nvPr/>
        </p:nvSpPr>
        <p:spPr>
          <a:xfrm>
            <a:off x="822960" y="2834640"/>
            <a:ext cx="4572000" cy="27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Accès à la machine très limité</a:t>
            </a:r>
            <a:endParaRPr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Impossibilité de produire un jeu de données suffisant</a:t>
            </a:r>
            <a:endParaRPr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Variance non maîtrisée des conditions</a:t>
            </a:r>
            <a:endParaRPr/>
          </a:p>
        </p:txBody>
      </p:sp>
      <p:sp>
        <p:nvSpPr>
          <p:cNvPr id="183" name="Google Shape;183;p6"/>
          <p:cNvSpPr txBox="1"/>
          <p:nvPr/>
        </p:nvSpPr>
        <p:spPr>
          <a:xfrm>
            <a:off x="5760720" y="3383280"/>
            <a:ext cx="7315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▶</a:t>
            </a:r>
            <a:endParaRPr/>
          </a:p>
        </p:txBody>
      </p:sp>
      <p:sp>
        <p:nvSpPr>
          <p:cNvPr id="184" name="Google Shape;184;p6"/>
          <p:cNvSpPr/>
          <p:nvPr/>
        </p:nvSpPr>
        <p:spPr>
          <a:xfrm>
            <a:off x="6492240" y="1554480"/>
            <a:ext cx="5029200" cy="41148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8B5CF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6"/>
          <p:cNvSpPr txBox="1"/>
          <p:nvPr/>
        </p:nvSpPr>
        <p:spPr>
          <a:xfrm>
            <a:off x="6675120" y="1746503"/>
            <a:ext cx="45720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US" sz="1300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Nouveau sujet </a:t>
            </a:r>
            <a:endParaRPr/>
          </a:p>
        </p:txBody>
      </p:sp>
      <p:sp>
        <p:nvSpPr>
          <p:cNvPr id="186" name="Google Shape;186;p6"/>
          <p:cNvSpPr txBox="1"/>
          <p:nvPr/>
        </p:nvSpPr>
        <p:spPr>
          <a:xfrm>
            <a:off x="6675120" y="2011680"/>
            <a:ext cx="4572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Estimation de tension sur banc moteur</a:t>
            </a:r>
            <a:endParaRPr/>
          </a:p>
        </p:txBody>
      </p:sp>
      <p:sp>
        <p:nvSpPr>
          <p:cNvPr id="187" name="Google Shape;187;p6"/>
          <p:cNvSpPr txBox="1"/>
          <p:nvPr/>
        </p:nvSpPr>
        <p:spPr>
          <a:xfrm>
            <a:off x="6675120" y="2834640"/>
            <a:ext cx="4572000" cy="79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Banc reproductible, conditions maîtrisées</a:t>
            </a:r>
            <a:endParaRPr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Dataset constituable en un semestre</a:t>
            </a:r>
            <a:endParaRPr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lang="en-US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Logique du projet conservée</a:t>
            </a:r>
            <a:r>
              <a:rPr b="0" i="0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 : IA sur signaux physiques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7"/>
          <p:cNvSpPr/>
          <p:nvPr/>
        </p:nvSpPr>
        <p:spPr>
          <a:xfrm>
            <a:off x="502920" y="530352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7"/>
          <p:cNvSpPr txBox="1"/>
          <p:nvPr/>
        </p:nvSpPr>
        <p:spPr>
          <a:xfrm>
            <a:off x="914400" y="384048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Objectif fonctionnel</a:t>
            </a:r>
            <a:endParaRPr/>
          </a:p>
        </p:txBody>
      </p:sp>
      <p:sp>
        <p:nvSpPr>
          <p:cNvPr id="196" name="Google Shape;196;p7"/>
          <p:cNvSpPr txBox="1"/>
          <p:nvPr/>
        </p:nvSpPr>
        <p:spPr>
          <a:xfrm>
            <a:off x="10911535" y="64922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07 / 26</a:t>
            </a:r>
            <a:endParaRPr/>
          </a:p>
        </p:txBody>
      </p:sp>
      <p:sp>
        <p:nvSpPr>
          <p:cNvPr id="197" name="Google Shape;197;p7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BTS CIEL 2026  ·  Soutenance U6  ·  Noa Orand</a:t>
            </a:r>
            <a:endParaRPr/>
          </a:p>
        </p:txBody>
      </p:sp>
      <p:sp>
        <p:nvSpPr>
          <p:cNvPr id="198" name="Google Shape;198;p7"/>
          <p:cNvSpPr txBox="1"/>
          <p:nvPr/>
        </p:nvSpPr>
        <p:spPr>
          <a:xfrm>
            <a:off x="640080" y="155448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7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Estimer le niveau de tension appliqué au moteur à partir du son et de la vibration</a:t>
            </a:r>
            <a:endParaRPr/>
          </a:p>
        </p:txBody>
      </p:sp>
      <p:sp>
        <p:nvSpPr>
          <p:cNvPr id="199" name="Google Shape;199;p7"/>
          <p:cNvSpPr/>
          <p:nvPr/>
        </p:nvSpPr>
        <p:spPr>
          <a:xfrm>
            <a:off x="640080" y="2286000"/>
            <a:ext cx="5166360" cy="19659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22D3E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7"/>
          <p:cNvSpPr/>
          <p:nvPr/>
        </p:nvSpPr>
        <p:spPr>
          <a:xfrm>
            <a:off x="868680" y="2514600"/>
            <a:ext cx="502920" cy="502920"/>
          </a:xfrm>
          <a:prstGeom prst="ellipse">
            <a:avLst/>
          </a:prstGeom>
          <a:solidFill>
            <a:srgbClr val="22D3E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7"/>
          <p:cNvSpPr txBox="1"/>
          <p:nvPr/>
        </p:nvSpPr>
        <p:spPr>
          <a:xfrm>
            <a:off x="868680" y="2551176"/>
            <a:ext cx="502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202" name="Google Shape;202;p7"/>
          <p:cNvSpPr txBox="1"/>
          <p:nvPr/>
        </p:nvSpPr>
        <p:spPr>
          <a:xfrm>
            <a:off x="1554480" y="2560320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Mesurer</a:t>
            </a:r>
            <a:endParaRPr/>
          </a:p>
        </p:txBody>
      </p:sp>
      <p:sp>
        <p:nvSpPr>
          <p:cNvPr id="203" name="Google Shape;203;p7"/>
          <p:cNvSpPr txBox="1"/>
          <p:nvPr/>
        </p:nvSpPr>
        <p:spPr>
          <a:xfrm>
            <a:off x="914400" y="3200400"/>
            <a:ext cx="475488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Capter en continu son (I2S 16 kHz) et vibration mécanique (BLE 3 axes)</a:t>
            </a:r>
            <a:endParaRPr/>
          </a:p>
        </p:txBody>
      </p:sp>
      <p:sp>
        <p:nvSpPr>
          <p:cNvPr id="204" name="Google Shape;204;p7"/>
          <p:cNvSpPr/>
          <p:nvPr/>
        </p:nvSpPr>
        <p:spPr>
          <a:xfrm>
            <a:off x="6355080" y="2286000"/>
            <a:ext cx="5166360" cy="19659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8B5CF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7"/>
          <p:cNvSpPr/>
          <p:nvPr/>
        </p:nvSpPr>
        <p:spPr>
          <a:xfrm>
            <a:off x="6583680" y="2514600"/>
            <a:ext cx="502920" cy="502920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7"/>
          <p:cNvSpPr txBox="1"/>
          <p:nvPr/>
        </p:nvSpPr>
        <p:spPr>
          <a:xfrm>
            <a:off x="6583680" y="2551176"/>
            <a:ext cx="502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207" name="Google Shape;207;p7"/>
          <p:cNvSpPr txBox="1"/>
          <p:nvPr/>
        </p:nvSpPr>
        <p:spPr>
          <a:xfrm>
            <a:off x="7269480" y="2560320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Transmettre</a:t>
            </a:r>
            <a:endParaRPr/>
          </a:p>
        </p:txBody>
      </p:sp>
      <p:sp>
        <p:nvSpPr>
          <p:cNvPr id="208" name="Google Shape;208;p7"/>
          <p:cNvSpPr txBox="1"/>
          <p:nvPr/>
        </p:nvSpPr>
        <p:spPr>
          <a:xfrm>
            <a:off x="6629400" y="3200400"/>
            <a:ext cx="475488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Envoyer au PC par Wi-Fi : flux UDP des données, TCP pour les métadonnées</a:t>
            </a:r>
            <a:endParaRPr/>
          </a:p>
        </p:txBody>
      </p:sp>
      <p:sp>
        <p:nvSpPr>
          <p:cNvPr id="209" name="Google Shape;209;p7"/>
          <p:cNvSpPr/>
          <p:nvPr/>
        </p:nvSpPr>
        <p:spPr>
          <a:xfrm>
            <a:off x="640080" y="4480555"/>
            <a:ext cx="5166300" cy="19659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879F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7"/>
          <p:cNvSpPr/>
          <p:nvPr/>
        </p:nvSpPr>
        <p:spPr>
          <a:xfrm>
            <a:off x="868680" y="4754880"/>
            <a:ext cx="502920" cy="502920"/>
          </a:xfrm>
          <a:prstGeom prst="ellipse">
            <a:avLst/>
          </a:prstGeom>
          <a:solidFill>
            <a:srgbClr val="E879F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7"/>
          <p:cNvSpPr txBox="1"/>
          <p:nvPr/>
        </p:nvSpPr>
        <p:spPr>
          <a:xfrm>
            <a:off x="868680" y="4791456"/>
            <a:ext cx="502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212" name="Google Shape;212;p7"/>
          <p:cNvSpPr txBox="1"/>
          <p:nvPr/>
        </p:nvSpPr>
        <p:spPr>
          <a:xfrm>
            <a:off x="1554480" y="4800600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Stocker</a:t>
            </a:r>
            <a:endParaRPr/>
          </a:p>
        </p:txBody>
      </p:sp>
      <p:sp>
        <p:nvSpPr>
          <p:cNvPr id="213" name="Google Shape;213;p7"/>
          <p:cNvSpPr txBox="1"/>
          <p:nvPr/>
        </p:nvSpPr>
        <p:spPr>
          <a:xfrm>
            <a:off x="914400" y="5440680"/>
            <a:ext cx="475488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Dataset CSV à plat indexé par un fichier maître metadata_captures_moteur.csv</a:t>
            </a:r>
            <a:endParaRPr/>
          </a:p>
        </p:txBody>
      </p:sp>
      <p:sp>
        <p:nvSpPr>
          <p:cNvPr id="214" name="Google Shape;214;p7"/>
          <p:cNvSpPr/>
          <p:nvPr/>
        </p:nvSpPr>
        <p:spPr>
          <a:xfrm>
            <a:off x="6355080" y="4480518"/>
            <a:ext cx="5166300" cy="19659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1A0B3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7"/>
          <p:cNvSpPr/>
          <p:nvPr/>
        </p:nvSpPr>
        <p:spPr>
          <a:xfrm>
            <a:off x="6583680" y="4754880"/>
            <a:ext cx="502920" cy="502920"/>
          </a:xfrm>
          <a:prstGeom prst="ellipse">
            <a:avLst/>
          </a:prstGeom>
          <a:solidFill>
            <a:srgbClr val="1A0B3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7"/>
          <p:cNvSpPr txBox="1"/>
          <p:nvPr/>
        </p:nvSpPr>
        <p:spPr>
          <a:xfrm>
            <a:off x="6583680" y="4791456"/>
            <a:ext cx="502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  <p:sp>
        <p:nvSpPr>
          <p:cNvPr id="217" name="Google Shape;217;p7"/>
          <p:cNvSpPr txBox="1"/>
          <p:nvPr/>
        </p:nvSpPr>
        <p:spPr>
          <a:xfrm>
            <a:off x="7269480" y="4800600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Prédire</a:t>
            </a:r>
            <a:endParaRPr/>
          </a:p>
        </p:txBody>
      </p:sp>
      <p:sp>
        <p:nvSpPr>
          <p:cNvPr id="218" name="Google Shape;218;p7"/>
          <p:cNvSpPr txBox="1"/>
          <p:nvPr/>
        </p:nvSpPr>
        <p:spPr>
          <a:xfrm>
            <a:off x="6629400" y="5440680"/>
            <a:ext cx="475488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Modèle CNN double branche : sortie en % de la tension max de la condition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8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8"/>
          <p:cNvSpPr/>
          <p:nvPr/>
        </p:nvSpPr>
        <p:spPr>
          <a:xfrm>
            <a:off x="502920" y="530352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8"/>
          <p:cNvSpPr txBox="1"/>
          <p:nvPr/>
        </p:nvSpPr>
        <p:spPr>
          <a:xfrm>
            <a:off x="914400" y="384048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Banc d'essai</a:t>
            </a:r>
            <a:endParaRPr/>
          </a:p>
        </p:txBody>
      </p:sp>
      <p:sp>
        <p:nvSpPr>
          <p:cNvPr id="227" name="Google Shape;227;p8"/>
          <p:cNvSpPr txBox="1"/>
          <p:nvPr/>
        </p:nvSpPr>
        <p:spPr>
          <a:xfrm>
            <a:off x="10911535" y="64922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08 / 26</a:t>
            </a:r>
            <a:endParaRPr/>
          </a:p>
        </p:txBody>
      </p:sp>
      <p:sp>
        <p:nvSpPr>
          <p:cNvPr id="228" name="Google Shape;228;p8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BTS CIEL 2026  ·  Soutenance U6  ·  Noa Orand</a:t>
            </a:r>
            <a:endParaRPr/>
          </a:p>
        </p:txBody>
      </p:sp>
      <p:sp>
        <p:nvSpPr>
          <p:cNvPr id="229" name="Google Shape;229;p8"/>
          <p:cNvSpPr txBox="1"/>
          <p:nvPr/>
        </p:nvSpPr>
        <p:spPr>
          <a:xfrm>
            <a:off x="640080" y="1554480"/>
            <a:ext cx="6400800" cy="27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7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Moteur électrique CC alimenté par alimentation à tension réglable</a:t>
            </a:r>
            <a:endParaRPr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7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Deux conditions de charge retenues pour leur reproductibilité</a:t>
            </a:r>
            <a:endParaRPr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7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Tension maximale mesurée propre à chaque condition (référence du label en %)</a:t>
            </a:r>
            <a:endParaRPr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7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Troisième condition (frein + inertie) écartée : reproductibilité insuffisante</a:t>
            </a:r>
            <a:endParaRPr/>
          </a:p>
        </p:txBody>
      </p:sp>
      <p:sp>
        <p:nvSpPr>
          <p:cNvPr id="230" name="Google Shape;230;p8"/>
          <p:cNvSpPr/>
          <p:nvPr/>
        </p:nvSpPr>
        <p:spPr>
          <a:xfrm>
            <a:off x="7772400" y="1737360"/>
            <a:ext cx="3931920" cy="38404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4B5F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8"/>
          <p:cNvSpPr txBox="1"/>
          <p:nvPr/>
        </p:nvSpPr>
        <p:spPr>
          <a:xfrm>
            <a:off x="7955279" y="1874519"/>
            <a:ext cx="3657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Conditions retenues</a:t>
            </a:r>
            <a:endParaRPr/>
          </a:p>
        </p:txBody>
      </p:sp>
      <p:sp>
        <p:nvSpPr>
          <p:cNvPr id="232" name="Google Shape;232;p8"/>
          <p:cNvSpPr/>
          <p:nvPr/>
        </p:nvSpPr>
        <p:spPr>
          <a:xfrm>
            <a:off x="7955279" y="2331720"/>
            <a:ext cx="3657600" cy="1280160"/>
          </a:xfrm>
          <a:prstGeom prst="roundRect">
            <a:avLst>
              <a:gd fmla="val 16667" name="adj"/>
            </a:avLst>
          </a:prstGeom>
          <a:solidFill>
            <a:srgbClr val="EF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8"/>
          <p:cNvSpPr txBox="1"/>
          <p:nvPr/>
        </p:nvSpPr>
        <p:spPr>
          <a:xfrm>
            <a:off x="8092440" y="2423160"/>
            <a:ext cx="3474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A — Sans frein (à vide)</a:t>
            </a:r>
            <a:endParaRPr/>
          </a:p>
        </p:txBody>
      </p:sp>
      <p:sp>
        <p:nvSpPr>
          <p:cNvPr id="234" name="Google Shape;234;p8"/>
          <p:cNvSpPr txBox="1"/>
          <p:nvPr/>
        </p:nvSpPr>
        <p:spPr>
          <a:xfrm>
            <a:off x="8092440" y="2788920"/>
            <a:ext cx="3474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Tension max  ·  30,3 V</a:t>
            </a:r>
            <a:endParaRPr/>
          </a:p>
        </p:txBody>
      </p:sp>
      <p:sp>
        <p:nvSpPr>
          <p:cNvPr id="235" name="Google Shape;235;p8"/>
          <p:cNvSpPr txBox="1"/>
          <p:nvPr/>
        </p:nvSpPr>
        <p:spPr>
          <a:xfrm>
            <a:off x="8092440" y="3154680"/>
            <a:ext cx="3474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US" sz="1200" u="none" cap="none" strike="noStrike">
                <a:solidFill>
                  <a:srgbClr val="22D3EE"/>
                </a:solidFill>
                <a:latin typeface="Calibri"/>
                <a:ea typeface="Calibri"/>
                <a:cs typeface="Calibri"/>
                <a:sym typeface="Calibri"/>
              </a:rPr>
              <a:t>Référence du label : 100 %</a:t>
            </a:r>
            <a:endParaRPr/>
          </a:p>
        </p:txBody>
      </p:sp>
      <p:sp>
        <p:nvSpPr>
          <p:cNvPr id="236" name="Google Shape;236;p8"/>
          <p:cNvSpPr/>
          <p:nvPr/>
        </p:nvSpPr>
        <p:spPr>
          <a:xfrm>
            <a:off x="7955279" y="3749039"/>
            <a:ext cx="3657600" cy="1280160"/>
          </a:xfrm>
          <a:prstGeom prst="roundRect">
            <a:avLst>
              <a:gd fmla="val 16667" name="adj"/>
            </a:avLst>
          </a:prstGeom>
          <a:solidFill>
            <a:srgbClr val="FDE9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8"/>
          <p:cNvSpPr txBox="1"/>
          <p:nvPr/>
        </p:nvSpPr>
        <p:spPr>
          <a:xfrm>
            <a:off x="8092440" y="3840480"/>
            <a:ext cx="3474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B — Avec frein</a:t>
            </a:r>
            <a:endParaRPr/>
          </a:p>
        </p:txBody>
      </p:sp>
      <p:sp>
        <p:nvSpPr>
          <p:cNvPr id="238" name="Google Shape;238;p8"/>
          <p:cNvSpPr txBox="1"/>
          <p:nvPr/>
        </p:nvSpPr>
        <p:spPr>
          <a:xfrm>
            <a:off x="8092440" y="4206240"/>
            <a:ext cx="3474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Tension max  ·  28,7 V</a:t>
            </a:r>
            <a:endParaRPr/>
          </a:p>
        </p:txBody>
      </p:sp>
      <p:sp>
        <p:nvSpPr>
          <p:cNvPr id="239" name="Google Shape;239;p8"/>
          <p:cNvSpPr txBox="1"/>
          <p:nvPr/>
        </p:nvSpPr>
        <p:spPr>
          <a:xfrm>
            <a:off x="8092440" y="4572000"/>
            <a:ext cx="3474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US" sz="1200" u="none" cap="none" strike="noStrike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Référence du label : 100 %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9"/>
          <p:cNvSpPr/>
          <p:nvPr/>
        </p:nvSpPr>
        <p:spPr>
          <a:xfrm>
            <a:off x="502920" y="530352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9"/>
          <p:cNvSpPr txBox="1"/>
          <p:nvPr/>
        </p:nvSpPr>
        <p:spPr>
          <a:xfrm>
            <a:off x="914400" y="384048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Capteurs et chaîne d'acquisition</a:t>
            </a:r>
            <a:endParaRPr/>
          </a:p>
        </p:txBody>
      </p:sp>
      <p:sp>
        <p:nvSpPr>
          <p:cNvPr id="248" name="Google Shape;248;p9"/>
          <p:cNvSpPr txBox="1"/>
          <p:nvPr/>
        </p:nvSpPr>
        <p:spPr>
          <a:xfrm>
            <a:off x="10911535" y="64922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09 / 26</a:t>
            </a:r>
            <a:endParaRPr/>
          </a:p>
        </p:txBody>
      </p:sp>
      <p:sp>
        <p:nvSpPr>
          <p:cNvPr id="249" name="Google Shape;249;p9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BTS CIEL 2026  ·  Soutenance U6  ·  Noa Orand</a:t>
            </a:r>
            <a:endParaRPr/>
          </a:p>
        </p:txBody>
      </p:sp>
      <p:sp>
        <p:nvSpPr>
          <p:cNvPr id="250" name="Google Shape;250;p9"/>
          <p:cNvSpPr/>
          <p:nvPr/>
        </p:nvSpPr>
        <p:spPr>
          <a:xfrm>
            <a:off x="640080" y="1554480"/>
            <a:ext cx="5486400" cy="42976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22D3E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9"/>
          <p:cNvSpPr/>
          <p:nvPr/>
        </p:nvSpPr>
        <p:spPr>
          <a:xfrm>
            <a:off x="914400" y="1783080"/>
            <a:ext cx="365760" cy="365760"/>
          </a:xfrm>
          <a:prstGeom prst="ellipse">
            <a:avLst/>
          </a:prstGeom>
          <a:solidFill>
            <a:srgbClr val="22D3E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9"/>
          <p:cNvSpPr txBox="1"/>
          <p:nvPr/>
        </p:nvSpPr>
        <p:spPr>
          <a:xfrm>
            <a:off x="1508760" y="178308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Microphone I2S</a:t>
            </a:r>
            <a:endParaRPr/>
          </a:p>
        </p:txBody>
      </p:sp>
      <p:sp>
        <p:nvSpPr>
          <p:cNvPr id="253" name="Google Shape;253;p9"/>
          <p:cNvSpPr txBox="1"/>
          <p:nvPr/>
        </p:nvSpPr>
        <p:spPr>
          <a:xfrm>
            <a:off x="1508760" y="224028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3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INMP441 — capteur MEMS numérique</a:t>
            </a:r>
            <a:endParaRPr/>
          </a:p>
        </p:txBody>
      </p:sp>
      <p:sp>
        <p:nvSpPr>
          <p:cNvPr id="254" name="Google Shape;254;p9"/>
          <p:cNvSpPr txBox="1"/>
          <p:nvPr/>
        </p:nvSpPr>
        <p:spPr>
          <a:xfrm>
            <a:off x="914400" y="2788920"/>
            <a:ext cx="5120640" cy="2926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22D3EE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Fréquence théorique 16 kHz, effective ≈ 15,8 kHz</a:t>
            </a:r>
            <a:endParaRPr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22D3EE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Mono, 32 bits par échantillon</a:t>
            </a:r>
            <a:endParaRPr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22D3EE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Connexion ESP32 : SCK GPIO14, WS GPIO25, SD GPIO32</a:t>
            </a:r>
            <a:endParaRPr/>
          </a:p>
        </p:txBody>
      </p:sp>
      <p:sp>
        <p:nvSpPr>
          <p:cNvPr id="255" name="Google Shape;255;p9"/>
          <p:cNvSpPr/>
          <p:nvPr/>
        </p:nvSpPr>
        <p:spPr>
          <a:xfrm>
            <a:off x="6263640" y="1554480"/>
            <a:ext cx="5486400" cy="42976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879F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9"/>
          <p:cNvSpPr/>
          <p:nvPr/>
        </p:nvSpPr>
        <p:spPr>
          <a:xfrm>
            <a:off x="6537959" y="1783080"/>
            <a:ext cx="365760" cy="365760"/>
          </a:xfrm>
          <a:prstGeom prst="ellipse">
            <a:avLst/>
          </a:prstGeom>
          <a:solidFill>
            <a:srgbClr val="E879F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9"/>
          <p:cNvSpPr txBox="1"/>
          <p:nvPr/>
        </p:nvSpPr>
        <p:spPr>
          <a:xfrm>
            <a:off x="7132320" y="178308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Capteur de vibration</a:t>
            </a:r>
            <a:endParaRPr/>
          </a:p>
        </p:txBody>
      </p:sp>
      <p:sp>
        <p:nvSpPr>
          <p:cNvPr id="258" name="Google Shape;258;p9"/>
          <p:cNvSpPr txBox="1"/>
          <p:nvPr/>
        </p:nvSpPr>
        <p:spPr>
          <a:xfrm>
            <a:off x="7132320" y="224028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3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WTVB01-BT50 — module BLE 3 axes WIT Motion</a:t>
            </a:r>
            <a:endParaRPr/>
          </a:p>
        </p:txBody>
      </p:sp>
      <p:sp>
        <p:nvSpPr>
          <p:cNvPr id="259" name="Google Shape;259;p9"/>
          <p:cNvSpPr txBox="1"/>
          <p:nvPr/>
        </p:nvSpPr>
        <p:spPr>
          <a:xfrm>
            <a:off x="6537959" y="2788920"/>
            <a:ext cx="5120700" cy="79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Trame BLE de 28 octets, en-tête 0x55 0x61</a:t>
            </a:r>
            <a:endParaRPr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13 valeurs : VX/VY/VZ, ADX/ADY/ADZ, T°, DX/DY/DZ, HZX/HZY/HZZ</a:t>
            </a:r>
            <a:endParaRPr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lang="en-US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200</a:t>
            </a:r>
            <a:r>
              <a:rPr b="0" i="0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 Hz déclaré, ≈ 10 Hz effectif (conflit BLE / Wi-Fi sur ESP32)</a:t>
            </a:r>
            <a:endParaRPr/>
          </a:p>
        </p:txBody>
      </p:sp>
      <p:pic>
        <p:nvPicPr>
          <p:cNvPr descr="Chaine capteur.png" id="900" name="img_chaine_capteur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463640" y="3750000"/>
            <a:ext cx="5000000" cy="195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1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10"/>
          <p:cNvSpPr/>
          <p:nvPr/>
        </p:nvSpPr>
        <p:spPr>
          <a:xfrm>
            <a:off x="502920" y="530352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10"/>
          <p:cNvSpPr txBox="1"/>
          <p:nvPr/>
        </p:nvSpPr>
        <p:spPr>
          <a:xfrm>
            <a:off x="914400" y="384048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ESP32 — rôle de concentrateur</a:t>
            </a:r>
            <a:endParaRPr/>
          </a:p>
        </p:txBody>
      </p:sp>
      <p:sp>
        <p:nvSpPr>
          <p:cNvPr id="268" name="Google Shape;268;p10"/>
          <p:cNvSpPr txBox="1"/>
          <p:nvPr/>
        </p:nvSpPr>
        <p:spPr>
          <a:xfrm>
            <a:off x="10911535" y="64922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10 / 26</a:t>
            </a:r>
            <a:endParaRPr/>
          </a:p>
        </p:txBody>
      </p:sp>
      <p:sp>
        <p:nvSpPr>
          <p:cNvPr id="269" name="Google Shape;269;p10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BTS CIEL 2026  ·  Soutenance U6  ·  Noa Orand</a:t>
            </a:r>
            <a:endParaRPr/>
          </a:p>
        </p:txBody>
      </p:sp>
      <p:sp>
        <p:nvSpPr>
          <p:cNvPr id="270" name="Google Shape;270;p10"/>
          <p:cNvSpPr txBox="1"/>
          <p:nvPr/>
        </p:nvSpPr>
        <p:spPr>
          <a:xfrm>
            <a:off x="640080" y="155448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7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Un seul microcontrôleur orchestre l'ensemble de l'acquisition embarquée</a:t>
            </a:r>
            <a:endParaRPr/>
          </a:p>
        </p:txBody>
      </p:sp>
      <p:sp>
        <p:nvSpPr>
          <p:cNvPr id="271" name="Google Shape;271;p10"/>
          <p:cNvSpPr txBox="1"/>
          <p:nvPr/>
        </p:nvSpPr>
        <p:spPr>
          <a:xfrm>
            <a:off x="640080" y="2194560"/>
            <a:ext cx="10972800" cy="3383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6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Pilote l'interface I2S pour récupérer les échantillons audio en continu</a:t>
            </a:r>
            <a:endParaRPr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6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Ouvre une connexion BLE cliente vers le capteur de vibration et souscrit aux notifications</a:t>
            </a:r>
            <a:endParaRPr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6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Émet deux flux UDP distincts vers le PC opérateur (préfixes SOUND et VIB)</a:t>
            </a:r>
            <a:endParaRPr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6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Mutex FreeRTOS : sérialise les envois UDP entre tâche audio et callback BLE — pas d'entrelacement</a:t>
            </a:r>
            <a:endParaRPr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6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Reconnexion Wi-Fi et BLE automatique en cas de coupure réseau</a:t>
            </a:r>
            <a:endParaRPr/>
          </a:p>
        </p:txBody>
      </p:sp>
      <p:sp>
        <p:nvSpPr>
          <p:cNvPr id="272" name="Google Shape;272;p10"/>
          <p:cNvSpPr/>
          <p:nvPr/>
        </p:nvSpPr>
        <p:spPr>
          <a:xfrm>
            <a:off x="609455" y="5577855"/>
            <a:ext cx="10972800" cy="777300"/>
          </a:xfrm>
          <a:prstGeom prst="roundRect">
            <a:avLst>
              <a:gd fmla="val 16667" name="adj"/>
            </a:avLst>
          </a:prstGeom>
          <a:solidFill>
            <a:srgbClr val="EF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10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Optimisations firmware  ·  snprintf au lieu de String, APLL activée, buffers DMA × 8, MTU BLE 247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1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11"/>
          <p:cNvSpPr/>
          <p:nvPr/>
        </p:nvSpPr>
        <p:spPr>
          <a:xfrm>
            <a:off x="502920" y="530352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11"/>
          <p:cNvSpPr txBox="1"/>
          <p:nvPr/>
        </p:nvSpPr>
        <p:spPr>
          <a:xfrm>
            <a:off x="914400" y="384048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Architecture logicielle bout-en-bout</a:t>
            </a:r>
            <a:endParaRPr/>
          </a:p>
        </p:txBody>
      </p:sp>
      <p:sp>
        <p:nvSpPr>
          <p:cNvPr id="282" name="Google Shape;282;p11"/>
          <p:cNvSpPr txBox="1"/>
          <p:nvPr/>
        </p:nvSpPr>
        <p:spPr>
          <a:xfrm>
            <a:off x="10911535" y="64922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11 / 26</a:t>
            </a:r>
            <a:endParaRPr/>
          </a:p>
        </p:txBody>
      </p:sp>
      <p:sp>
        <p:nvSpPr>
          <p:cNvPr id="283" name="Google Shape;283;p11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BTS CIEL 2026  ·  Soutenance U6  ·  Noa Orand</a:t>
            </a:r>
            <a:endParaRPr/>
          </a:p>
        </p:txBody>
      </p:sp>
      <p:pic>
        <p:nvPicPr>
          <p:cNvPr descr="diag_deploiement.png" id="284" name="Google Shape;284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011680" y="1554480"/>
            <a:ext cx="8229600" cy="4114800"/>
          </a:xfrm>
          <a:prstGeom prst="rect">
            <a:avLst/>
          </a:prstGeom>
          <a:noFill/>
          <a:ln>
            <a:noFill/>
          </a:ln>
        </p:spPr>
      </p:pic>
      <p:sp>
        <p:nvSpPr>
          <p:cNvPr id="285" name="Google Shape;285;p11"/>
          <p:cNvSpPr txBox="1"/>
          <p:nvPr/>
        </p:nvSpPr>
        <p:spPr>
          <a:xfrm>
            <a:off x="640080" y="585216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4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Capteurs → ESP32 → Wi-Fi → serveurs Python → CSV → modèle IA Keras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1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12"/>
          <p:cNvSpPr/>
          <p:nvPr/>
        </p:nvSpPr>
        <p:spPr>
          <a:xfrm>
            <a:off x="502920" y="530352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12"/>
          <p:cNvSpPr txBox="1"/>
          <p:nvPr/>
        </p:nvSpPr>
        <p:spPr>
          <a:xfrm>
            <a:off x="914400" y="384048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Plan d'expérience — 110 sessions</a:t>
            </a:r>
            <a:endParaRPr/>
          </a:p>
        </p:txBody>
      </p:sp>
      <p:sp>
        <p:nvSpPr>
          <p:cNvPr id="294" name="Google Shape;294;p12"/>
          <p:cNvSpPr txBox="1"/>
          <p:nvPr/>
        </p:nvSpPr>
        <p:spPr>
          <a:xfrm>
            <a:off x="10911535" y="64922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12 / 26</a:t>
            </a:r>
            <a:endParaRPr/>
          </a:p>
        </p:txBody>
      </p:sp>
      <p:sp>
        <p:nvSpPr>
          <p:cNvPr id="295" name="Google Shape;295;p12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BTS CIEL 2026  ·  Soutenance U6  ·  Noa Orand</a:t>
            </a:r>
            <a:endParaRPr/>
          </a:p>
        </p:txBody>
      </p:sp>
      <p:sp>
        <p:nvSpPr>
          <p:cNvPr id="296" name="Google Shape;296;p12"/>
          <p:cNvSpPr txBox="1"/>
          <p:nvPr/>
        </p:nvSpPr>
        <p:spPr>
          <a:xfrm>
            <a:off x="640080" y="1554480"/>
            <a:ext cx="237744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000" u="none" cap="none" strike="noStrike">
                <a:solidFill>
                  <a:srgbClr val="22D3EE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/>
          </a:p>
        </p:txBody>
      </p:sp>
      <p:sp>
        <p:nvSpPr>
          <p:cNvPr id="297" name="Google Shape;297;p12"/>
          <p:cNvSpPr txBox="1"/>
          <p:nvPr/>
        </p:nvSpPr>
        <p:spPr>
          <a:xfrm>
            <a:off x="640080" y="2697480"/>
            <a:ext cx="23774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niveaux de tension</a:t>
            </a:r>
            <a:endParaRPr/>
          </a:p>
        </p:txBody>
      </p:sp>
      <p:sp>
        <p:nvSpPr>
          <p:cNvPr id="298" name="Google Shape;298;p12"/>
          <p:cNvSpPr txBox="1"/>
          <p:nvPr/>
        </p:nvSpPr>
        <p:spPr>
          <a:xfrm>
            <a:off x="3474720" y="1554480"/>
            <a:ext cx="237744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0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× 2</a:t>
            </a:r>
            <a:endParaRPr/>
          </a:p>
        </p:txBody>
      </p:sp>
      <p:sp>
        <p:nvSpPr>
          <p:cNvPr id="299" name="Google Shape;299;p12"/>
          <p:cNvSpPr txBox="1"/>
          <p:nvPr/>
        </p:nvSpPr>
        <p:spPr>
          <a:xfrm>
            <a:off x="3474720" y="2697480"/>
            <a:ext cx="23774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conditions de charge</a:t>
            </a:r>
            <a:endParaRPr/>
          </a:p>
        </p:txBody>
      </p:sp>
      <p:sp>
        <p:nvSpPr>
          <p:cNvPr id="300" name="Google Shape;300;p12"/>
          <p:cNvSpPr txBox="1"/>
          <p:nvPr/>
        </p:nvSpPr>
        <p:spPr>
          <a:xfrm>
            <a:off x="6309360" y="1554480"/>
            <a:ext cx="237744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000" u="none" cap="none" strike="noStrike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× 5</a:t>
            </a:r>
            <a:endParaRPr/>
          </a:p>
        </p:txBody>
      </p:sp>
      <p:sp>
        <p:nvSpPr>
          <p:cNvPr id="301" name="Google Shape;301;p12"/>
          <p:cNvSpPr txBox="1"/>
          <p:nvPr/>
        </p:nvSpPr>
        <p:spPr>
          <a:xfrm>
            <a:off x="6309360" y="2697480"/>
            <a:ext cx="23774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captures par couple</a:t>
            </a:r>
            <a:endParaRPr/>
          </a:p>
        </p:txBody>
      </p:sp>
      <p:sp>
        <p:nvSpPr>
          <p:cNvPr id="302" name="Google Shape;302;p12"/>
          <p:cNvSpPr txBox="1"/>
          <p:nvPr/>
        </p:nvSpPr>
        <p:spPr>
          <a:xfrm>
            <a:off x="9144000" y="1554480"/>
            <a:ext cx="237744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000" u="none" cap="none" strike="noStrike">
                <a:solidFill>
                  <a:srgbClr val="1A0B3D"/>
                </a:solidFill>
                <a:latin typeface="Calibri"/>
                <a:ea typeface="Calibri"/>
                <a:cs typeface="Calibri"/>
                <a:sym typeface="Calibri"/>
              </a:rPr>
              <a:t>= 110</a:t>
            </a:r>
            <a:endParaRPr/>
          </a:p>
        </p:txBody>
      </p:sp>
      <p:sp>
        <p:nvSpPr>
          <p:cNvPr id="303" name="Google Shape;303;p12"/>
          <p:cNvSpPr txBox="1"/>
          <p:nvPr/>
        </p:nvSpPr>
        <p:spPr>
          <a:xfrm>
            <a:off x="9144000" y="2697480"/>
            <a:ext cx="23774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sessions de 15 s</a:t>
            </a:r>
            <a:endParaRPr/>
          </a:p>
        </p:txBody>
      </p:sp>
      <p:sp>
        <p:nvSpPr>
          <p:cNvPr id="304" name="Google Shape;304;p12"/>
          <p:cNvSpPr txBox="1"/>
          <p:nvPr/>
        </p:nvSpPr>
        <p:spPr>
          <a:xfrm>
            <a:off x="640080" y="3840480"/>
            <a:ext cx="1097280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5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Niveaux : 0, 10, 20, ..., 100 % de la tension maximale propre à la condition</a:t>
            </a:r>
            <a:endParaRPr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5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Conditions : A_vide (sans frein) et B_frein (avec frein)</a:t>
            </a:r>
            <a:endParaRPr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5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Durée totale ≈ 1 h 50 de banc moteur, réalisée en deux phases pour limiter la dérive thermique</a:t>
            </a:r>
            <a:endParaRPr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5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Vérification rapide du dataset à mi-parcours avant la phase B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1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13"/>
          <p:cNvSpPr/>
          <p:nvPr/>
        </p:nvSpPr>
        <p:spPr>
          <a:xfrm>
            <a:off x="502920" y="530352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13"/>
          <p:cNvSpPr txBox="1"/>
          <p:nvPr/>
        </p:nvSpPr>
        <p:spPr>
          <a:xfrm>
            <a:off x="914400" y="384048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Pourquoi la tension et non la puissance ?</a:t>
            </a:r>
            <a:endParaRPr/>
          </a:p>
        </p:txBody>
      </p:sp>
      <p:sp>
        <p:nvSpPr>
          <p:cNvPr id="313" name="Google Shape;313;p13"/>
          <p:cNvSpPr txBox="1"/>
          <p:nvPr/>
        </p:nvSpPr>
        <p:spPr>
          <a:xfrm>
            <a:off x="10911535" y="64922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13 / 26</a:t>
            </a:r>
            <a:endParaRPr/>
          </a:p>
        </p:txBody>
      </p:sp>
      <p:sp>
        <p:nvSpPr>
          <p:cNvPr id="314" name="Google Shape;314;p13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BTS CIEL 2026  ·  Soutenance U6  ·  Noa Orand</a:t>
            </a:r>
            <a:endParaRPr/>
          </a:p>
        </p:txBody>
      </p:sp>
      <p:sp>
        <p:nvSpPr>
          <p:cNvPr id="315" name="Google Shape;315;p13"/>
          <p:cNvSpPr txBox="1"/>
          <p:nvPr/>
        </p:nvSpPr>
        <p:spPr>
          <a:xfrm>
            <a:off x="640080" y="155448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7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Décision d'ingénierie justifiée par la disponibilité matérielle</a:t>
            </a:r>
            <a:endParaRPr/>
          </a:p>
        </p:txBody>
      </p:sp>
      <p:sp>
        <p:nvSpPr>
          <p:cNvPr id="316" name="Google Shape;316;p13"/>
          <p:cNvSpPr txBox="1"/>
          <p:nvPr/>
        </p:nvSpPr>
        <p:spPr>
          <a:xfrm>
            <a:off x="640080" y="2194560"/>
            <a:ext cx="10972800" cy="32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6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P = U × I exigerait simultanément tension et courant — pas de capteur d'intensité disponible</a:t>
            </a:r>
            <a:endParaRPr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6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La tension reste une fonction monotone de la puissance pour une charge fixée</a:t>
            </a:r>
            <a:endParaRPr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6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C'est donc un proxy honnête de la puissance, suffisant pour caractériser l'effort moteur</a:t>
            </a:r>
            <a:endParaRPr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6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Approche relative par condition : chaque condition a sa propre tension maximale = 100 %</a:t>
            </a:r>
            <a:endParaRPr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6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Normalisation : label_apprentissage = pourcentage / 100,0</a:t>
            </a:r>
            <a:endParaRPr/>
          </a:p>
        </p:txBody>
      </p:sp>
      <p:sp>
        <p:nvSpPr>
          <p:cNvPr id="317" name="Google Shape;317;p13"/>
          <p:cNvSpPr/>
          <p:nvPr/>
        </p:nvSpPr>
        <p:spPr>
          <a:xfrm>
            <a:off x="640080" y="5577840"/>
            <a:ext cx="10972800" cy="868680"/>
          </a:xfrm>
          <a:prstGeom prst="roundRect">
            <a:avLst>
              <a:gd fmla="val 16667" name="adj"/>
            </a:avLst>
          </a:prstGeom>
          <a:solidFill>
            <a:srgbClr val="EF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13"/>
          <p:cNvSpPr txBox="1"/>
          <p:nvPr/>
        </p:nvSpPr>
        <p:spPr>
          <a:xfrm>
            <a:off x="822960" y="585216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3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Perspective : ajout d'un capteur de courant (effet Hall) permettrait la mesure directe de la puissance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rad_bg.jpg" id="324" name="Google Shape;324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25" name="Google Shape;325;p14"/>
          <p:cNvSpPr txBox="1"/>
          <p:nvPr/>
        </p:nvSpPr>
        <p:spPr>
          <a:xfrm>
            <a:off x="457200" y="2286000"/>
            <a:ext cx="112471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US" sz="2200" u="none" cap="none" strike="noStrike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Partie 2</a:t>
            </a:r>
            <a:endParaRPr/>
          </a:p>
        </p:txBody>
      </p:sp>
      <p:sp>
        <p:nvSpPr>
          <p:cNvPr id="326" name="Google Shape;326;p14"/>
          <p:cNvSpPr txBox="1"/>
          <p:nvPr/>
        </p:nvSpPr>
        <p:spPr>
          <a:xfrm>
            <a:off x="457200" y="3017520"/>
            <a:ext cx="112471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Ma contribution individuelle</a:t>
            </a:r>
            <a:endParaRPr/>
          </a:p>
        </p:txBody>
      </p:sp>
      <p:sp>
        <p:nvSpPr>
          <p:cNvPr id="327" name="Google Shape;327;p14"/>
          <p:cNvSpPr txBox="1"/>
          <p:nvPr/>
        </p:nvSpPr>
        <p:spPr>
          <a:xfrm>
            <a:off x="457200" y="4297680"/>
            <a:ext cx="112471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800" u="none" cap="none" strike="noStrike">
                <a:solidFill>
                  <a:srgbClr val="C4B5FD"/>
                </a:solidFill>
                <a:latin typeface="Calibri"/>
                <a:ea typeface="Calibri"/>
                <a:cs typeface="Calibri"/>
                <a:sym typeface="Calibri"/>
              </a:rPr>
              <a:t>Pipeline d'acquisition logicielle et modèle d'intelligence artificielle.</a:t>
            </a:r>
            <a:endParaRPr/>
          </a:p>
        </p:txBody>
      </p:sp>
      <p:sp>
        <p:nvSpPr>
          <p:cNvPr id="328" name="Google Shape;328;p14"/>
          <p:cNvSpPr/>
          <p:nvPr/>
        </p:nvSpPr>
        <p:spPr>
          <a:xfrm>
            <a:off x="5730087" y="5212080"/>
            <a:ext cx="73152" cy="73152"/>
          </a:xfrm>
          <a:prstGeom prst="ellipse">
            <a:avLst/>
          </a:prstGeom>
          <a:solidFill>
            <a:srgbClr val="22D3E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14"/>
          <p:cNvSpPr/>
          <p:nvPr/>
        </p:nvSpPr>
        <p:spPr>
          <a:xfrm>
            <a:off x="5958687" y="5212080"/>
            <a:ext cx="73152" cy="73152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14"/>
          <p:cNvSpPr/>
          <p:nvPr/>
        </p:nvSpPr>
        <p:spPr>
          <a:xfrm>
            <a:off x="6187287" y="5212080"/>
            <a:ext cx="73152" cy="73152"/>
          </a:xfrm>
          <a:prstGeom prst="ellipse">
            <a:avLst/>
          </a:prstGeom>
          <a:solidFill>
            <a:srgbClr val="E879F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1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15"/>
          <p:cNvSpPr/>
          <p:nvPr/>
        </p:nvSpPr>
        <p:spPr>
          <a:xfrm>
            <a:off x="502920" y="530352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15"/>
          <p:cNvSpPr txBox="1"/>
          <p:nvPr/>
        </p:nvSpPr>
        <p:spPr>
          <a:xfrm>
            <a:off x="914400" y="384048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Périmètre de ma contribution</a:t>
            </a:r>
            <a:endParaRPr/>
          </a:p>
        </p:txBody>
      </p:sp>
      <p:sp>
        <p:nvSpPr>
          <p:cNvPr id="339" name="Google Shape;339;p15"/>
          <p:cNvSpPr txBox="1"/>
          <p:nvPr/>
        </p:nvSpPr>
        <p:spPr>
          <a:xfrm>
            <a:off x="10911535" y="64922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15 / 26</a:t>
            </a:r>
            <a:endParaRPr/>
          </a:p>
        </p:txBody>
      </p:sp>
      <p:sp>
        <p:nvSpPr>
          <p:cNvPr id="340" name="Google Shape;340;p1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BTS CIEL 2026  ·  Soutenance U6  ·  Noa Orand</a:t>
            </a:r>
            <a:endParaRPr/>
          </a:p>
        </p:txBody>
      </p:sp>
      <p:sp>
        <p:nvSpPr>
          <p:cNvPr id="341" name="Google Shape;341;p15"/>
          <p:cNvSpPr txBox="1"/>
          <p:nvPr/>
        </p:nvSpPr>
        <p:spPr>
          <a:xfrm>
            <a:off x="640080" y="155448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7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Deux briques fonctionnelles complémentaires de la chaîne</a:t>
            </a:r>
            <a:endParaRPr/>
          </a:p>
        </p:txBody>
      </p:sp>
      <p:sp>
        <p:nvSpPr>
          <p:cNvPr id="342" name="Google Shape;342;p15"/>
          <p:cNvSpPr/>
          <p:nvPr/>
        </p:nvSpPr>
        <p:spPr>
          <a:xfrm>
            <a:off x="640080" y="2286000"/>
            <a:ext cx="5486400" cy="36576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22D3E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15"/>
          <p:cNvSpPr/>
          <p:nvPr/>
        </p:nvSpPr>
        <p:spPr>
          <a:xfrm>
            <a:off x="868680" y="2514600"/>
            <a:ext cx="457200" cy="457200"/>
          </a:xfrm>
          <a:prstGeom prst="ellipse">
            <a:avLst/>
          </a:prstGeom>
          <a:solidFill>
            <a:srgbClr val="22D3E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15"/>
          <p:cNvSpPr txBox="1"/>
          <p:nvPr/>
        </p:nvSpPr>
        <p:spPr>
          <a:xfrm>
            <a:off x="868680" y="2569464"/>
            <a:ext cx="457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345" name="Google Shape;345;p15"/>
          <p:cNvSpPr txBox="1"/>
          <p:nvPr/>
        </p:nvSpPr>
        <p:spPr>
          <a:xfrm>
            <a:off x="1508760" y="251460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Pipeline d'acquisition</a:t>
            </a:r>
            <a:endParaRPr/>
          </a:p>
        </p:txBody>
      </p:sp>
      <p:sp>
        <p:nvSpPr>
          <p:cNvPr id="346" name="Google Shape;346;p15"/>
          <p:cNvSpPr txBox="1"/>
          <p:nvPr/>
        </p:nvSpPr>
        <p:spPr>
          <a:xfrm>
            <a:off x="914400" y="3200400"/>
            <a:ext cx="5029200" cy="2560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22D3EE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Serveur TCP de métadonnées (port 9090)</a:t>
            </a:r>
            <a:endParaRPr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22D3EE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Client UDP de données capteurs (port 9091)</a:t>
            </a:r>
            <a:endParaRPr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22D3EE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Format CSV maître metadata_captures_moteur.csv</a:t>
            </a:r>
            <a:endParaRPr/>
          </a:p>
        </p:txBody>
      </p:sp>
      <p:sp>
        <p:nvSpPr>
          <p:cNvPr id="347" name="Google Shape;347;p15"/>
          <p:cNvSpPr/>
          <p:nvPr/>
        </p:nvSpPr>
        <p:spPr>
          <a:xfrm>
            <a:off x="6263640" y="2286000"/>
            <a:ext cx="5486400" cy="36576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879F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15"/>
          <p:cNvSpPr/>
          <p:nvPr/>
        </p:nvSpPr>
        <p:spPr>
          <a:xfrm>
            <a:off x="6492240" y="2514600"/>
            <a:ext cx="457200" cy="457200"/>
          </a:xfrm>
          <a:prstGeom prst="ellipse">
            <a:avLst/>
          </a:prstGeom>
          <a:solidFill>
            <a:srgbClr val="E879F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15"/>
          <p:cNvSpPr txBox="1"/>
          <p:nvPr/>
        </p:nvSpPr>
        <p:spPr>
          <a:xfrm>
            <a:off x="6492240" y="2569464"/>
            <a:ext cx="457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350" name="Google Shape;350;p15"/>
          <p:cNvSpPr txBox="1"/>
          <p:nvPr/>
        </p:nvSpPr>
        <p:spPr>
          <a:xfrm>
            <a:off x="7132320" y="251460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Modèle IA double branche</a:t>
            </a:r>
            <a:endParaRPr/>
          </a:p>
        </p:txBody>
      </p:sp>
      <p:sp>
        <p:nvSpPr>
          <p:cNvPr id="351" name="Google Shape;351;p15"/>
          <p:cNvSpPr txBox="1"/>
          <p:nvPr/>
        </p:nvSpPr>
        <p:spPr>
          <a:xfrm>
            <a:off x="6537960" y="3200400"/>
            <a:ext cx="5029200" cy="2560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Architecture CNN à deux branches (son + vibration)</a:t>
            </a:r>
            <a:endParaRPr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Mel-spectrogrammes en entrée, sortie en %</a:t>
            </a:r>
            <a:endParaRPr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Augmentations + split anti-fuite par capture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1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16"/>
          <p:cNvSpPr/>
          <p:nvPr/>
        </p:nvSpPr>
        <p:spPr>
          <a:xfrm>
            <a:off x="502920" y="530352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16"/>
          <p:cNvSpPr txBox="1"/>
          <p:nvPr/>
        </p:nvSpPr>
        <p:spPr>
          <a:xfrm>
            <a:off x="914400" y="384048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Serveur TCP de métadonnées  ·  port 9090</a:t>
            </a:r>
            <a:endParaRPr/>
          </a:p>
        </p:txBody>
      </p:sp>
      <p:sp>
        <p:nvSpPr>
          <p:cNvPr id="360" name="Google Shape;360;p16"/>
          <p:cNvSpPr txBox="1"/>
          <p:nvPr/>
        </p:nvSpPr>
        <p:spPr>
          <a:xfrm>
            <a:off x="10911535" y="64922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16 / 26</a:t>
            </a:r>
            <a:endParaRPr/>
          </a:p>
        </p:txBody>
      </p:sp>
      <p:sp>
        <p:nvSpPr>
          <p:cNvPr id="361" name="Google Shape;361;p16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BTS CIEL 2026  ·  Soutenance U6  ·  Noa Orand</a:t>
            </a:r>
            <a:endParaRPr/>
          </a:p>
        </p:txBody>
      </p:sp>
      <p:sp>
        <p:nvSpPr>
          <p:cNvPr id="362" name="Google Shape;362;p16"/>
          <p:cNvSpPr txBox="1"/>
          <p:nvPr/>
        </p:nvSpPr>
        <p:spPr>
          <a:xfrm>
            <a:off x="640080" y="155448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5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serveurTCP_metadonnes_moteur.py — point d'entrée des métadonnées de session</a:t>
            </a:r>
            <a:endParaRPr/>
          </a:p>
        </p:txBody>
      </p:sp>
      <p:sp>
        <p:nvSpPr>
          <p:cNvPr id="363" name="Google Shape;363;p16"/>
          <p:cNvSpPr txBox="1"/>
          <p:nvPr/>
        </p:nvSpPr>
        <p:spPr>
          <a:xfrm>
            <a:off x="640080" y="2194560"/>
            <a:ext cx="10972800" cy="4206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5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Mode bloquant à connexion courte : 1 connexion = 1 session</a:t>
            </a:r>
            <a:endParaRPr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5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L'IHM envoie un marqueur START suivi d'une ligne CSV à 5 champs</a:t>
            </a:r>
            <a:endParaRPr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5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5 champs : condition_charge, durée, fréquence_son, fréquence_vibration, niveau_tension</a:t>
            </a:r>
            <a:endParaRPr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5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Normalisation de condition_charge via dictionnaire (A_vide / B_frein canoniques)</a:t>
            </a:r>
            <a:endParaRPr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5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Calcul automatique de l'identifiant : get_next_id sur nombre de lignes existantes</a:t>
            </a:r>
            <a:endParaRPr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5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Écriture d'une ligne complète dans metadata_captures_moteur.csv</a:t>
            </a:r>
            <a:endParaRPr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5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Génère les noms son_N.csv et vib_N.csv pour cohérence avec le client UDP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1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17"/>
          <p:cNvSpPr/>
          <p:nvPr/>
        </p:nvSpPr>
        <p:spPr>
          <a:xfrm>
            <a:off x="502920" y="530352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17"/>
          <p:cNvSpPr txBox="1"/>
          <p:nvPr/>
        </p:nvSpPr>
        <p:spPr>
          <a:xfrm>
            <a:off x="914400" y="384048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Client UDP de données  ·  port 9091</a:t>
            </a:r>
            <a:endParaRPr/>
          </a:p>
        </p:txBody>
      </p:sp>
      <p:sp>
        <p:nvSpPr>
          <p:cNvPr id="372" name="Google Shape;372;p17"/>
          <p:cNvSpPr txBox="1"/>
          <p:nvPr/>
        </p:nvSpPr>
        <p:spPr>
          <a:xfrm>
            <a:off x="10911535" y="64922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17 / 26</a:t>
            </a:r>
            <a:endParaRPr/>
          </a:p>
        </p:txBody>
      </p:sp>
      <p:sp>
        <p:nvSpPr>
          <p:cNvPr id="373" name="Google Shape;373;p17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BTS CIEL 2026  ·  Soutenance U6  ·  Noa Orand</a:t>
            </a:r>
            <a:endParaRPr/>
          </a:p>
        </p:txBody>
      </p:sp>
      <p:sp>
        <p:nvSpPr>
          <p:cNvPr id="374" name="Google Shape;374;p17"/>
          <p:cNvSpPr txBox="1"/>
          <p:nvPr/>
        </p:nvSpPr>
        <p:spPr>
          <a:xfrm>
            <a:off x="640080" y="155448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5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clientUDP_données.py — réception haut débit des signaux capteurs</a:t>
            </a:r>
            <a:endParaRPr/>
          </a:p>
        </p:txBody>
      </p:sp>
      <p:sp>
        <p:nvSpPr>
          <p:cNvPr id="375" name="Google Shape;375;p17"/>
          <p:cNvSpPr txBox="1"/>
          <p:nvPr/>
        </p:nvSpPr>
        <p:spPr>
          <a:xfrm>
            <a:off x="640080" y="2194560"/>
            <a:ext cx="10972800" cy="4206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5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Buffer UDP agrandi à 8 Mo pour éviter les pertes à haute fréquence</a:t>
            </a:r>
            <a:endParaRPr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5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Lit l'identifiant de session courant depuis le fichier maître TCP</a:t>
            </a:r>
            <a:endParaRPr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5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Détecte automatiquement le début et la fin d'une capture (timeout 3 s d'inactivité)</a:t>
            </a:r>
            <a:endParaRPr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5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Parse 2 formats de trames : SOUND,ts,amp1,amp2,…  et  VIB,ts,VX,VY,…,HZZ</a:t>
            </a:r>
            <a:endParaRPr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5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Trames VIB strictement contrôlées : 15 champs exacts sinon rejet (défense en profondeur)</a:t>
            </a:r>
            <a:endParaRPr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5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Reconstruction des timestamps son à partir de la fréquence d'échantillonnage déclarée</a:t>
            </a:r>
            <a:endParaRPr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5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Estimation de la fréquence effective + taux de perte affichés en fin de capture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0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p18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18"/>
          <p:cNvSpPr/>
          <p:nvPr/>
        </p:nvSpPr>
        <p:spPr>
          <a:xfrm>
            <a:off x="502920" y="530352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18"/>
          <p:cNvSpPr txBox="1"/>
          <p:nvPr/>
        </p:nvSpPr>
        <p:spPr>
          <a:xfrm>
            <a:off x="914400" y="384048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Format du fichier maître metadata_captures_moteur.csv</a:t>
            </a:r>
            <a:endParaRPr/>
          </a:p>
        </p:txBody>
      </p:sp>
      <p:sp>
        <p:nvSpPr>
          <p:cNvPr id="384" name="Google Shape;384;p18"/>
          <p:cNvSpPr txBox="1"/>
          <p:nvPr/>
        </p:nvSpPr>
        <p:spPr>
          <a:xfrm>
            <a:off x="10911535" y="64922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18 / 26</a:t>
            </a:r>
            <a:endParaRPr/>
          </a:p>
        </p:txBody>
      </p:sp>
      <p:sp>
        <p:nvSpPr>
          <p:cNvPr id="385" name="Google Shape;385;p18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BTS CIEL 2026  ·  Soutenance U6  ·  Noa Orand</a:t>
            </a:r>
            <a:endParaRPr/>
          </a:p>
        </p:txBody>
      </p:sp>
      <p:sp>
        <p:nvSpPr>
          <p:cNvPr id="386" name="Google Shape;386;p18"/>
          <p:cNvSpPr txBox="1"/>
          <p:nvPr/>
        </p:nvSpPr>
        <p:spPr>
          <a:xfrm>
            <a:off x="640080" y="155448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9 colonnes — contrat de données partagé entre IHM, acquisition et modèle IA</a:t>
            </a:r>
            <a:endParaRPr/>
          </a:p>
        </p:txBody>
      </p:sp>
      <p:sp>
        <p:nvSpPr>
          <p:cNvPr id="387" name="Google Shape;387;p18"/>
          <p:cNvSpPr/>
          <p:nvPr/>
        </p:nvSpPr>
        <p:spPr>
          <a:xfrm>
            <a:off x="640080" y="2103120"/>
            <a:ext cx="1097280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18"/>
          <p:cNvSpPr txBox="1"/>
          <p:nvPr/>
        </p:nvSpPr>
        <p:spPr>
          <a:xfrm>
            <a:off x="822960" y="2157984"/>
            <a:ext cx="4114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8B5CF6"/>
                </a:solidFill>
                <a:latin typeface="Consolas"/>
                <a:ea typeface="Consolas"/>
                <a:cs typeface="Consolas"/>
                <a:sym typeface="Consolas"/>
              </a:rPr>
              <a:t>id_session</a:t>
            </a:r>
            <a:endParaRPr/>
          </a:p>
        </p:txBody>
      </p:sp>
      <p:sp>
        <p:nvSpPr>
          <p:cNvPr id="389" name="Google Shape;389;p18"/>
          <p:cNvSpPr txBox="1"/>
          <p:nvPr/>
        </p:nvSpPr>
        <p:spPr>
          <a:xfrm>
            <a:off x="5029200" y="2157984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identifiant unique auto-incrémenté</a:t>
            </a:r>
            <a:endParaRPr/>
          </a:p>
        </p:txBody>
      </p:sp>
      <p:sp>
        <p:nvSpPr>
          <p:cNvPr id="390" name="Google Shape;390;p18"/>
          <p:cNvSpPr/>
          <p:nvPr/>
        </p:nvSpPr>
        <p:spPr>
          <a:xfrm>
            <a:off x="640080" y="2514600"/>
            <a:ext cx="10972800" cy="384048"/>
          </a:xfrm>
          <a:prstGeom prst="roundRect">
            <a:avLst>
              <a:gd fmla="val 16667" name="adj"/>
            </a:avLst>
          </a:prstGeom>
          <a:solidFill>
            <a:srgbClr val="F3F0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18"/>
          <p:cNvSpPr txBox="1"/>
          <p:nvPr/>
        </p:nvSpPr>
        <p:spPr>
          <a:xfrm>
            <a:off x="822960" y="2569464"/>
            <a:ext cx="4114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8B5CF6"/>
                </a:solidFill>
                <a:latin typeface="Consolas"/>
                <a:ea typeface="Consolas"/>
                <a:cs typeface="Consolas"/>
                <a:sym typeface="Consolas"/>
              </a:rPr>
              <a:t>time_session</a:t>
            </a:r>
            <a:endParaRPr/>
          </a:p>
        </p:txBody>
      </p:sp>
      <p:sp>
        <p:nvSpPr>
          <p:cNvPr id="392" name="Google Shape;392;p18"/>
          <p:cNvSpPr txBox="1"/>
          <p:nvPr/>
        </p:nvSpPr>
        <p:spPr>
          <a:xfrm>
            <a:off x="5029200" y="2569464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horodatage  ·  YYYY-MM-DD_HH:MM</a:t>
            </a:r>
            <a:endParaRPr/>
          </a:p>
        </p:txBody>
      </p:sp>
      <p:sp>
        <p:nvSpPr>
          <p:cNvPr id="393" name="Google Shape;393;p18"/>
          <p:cNvSpPr/>
          <p:nvPr/>
        </p:nvSpPr>
        <p:spPr>
          <a:xfrm>
            <a:off x="640080" y="2926080"/>
            <a:ext cx="1097280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18"/>
          <p:cNvSpPr txBox="1"/>
          <p:nvPr/>
        </p:nvSpPr>
        <p:spPr>
          <a:xfrm>
            <a:off x="822960" y="2980944"/>
            <a:ext cx="4114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8B5CF6"/>
                </a:solidFill>
                <a:latin typeface="Consolas"/>
                <a:ea typeface="Consolas"/>
                <a:cs typeface="Consolas"/>
                <a:sym typeface="Consolas"/>
              </a:rPr>
              <a:t>condition_charge</a:t>
            </a:r>
            <a:endParaRPr/>
          </a:p>
        </p:txBody>
      </p:sp>
      <p:sp>
        <p:nvSpPr>
          <p:cNvPr id="395" name="Google Shape;395;p18"/>
          <p:cNvSpPr txBox="1"/>
          <p:nvPr/>
        </p:nvSpPr>
        <p:spPr>
          <a:xfrm>
            <a:off x="5029200" y="2980944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A_vide  ou  B_frein (canonique)</a:t>
            </a:r>
            <a:endParaRPr/>
          </a:p>
        </p:txBody>
      </p:sp>
      <p:sp>
        <p:nvSpPr>
          <p:cNvPr id="396" name="Google Shape;396;p18"/>
          <p:cNvSpPr/>
          <p:nvPr/>
        </p:nvSpPr>
        <p:spPr>
          <a:xfrm>
            <a:off x="640080" y="3337560"/>
            <a:ext cx="10972800" cy="384048"/>
          </a:xfrm>
          <a:prstGeom prst="roundRect">
            <a:avLst>
              <a:gd fmla="val 16667" name="adj"/>
            </a:avLst>
          </a:prstGeom>
          <a:solidFill>
            <a:srgbClr val="F3F0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18"/>
          <p:cNvSpPr txBox="1"/>
          <p:nvPr/>
        </p:nvSpPr>
        <p:spPr>
          <a:xfrm>
            <a:off x="822960" y="3392424"/>
            <a:ext cx="4114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8B5CF6"/>
                </a:solidFill>
                <a:latin typeface="Consolas"/>
                <a:ea typeface="Consolas"/>
                <a:cs typeface="Consolas"/>
                <a:sym typeface="Consolas"/>
              </a:rPr>
              <a:t>duree</a:t>
            </a:r>
            <a:endParaRPr/>
          </a:p>
        </p:txBody>
      </p:sp>
      <p:sp>
        <p:nvSpPr>
          <p:cNvPr id="398" name="Google Shape;398;p18"/>
          <p:cNvSpPr txBox="1"/>
          <p:nvPr/>
        </p:nvSpPr>
        <p:spPr>
          <a:xfrm>
            <a:off x="5029200" y="3392424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durée nominale  ·  15 s par défaut</a:t>
            </a:r>
            <a:endParaRPr/>
          </a:p>
        </p:txBody>
      </p:sp>
      <p:sp>
        <p:nvSpPr>
          <p:cNvPr id="399" name="Google Shape;399;p18"/>
          <p:cNvSpPr/>
          <p:nvPr/>
        </p:nvSpPr>
        <p:spPr>
          <a:xfrm>
            <a:off x="640080" y="3749040"/>
            <a:ext cx="1097280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p18"/>
          <p:cNvSpPr txBox="1"/>
          <p:nvPr/>
        </p:nvSpPr>
        <p:spPr>
          <a:xfrm>
            <a:off x="822960" y="3803904"/>
            <a:ext cx="4114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8B5CF6"/>
                </a:solidFill>
                <a:latin typeface="Consolas"/>
                <a:ea typeface="Consolas"/>
                <a:cs typeface="Consolas"/>
                <a:sym typeface="Consolas"/>
              </a:rPr>
              <a:t>frequence_son</a:t>
            </a:r>
            <a:endParaRPr/>
          </a:p>
        </p:txBody>
      </p:sp>
      <p:sp>
        <p:nvSpPr>
          <p:cNvPr id="401" name="Google Shape;401;p18"/>
          <p:cNvSpPr txBox="1"/>
          <p:nvPr/>
        </p:nvSpPr>
        <p:spPr>
          <a:xfrm>
            <a:off x="5029200" y="3803904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fréquence d'échantillonnage déclarée son</a:t>
            </a:r>
            <a:endParaRPr/>
          </a:p>
        </p:txBody>
      </p:sp>
      <p:sp>
        <p:nvSpPr>
          <p:cNvPr id="402" name="Google Shape;402;p18"/>
          <p:cNvSpPr/>
          <p:nvPr/>
        </p:nvSpPr>
        <p:spPr>
          <a:xfrm>
            <a:off x="640080" y="4160520"/>
            <a:ext cx="10972800" cy="384048"/>
          </a:xfrm>
          <a:prstGeom prst="roundRect">
            <a:avLst>
              <a:gd fmla="val 16667" name="adj"/>
            </a:avLst>
          </a:prstGeom>
          <a:solidFill>
            <a:srgbClr val="F3F0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18"/>
          <p:cNvSpPr txBox="1"/>
          <p:nvPr/>
        </p:nvSpPr>
        <p:spPr>
          <a:xfrm>
            <a:off x="822960" y="4215384"/>
            <a:ext cx="4114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8B5CF6"/>
                </a:solidFill>
                <a:latin typeface="Consolas"/>
                <a:ea typeface="Consolas"/>
                <a:cs typeface="Consolas"/>
                <a:sym typeface="Consolas"/>
              </a:rPr>
              <a:t>frequence_vibration</a:t>
            </a:r>
            <a:endParaRPr/>
          </a:p>
        </p:txBody>
      </p:sp>
      <p:sp>
        <p:nvSpPr>
          <p:cNvPr id="404" name="Google Shape;404;p18"/>
          <p:cNvSpPr txBox="1"/>
          <p:nvPr/>
        </p:nvSpPr>
        <p:spPr>
          <a:xfrm>
            <a:off x="5029200" y="4215384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fréquence déclarée vibration</a:t>
            </a:r>
            <a:endParaRPr/>
          </a:p>
        </p:txBody>
      </p:sp>
      <p:sp>
        <p:nvSpPr>
          <p:cNvPr id="405" name="Google Shape;405;p18"/>
          <p:cNvSpPr/>
          <p:nvPr/>
        </p:nvSpPr>
        <p:spPr>
          <a:xfrm>
            <a:off x="640080" y="4572000"/>
            <a:ext cx="1097280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18"/>
          <p:cNvSpPr txBox="1"/>
          <p:nvPr/>
        </p:nvSpPr>
        <p:spPr>
          <a:xfrm>
            <a:off x="822960" y="4626864"/>
            <a:ext cx="4114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8B5CF6"/>
                </a:solidFill>
                <a:latin typeface="Consolas"/>
                <a:ea typeface="Consolas"/>
                <a:cs typeface="Consolas"/>
                <a:sym typeface="Consolas"/>
              </a:rPr>
              <a:t>fichier_son</a:t>
            </a:r>
            <a:endParaRPr/>
          </a:p>
        </p:txBody>
      </p:sp>
      <p:sp>
        <p:nvSpPr>
          <p:cNvPr id="407" name="Google Shape;407;p18"/>
          <p:cNvSpPr txBox="1"/>
          <p:nvPr/>
        </p:nvSpPr>
        <p:spPr>
          <a:xfrm>
            <a:off x="5029200" y="4626864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son_N.csv (lié à id_session)</a:t>
            </a:r>
            <a:endParaRPr/>
          </a:p>
        </p:txBody>
      </p:sp>
      <p:sp>
        <p:nvSpPr>
          <p:cNvPr id="408" name="Google Shape;408;p18"/>
          <p:cNvSpPr/>
          <p:nvPr/>
        </p:nvSpPr>
        <p:spPr>
          <a:xfrm>
            <a:off x="640080" y="4983480"/>
            <a:ext cx="10972800" cy="384048"/>
          </a:xfrm>
          <a:prstGeom prst="roundRect">
            <a:avLst>
              <a:gd fmla="val 16667" name="adj"/>
            </a:avLst>
          </a:prstGeom>
          <a:solidFill>
            <a:srgbClr val="F3F0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18"/>
          <p:cNvSpPr txBox="1"/>
          <p:nvPr/>
        </p:nvSpPr>
        <p:spPr>
          <a:xfrm>
            <a:off x="822960" y="5038344"/>
            <a:ext cx="4114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8B5CF6"/>
                </a:solidFill>
                <a:latin typeface="Consolas"/>
                <a:ea typeface="Consolas"/>
                <a:cs typeface="Consolas"/>
                <a:sym typeface="Consolas"/>
              </a:rPr>
              <a:t>fichier_vibration</a:t>
            </a:r>
            <a:endParaRPr/>
          </a:p>
        </p:txBody>
      </p:sp>
      <p:sp>
        <p:nvSpPr>
          <p:cNvPr id="410" name="Google Shape;410;p18"/>
          <p:cNvSpPr txBox="1"/>
          <p:nvPr/>
        </p:nvSpPr>
        <p:spPr>
          <a:xfrm>
            <a:off x="5029200" y="5038344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vib_N.csv (lié à id_session)</a:t>
            </a:r>
            <a:endParaRPr/>
          </a:p>
        </p:txBody>
      </p:sp>
      <p:sp>
        <p:nvSpPr>
          <p:cNvPr id="411" name="Google Shape;411;p18"/>
          <p:cNvSpPr/>
          <p:nvPr/>
        </p:nvSpPr>
        <p:spPr>
          <a:xfrm>
            <a:off x="640080" y="5394960"/>
            <a:ext cx="1097280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18"/>
          <p:cNvSpPr txBox="1"/>
          <p:nvPr/>
        </p:nvSpPr>
        <p:spPr>
          <a:xfrm>
            <a:off x="822960" y="5449824"/>
            <a:ext cx="4114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8B5CF6"/>
                </a:solidFill>
                <a:latin typeface="Consolas"/>
                <a:ea typeface="Consolas"/>
                <a:cs typeface="Consolas"/>
                <a:sym typeface="Consolas"/>
              </a:rPr>
              <a:t>niveau_tension</a:t>
            </a:r>
            <a:endParaRPr/>
          </a:p>
        </p:txBody>
      </p:sp>
      <p:sp>
        <p:nvSpPr>
          <p:cNvPr id="413" name="Google Shape;413;p18"/>
          <p:cNvSpPr txBox="1"/>
          <p:nvPr/>
        </p:nvSpPr>
        <p:spPr>
          <a:xfrm>
            <a:off x="5029200" y="5449824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label IA en % de la tension max [0, 100]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8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p1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19"/>
          <p:cNvSpPr/>
          <p:nvPr/>
        </p:nvSpPr>
        <p:spPr>
          <a:xfrm>
            <a:off x="502920" y="530352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19"/>
          <p:cNvSpPr txBox="1"/>
          <p:nvPr/>
        </p:nvSpPr>
        <p:spPr>
          <a:xfrm>
            <a:off x="914400" y="384048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Pourquoi une architecture double branche ?</a:t>
            </a:r>
            <a:endParaRPr/>
          </a:p>
        </p:txBody>
      </p:sp>
      <p:sp>
        <p:nvSpPr>
          <p:cNvPr id="422" name="Google Shape;422;p19"/>
          <p:cNvSpPr txBox="1"/>
          <p:nvPr/>
        </p:nvSpPr>
        <p:spPr>
          <a:xfrm>
            <a:off x="10911535" y="64922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19 / 26</a:t>
            </a:r>
            <a:endParaRPr/>
          </a:p>
        </p:txBody>
      </p:sp>
      <p:sp>
        <p:nvSpPr>
          <p:cNvPr id="423" name="Google Shape;423;p19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BTS CIEL 2026  ·  Soutenance U6  ·  Noa Orand</a:t>
            </a:r>
            <a:endParaRPr/>
          </a:p>
        </p:txBody>
      </p:sp>
      <p:sp>
        <p:nvSpPr>
          <p:cNvPr id="424" name="Google Shape;424;p19"/>
          <p:cNvSpPr txBox="1"/>
          <p:nvPr/>
        </p:nvSpPr>
        <p:spPr>
          <a:xfrm>
            <a:off x="640080" y="155448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7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Deux modalités physiques complémentaires, fusionnées tardivement</a:t>
            </a:r>
            <a:endParaRPr/>
          </a:p>
        </p:txBody>
      </p:sp>
      <p:sp>
        <p:nvSpPr>
          <p:cNvPr id="425" name="Google Shape;425;p19"/>
          <p:cNvSpPr/>
          <p:nvPr/>
        </p:nvSpPr>
        <p:spPr>
          <a:xfrm>
            <a:off x="640080" y="2286000"/>
            <a:ext cx="4114800" cy="3200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22D3E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19"/>
          <p:cNvSpPr txBox="1"/>
          <p:nvPr/>
        </p:nvSpPr>
        <p:spPr>
          <a:xfrm>
            <a:off x="822960" y="2468880"/>
            <a:ext cx="3657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22D3EE"/>
                </a:solidFill>
                <a:latin typeface="Calibri"/>
                <a:ea typeface="Calibri"/>
                <a:cs typeface="Calibri"/>
                <a:sym typeface="Calibri"/>
              </a:rPr>
              <a:t>Branche son</a:t>
            </a:r>
            <a:endParaRPr/>
          </a:p>
        </p:txBody>
      </p:sp>
      <p:sp>
        <p:nvSpPr>
          <p:cNvPr id="427" name="Google Shape;427;p19"/>
          <p:cNvSpPr txBox="1"/>
          <p:nvPr/>
        </p:nvSpPr>
        <p:spPr>
          <a:xfrm>
            <a:off x="822960" y="3017520"/>
            <a:ext cx="384048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2D3EE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3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Spectre acoustique 16 kHz</a:t>
            </a:r>
            <a:endParaRPr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2D3EE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3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Riche en transitoires haute fréquence</a:t>
            </a:r>
            <a:endParaRPr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2D3EE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3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Mel-spectrogramme 64 bandes</a:t>
            </a:r>
            <a:endParaRPr/>
          </a:p>
        </p:txBody>
      </p:sp>
      <p:sp>
        <p:nvSpPr>
          <p:cNvPr id="428" name="Google Shape;428;p19"/>
          <p:cNvSpPr/>
          <p:nvPr/>
        </p:nvSpPr>
        <p:spPr>
          <a:xfrm>
            <a:off x="7360920" y="2286000"/>
            <a:ext cx="4114800" cy="3200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879F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" name="Google Shape;429;p19"/>
          <p:cNvSpPr txBox="1"/>
          <p:nvPr/>
        </p:nvSpPr>
        <p:spPr>
          <a:xfrm>
            <a:off x="7543800" y="2468880"/>
            <a:ext cx="3657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Branche vibration</a:t>
            </a:r>
            <a:endParaRPr/>
          </a:p>
        </p:txBody>
      </p:sp>
      <p:sp>
        <p:nvSpPr>
          <p:cNvPr id="430" name="Google Shape;430;p19"/>
          <p:cNvSpPr txBox="1"/>
          <p:nvPr/>
        </p:nvSpPr>
        <p:spPr>
          <a:xfrm>
            <a:off x="7543800" y="3017520"/>
            <a:ext cx="384048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3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Vibration axe Z à 10 Hz effectif</a:t>
            </a:r>
            <a:endParaRPr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3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Signature mécanique basse fréquence</a:t>
            </a:r>
            <a:endParaRPr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3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Mel-spectrogramme 32 bandes</a:t>
            </a:r>
            <a:endParaRPr/>
          </a:p>
        </p:txBody>
      </p:sp>
      <p:sp>
        <p:nvSpPr>
          <p:cNvPr id="431" name="Google Shape;431;p19"/>
          <p:cNvSpPr txBox="1"/>
          <p:nvPr/>
        </p:nvSpPr>
        <p:spPr>
          <a:xfrm>
            <a:off x="4846320" y="352044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▶</a:t>
            </a:r>
            <a:endParaRPr/>
          </a:p>
        </p:txBody>
      </p:sp>
      <p:sp>
        <p:nvSpPr>
          <p:cNvPr id="432" name="Google Shape;432;p19"/>
          <p:cNvSpPr txBox="1"/>
          <p:nvPr/>
        </p:nvSpPr>
        <p:spPr>
          <a:xfrm>
            <a:off x="6858000" y="352044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◀</a:t>
            </a:r>
            <a:endParaRPr/>
          </a:p>
        </p:txBody>
      </p:sp>
      <p:sp>
        <p:nvSpPr>
          <p:cNvPr id="433" name="Google Shape;433;p19"/>
          <p:cNvSpPr/>
          <p:nvPr/>
        </p:nvSpPr>
        <p:spPr>
          <a:xfrm>
            <a:off x="5349240" y="2743200"/>
            <a:ext cx="1463040" cy="2011680"/>
          </a:xfrm>
          <a:prstGeom prst="roundRect">
            <a:avLst>
              <a:gd fmla="val 16667" name="adj"/>
            </a:avLst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p19"/>
          <p:cNvSpPr txBox="1"/>
          <p:nvPr/>
        </p:nvSpPr>
        <p:spPr>
          <a:xfrm>
            <a:off x="5349240" y="288036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Fusion</a:t>
            </a:r>
            <a:endParaRPr/>
          </a:p>
        </p:txBody>
      </p:sp>
      <p:sp>
        <p:nvSpPr>
          <p:cNvPr id="435" name="Google Shape;435;p19"/>
          <p:cNvSpPr txBox="1"/>
          <p:nvPr/>
        </p:nvSpPr>
        <p:spPr>
          <a:xfrm>
            <a:off x="5349240" y="3383280"/>
            <a:ext cx="146304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45700" spcFirstLastPara="1" rIns="45700" wrap="square" tIns="18275">
            <a:sp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Dense 64</a:t>
            </a:r>
            <a:endParaRPr/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+ Dropout</a:t>
            </a:r>
            <a:endParaRPr/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→ Sortie %</a:t>
            </a:r>
            <a:endParaRPr/>
          </a:p>
        </p:txBody>
      </p:sp>
      <p:pic>
        <p:nvPicPr>
          <p:cNvPr descr="ModelIA.png" id="901" name="img_model_ia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96000" y="4300000"/>
            <a:ext cx="5000000" cy="190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0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p2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20"/>
          <p:cNvSpPr/>
          <p:nvPr/>
        </p:nvSpPr>
        <p:spPr>
          <a:xfrm>
            <a:off x="502920" y="530352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20"/>
          <p:cNvSpPr txBox="1"/>
          <p:nvPr/>
        </p:nvSpPr>
        <p:spPr>
          <a:xfrm>
            <a:off x="914400" y="384048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Représentation : mel-spectrogrammes</a:t>
            </a:r>
            <a:endParaRPr/>
          </a:p>
        </p:txBody>
      </p:sp>
      <p:sp>
        <p:nvSpPr>
          <p:cNvPr id="444" name="Google Shape;444;p20"/>
          <p:cNvSpPr txBox="1"/>
          <p:nvPr/>
        </p:nvSpPr>
        <p:spPr>
          <a:xfrm>
            <a:off x="10911535" y="64922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20 / 26</a:t>
            </a:r>
            <a:endParaRPr/>
          </a:p>
        </p:txBody>
      </p:sp>
      <p:sp>
        <p:nvSpPr>
          <p:cNvPr id="445" name="Google Shape;445;p20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BTS CIEL 2026  ·  Soutenance U6  ·  Noa Orand</a:t>
            </a:r>
            <a:endParaRPr/>
          </a:p>
        </p:txBody>
      </p:sp>
      <p:sp>
        <p:nvSpPr>
          <p:cNvPr id="446" name="Google Shape;446;p20"/>
          <p:cNvSpPr txBox="1"/>
          <p:nvPr/>
        </p:nvSpPr>
        <p:spPr>
          <a:xfrm>
            <a:off x="640080" y="155448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7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Transformer un signal temporel en image perçue comme un humain</a:t>
            </a:r>
            <a:endParaRPr/>
          </a:p>
        </p:txBody>
      </p:sp>
      <p:sp>
        <p:nvSpPr>
          <p:cNvPr id="447" name="Google Shape;447;p20"/>
          <p:cNvSpPr/>
          <p:nvPr/>
        </p:nvSpPr>
        <p:spPr>
          <a:xfrm>
            <a:off x="640080" y="2377440"/>
            <a:ext cx="1691640" cy="13716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22D3E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20"/>
          <p:cNvSpPr txBox="1"/>
          <p:nvPr/>
        </p:nvSpPr>
        <p:spPr>
          <a:xfrm>
            <a:off x="640080" y="2377440"/>
            <a:ext cx="169164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45700" spcFirstLastPara="1" rIns="45700" wrap="square" tIns="18275">
            <a:sp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Signal</a:t>
            </a:r>
            <a:endParaRPr/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temporel</a:t>
            </a:r>
            <a:endParaRPr/>
          </a:p>
        </p:txBody>
      </p:sp>
      <p:sp>
        <p:nvSpPr>
          <p:cNvPr id="449" name="Google Shape;449;p20"/>
          <p:cNvSpPr txBox="1"/>
          <p:nvPr/>
        </p:nvSpPr>
        <p:spPr>
          <a:xfrm>
            <a:off x="2286000" y="2788920"/>
            <a:ext cx="2743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▶</a:t>
            </a:r>
            <a:endParaRPr/>
          </a:p>
        </p:txBody>
      </p:sp>
      <p:sp>
        <p:nvSpPr>
          <p:cNvPr id="450" name="Google Shape;450;p20"/>
          <p:cNvSpPr/>
          <p:nvPr/>
        </p:nvSpPr>
        <p:spPr>
          <a:xfrm>
            <a:off x="2514600" y="2377440"/>
            <a:ext cx="1691640" cy="13716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8B5CF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20"/>
          <p:cNvSpPr txBox="1"/>
          <p:nvPr/>
        </p:nvSpPr>
        <p:spPr>
          <a:xfrm>
            <a:off x="2514600" y="2377440"/>
            <a:ext cx="169164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45700" spcFirstLastPara="1" rIns="45700" wrap="square" tIns="18275">
            <a:sp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STFT</a:t>
            </a:r>
            <a:endParaRPr/>
          </a:p>
        </p:txBody>
      </p:sp>
      <p:sp>
        <p:nvSpPr>
          <p:cNvPr id="452" name="Google Shape;452;p20"/>
          <p:cNvSpPr txBox="1"/>
          <p:nvPr/>
        </p:nvSpPr>
        <p:spPr>
          <a:xfrm>
            <a:off x="4160520" y="2788920"/>
            <a:ext cx="2743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▶</a:t>
            </a:r>
            <a:endParaRPr/>
          </a:p>
        </p:txBody>
      </p:sp>
      <p:sp>
        <p:nvSpPr>
          <p:cNvPr id="453" name="Google Shape;453;p20"/>
          <p:cNvSpPr/>
          <p:nvPr/>
        </p:nvSpPr>
        <p:spPr>
          <a:xfrm>
            <a:off x="4389120" y="2377440"/>
            <a:ext cx="1691640" cy="13716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879F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p20"/>
          <p:cNvSpPr txBox="1"/>
          <p:nvPr/>
        </p:nvSpPr>
        <p:spPr>
          <a:xfrm>
            <a:off x="4389120" y="2377440"/>
            <a:ext cx="169164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45700" spcFirstLastPara="1" rIns="45700" wrap="square" tIns="18275">
            <a:sp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Échelle</a:t>
            </a:r>
            <a:endParaRPr/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Mel</a:t>
            </a:r>
            <a:endParaRPr/>
          </a:p>
        </p:txBody>
      </p:sp>
      <p:sp>
        <p:nvSpPr>
          <p:cNvPr id="455" name="Google Shape;455;p20"/>
          <p:cNvSpPr txBox="1"/>
          <p:nvPr/>
        </p:nvSpPr>
        <p:spPr>
          <a:xfrm>
            <a:off x="6035040" y="2788920"/>
            <a:ext cx="2743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▶</a:t>
            </a:r>
            <a:endParaRPr/>
          </a:p>
        </p:txBody>
      </p:sp>
      <p:sp>
        <p:nvSpPr>
          <p:cNvPr id="456" name="Google Shape;456;p20"/>
          <p:cNvSpPr/>
          <p:nvPr/>
        </p:nvSpPr>
        <p:spPr>
          <a:xfrm>
            <a:off x="6263640" y="2377440"/>
            <a:ext cx="1691640" cy="13716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8B5CF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" name="Google Shape;457;p20"/>
          <p:cNvSpPr txBox="1"/>
          <p:nvPr/>
        </p:nvSpPr>
        <p:spPr>
          <a:xfrm>
            <a:off x="6263640" y="2377440"/>
            <a:ext cx="169164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45700" spcFirstLastPara="1" rIns="45700" wrap="square" tIns="18275">
            <a:sp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Log</a:t>
            </a:r>
            <a:endParaRPr/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(dB)</a:t>
            </a:r>
            <a:endParaRPr/>
          </a:p>
        </p:txBody>
      </p:sp>
      <p:sp>
        <p:nvSpPr>
          <p:cNvPr id="458" name="Google Shape;458;p20"/>
          <p:cNvSpPr txBox="1"/>
          <p:nvPr/>
        </p:nvSpPr>
        <p:spPr>
          <a:xfrm>
            <a:off x="7909560" y="2788920"/>
            <a:ext cx="2743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▶</a:t>
            </a:r>
            <a:endParaRPr/>
          </a:p>
        </p:txBody>
      </p:sp>
      <p:sp>
        <p:nvSpPr>
          <p:cNvPr id="459" name="Google Shape;459;p20"/>
          <p:cNvSpPr/>
          <p:nvPr/>
        </p:nvSpPr>
        <p:spPr>
          <a:xfrm>
            <a:off x="8138160" y="2377440"/>
            <a:ext cx="1691640" cy="13716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22D3E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0" name="Google Shape;460;p20"/>
          <p:cNvSpPr txBox="1"/>
          <p:nvPr/>
        </p:nvSpPr>
        <p:spPr>
          <a:xfrm>
            <a:off x="8138160" y="2377440"/>
            <a:ext cx="169164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45700" spcFirstLastPara="1" rIns="45700" wrap="square" tIns="18275">
            <a:sp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Normalisation</a:t>
            </a:r>
            <a:endParaRPr/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[0, 1]</a:t>
            </a:r>
            <a:endParaRPr/>
          </a:p>
        </p:txBody>
      </p:sp>
      <p:sp>
        <p:nvSpPr>
          <p:cNvPr id="461" name="Google Shape;461;p20"/>
          <p:cNvSpPr txBox="1"/>
          <p:nvPr/>
        </p:nvSpPr>
        <p:spPr>
          <a:xfrm>
            <a:off x="9784080" y="2788920"/>
            <a:ext cx="2743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▶</a:t>
            </a:r>
            <a:endParaRPr/>
          </a:p>
        </p:txBody>
      </p:sp>
      <p:sp>
        <p:nvSpPr>
          <p:cNvPr id="462" name="Google Shape;462;p20"/>
          <p:cNvSpPr/>
          <p:nvPr/>
        </p:nvSpPr>
        <p:spPr>
          <a:xfrm>
            <a:off x="10012680" y="2377440"/>
            <a:ext cx="1691640" cy="13716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879F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20"/>
          <p:cNvSpPr txBox="1"/>
          <p:nvPr/>
        </p:nvSpPr>
        <p:spPr>
          <a:xfrm>
            <a:off x="10012680" y="2377440"/>
            <a:ext cx="169164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45700" spcFirstLastPara="1" rIns="45700" wrap="square" tIns="18275">
            <a:sp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Resize</a:t>
            </a:r>
            <a:endParaRPr/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128 × 128</a:t>
            </a:r>
            <a:endParaRPr/>
          </a:p>
        </p:txBody>
      </p:sp>
      <p:sp>
        <p:nvSpPr>
          <p:cNvPr id="464" name="Google Shape;464;p20"/>
          <p:cNvSpPr txBox="1"/>
          <p:nvPr/>
        </p:nvSpPr>
        <p:spPr>
          <a:xfrm>
            <a:off x="640080" y="4206240"/>
            <a:ext cx="10972800" cy="21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5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Découpage du son en fenêtres de 1 s avec recouvrement 50 % (augmentation gratuite)</a:t>
            </a:r>
            <a:endParaRPr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5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Mel-spectrogramme son : 64 bandes  ·  vibration : 32 bandes (n_fft adaptatif)</a:t>
            </a:r>
            <a:endParaRPr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5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Toutes les entrées du réseau ramenées à 128 × 128 px, un seul canal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Google Shape;470;p2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" name="Google Shape;471;p21"/>
          <p:cNvSpPr/>
          <p:nvPr/>
        </p:nvSpPr>
        <p:spPr>
          <a:xfrm>
            <a:off x="502920" y="530352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" name="Google Shape;472;p21"/>
          <p:cNvSpPr txBox="1"/>
          <p:nvPr/>
        </p:nvSpPr>
        <p:spPr>
          <a:xfrm>
            <a:off x="914400" y="384048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Augmentations et split anti-fuite</a:t>
            </a:r>
            <a:endParaRPr/>
          </a:p>
        </p:txBody>
      </p:sp>
      <p:sp>
        <p:nvSpPr>
          <p:cNvPr id="473" name="Google Shape;473;p21"/>
          <p:cNvSpPr txBox="1"/>
          <p:nvPr/>
        </p:nvSpPr>
        <p:spPr>
          <a:xfrm>
            <a:off x="10911535" y="64922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21 / 26</a:t>
            </a:r>
            <a:endParaRPr/>
          </a:p>
        </p:txBody>
      </p:sp>
      <p:sp>
        <p:nvSpPr>
          <p:cNvPr id="474" name="Google Shape;474;p21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BTS CIEL 2026  ·  Soutenance U6  ·  Noa Orand</a:t>
            </a:r>
            <a:endParaRPr/>
          </a:p>
        </p:txBody>
      </p:sp>
      <p:sp>
        <p:nvSpPr>
          <p:cNvPr id="475" name="Google Shape;475;p21"/>
          <p:cNvSpPr txBox="1"/>
          <p:nvPr/>
        </p:nvSpPr>
        <p:spPr>
          <a:xfrm>
            <a:off x="640080" y="155448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7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Robustifier l'entraînement avec peu de captures</a:t>
            </a:r>
            <a:endParaRPr/>
          </a:p>
        </p:txBody>
      </p:sp>
      <p:sp>
        <p:nvSpPr>
          <p:cNvPr id="476" name="Google Shape;476;p21"/>
          <p:cNvSpPr/>
          <p:nvPr/>
        </p:nvSpPr>
        <p:spPr>
          <a:xfrm>
            <a:off x="640080" y="2194560"/>
            <a:ext cx="5486400" cy="38404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22D3E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21"/>
          <p:cNvSpPr txBox="1"/>
          <p:nvPr/>
        </p:nvSpPr>
        <p:spPr>
          <a:xfrm>
            <a:off x="822960" y="2331720"/>
            <a:ext cx="51206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22D3EE"/>
                </a:solidFill>
                <a:latin typeface="Calibri"/>
                <a:ea typeface="Calibri"/>
                <a:cs typeface="Calibri"/>
                <a:sym typeface="Calibri"/>
              </a:rPr>
              <a:t>Augmentations d'entraînement</a:t>
            </a:r>
            <a:endParaRPr/>
          </a:p>
        </p:txBody>
      </p:sp>
      <p:sp>
        <p:nvSpPr>
          <p:cNvPr id="478" name="Google Shape;478;p21"/>
          <p:cNvSpPr txBox="1"/>
          <p:nvPr/>
        </p:nvSpPr>
        <p:spPr>
          <a:xfrm>
            <a:off x="822960" y="2788920"/>
            <a:ext cx="5120640" cy="32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22D3EE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Bruit gaussien ajouté au signal brut</a:t>
            </a:r>
            <a:endParaRPr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22D3EE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Décalage temporel (time shift) aléatoire</a:t>
            </a:r>
            <a:endParaRPr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22D3EE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SpecAugment : masquage de bandes de temps et de fréquence sur le spectrogramme</a:t>
            </a:r>
            <a:endParaRPr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22D3EE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Multiplie virtuellement la taille du dataset par ≈ 4</a:t>
            </a:r>
            <a:endParaRPr/>
          </a:p>
        </p:txBody>
      </p:sp>
      <p:sp>
        <p:nvSpPr>
          <p:cNvPr id="479" name="Google Shape;479;p21"/>
          <p:cNvSpPr/>
          <p:nvPr/>
        </p:nvSpPr>
        <p:spPr>
          <a:xfrm>
            <a:off x="6263640" y="2194560"/>
            <a:ext cx="5486400" cy="38404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879F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0" name="Google Shape;480;p21"/>
          <p:cNvSpPr txBox="1"/>
          <p:nvPr/>
        </p:nvSpPr>
        <p:spPr>
          <a:xfrm>
            <a:off x="6446520" y="2331720"/>
            <a:ext cx="51206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Split anti-fuite par capture</a:t>
            </a:r>
            <a:endParaRPr/>
          </a:p>
        </p:txBody>
      </p:sp>
      <p:sp>
        <p:nvSpPr>
          <p:cNvPr id="481" name="Google Shape;481;p21"/>
          <p:cNvSpPr txBox="1"/>
          <p:nvPr/>
        </p:nvSpPr>
        <p:spPr>
          <a:xfrm>
            <a:off x="6446520" y="2788920"/>
            <a:ext cx="5120640" cy="32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Toutes les fenêtres d'une même capture vont au même split (train OU val OU test)</a:t>
            </a:r>
            <a:endParaRPr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Empêche le modèle de mémoriser une signature acoustique vue à l'entraînement</a:t>
            </a:r>
            <a:endParaRPr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Métrique d'évaluation : MAE par capture (et non par fenêtre)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6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p2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22"/>
          <p:cNvSpPr/>
          <p:nvPr/>
        </p:nvSpPr>
        <p:spPr>
          <a:xfrm>
            <a:off x="502920" y="530352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" name="Google Shape;489;p22"/>
          <p:cNvSpPr txBox="1"/>
          <p:nvPr/>
        </p:nvSpPr>
        <p:spPr>
          <a:xfrm>
            <a:off x="914400" y="384048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Architecture du réseau de neurones</a:t>
            </a:r>
            <a:endParaRPr/>
          </a:p>
        </p:txBody>
      </p:sp>
      <p:sp>
        <p:nvSpPr>
          <p:cNvPr id="490" name="Google Shape;490;p22"/>
          <p:cNvSpPr txBox="1"/>
          <p:nvPr/>
        </p:nvSpPr>
        <p:spPr>
          <a:xfrm>
            <a:off x="10911535" y="64922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22 / 26</a:t>
            </a:r>
            <a:endParaRPr/>
          </a:p>
        </p:txBody>
      </p:sp>
      <p:sp>
        <p:nvSpPr>
          <p:cNvPr id="491" name="Google Shape;491;p22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BTS CIEL 2026  ·  Soutenance U6  ·  Noa Orand</a:t>
            </a:r>
            <a:endParaRPr/>
          </a:p>
        </p:txBody>
      </p:sp>
      <p:sp>
        <p:nvSpPr>
          <p:cNvPr id="492" name="Google Shape;492;p22"/>
          <p:cNvSpPr txBox="1"/>
          <p:nvPr/>
        </p:nvSpPr>
        <p:spPr>
          <a:xfrm>
            <a:off x="640080" y="155448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7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Deux branches CNN convolutives + fusion par concaténation</a:t>
            </a:r>
            <a:endParaRPr/>
          </a:p>
        </p:txBody>
      </p:sp>
      <p:sp>
        <p:nvSpPr>
          <p:cNvPr id="493" name="Google Shape;493;p22"/>
          <p:cNvSpPr txBox="1"/>
          <p:nvPr/>
        </p:nvSpPr>
        <p:spPr>
          <a:xfrm>
            <a:off x="640080" y="2423160"/>
            <a:ext cx="12801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2D3EE"/>
                </a:solidFill>
                <a:latin typeface="Calibri"/>
                <a:ea typeface="Calibri"/>
                <a:cs typeface="Calibri"/>
                <a:sym typeface="Calibri"/>
              </a:rPr>
              <a:t>Spectro son</a:t>
            </a:r>
            <a:endParaRPr/>
          </a:p>
        </p:txBody>
      </p:sp>
      <p:sp>
        <p:nvSpPr>
          <p:cNvPr id="494" name="Google Shape;494;p22"/>
          <p:cNvSpPr/>
          <p:nvPr/>
        </p:nvSpPr>
        <p:spPr>
          <a:xfrm>
            <a:off x="2011680" y="2286000"/>
            <a:ext cx="1005840" cy="6400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22D3E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" name="Google Shape;495;p22"/>
          <p:cNvSpPr txBox="1"/>
          <p:nvPr/>
        </p:nvSpPr>
        <p:spPr>
          <a:xfrm>
            <a:off x="2011680" y="2286000"/>
            <a:ext cx="10058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45700" spcFirstLastPara="1" rIns="45700" wrap="square" tIns="18275">
            <a:sp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2D3EE"/>
                </a:solidFill>
                <a:latin typeface="Calibri"/>
                <a:ea typeface="Calibri"/>
                <a:cs typeface="Calibri"/>
                <a:sym typeface="Calibri"/>
              </a:rPr>
              <a:t>Conv 32</a:t>
            </a:r>
            <a:endParaRPr/>
          </a:p>
        </p:txBody>
      </p:sp>
      <p:sp>
        <p:nvSpPr>
          <p:cNvPr id="496" name="Google Shape;496;p22"/>
          <p:cNvSpPr/>
          <p:nvPr/>
        </p:nvSpPr>
        <p:spPr>
          <a:xfrm>
            <a:off x="3108960" y="2286000"/>
            <a:ext cx="1005840" cy="6400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22D3E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Google Shape;497;p22"/>
          <p:cNvSpPr txBox="1"/>
          <p:nvPr/>
        </p:nvSpPr>
        <p:spPr>
          <a:xfrm>
            <a:off x="3108960" y="2286000"/>
            <a:ext cx="10058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45700" spcFirstLastPara="1" rIns="45700" wrap="square" tIns="18275">
            <a:sp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2D3EE"/>
                </a:solidFill>
                <a:latin typeface="Calibri"/>
                <a:ea typeface="Calibri"/>
                <a:cs typeface="Calibri"/>
                <a:sym typeface="Calibri"/>
              </a:rPr>
              <a:t>Conv 64</a:t>
            </a:r>
            <a:endParaRPr/>
          </a:p>
        </p:txBody>
      </p:sp>
      <p:sp>
        <p:nvSpPr>
          <p:cNvPr id="498" name="Google Shape;498;p22"/>
          <p:cNvSpPr/>
          <p:nvPr/>
        </p:nvSpPr>
        <p:spPr>
          <a:xfrm>
            <a:off x="4206240" y="2286000"/>
            <a:ext cx="1005840" cy="6400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22D3E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9" name="Google Shape;499;p22"/>
          <p:cNvSpPr txBox="1"/>
          <p:nvPr/>
        </p:nvSpPr>
        <p:spPr>
          <a:xfrm>
            <a:off x="4206240" y="2286000"/>
            <a:ext cx="10058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45700" spcFirstLastPara="1" rIns="45700" wrap="square" tIns="18275">
            <a:sp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2D3EE"/>
                </a:solidFill>
                <a:latin typeface="Calibri"/>
                <a:ea typeface="Calibri"/>
                <a:cs typeface="Calibri"/>
                <a:sym typeface="Calibri"/>
              </a:rPr>
              <a:t>Conv 128</a:t>
            </a:r>
            <a:endParaRPr/>
          </a:p>
        </p:txBody>
      </p:sp>
      <p:sp>
        <p:nvSpPr>
          <p:cNvPr id="500" name="Google Shape;500;p22"/>
          <p:cNvSpPr/>
          <p:nvPr/>
        </p:nvSpPr>
        <p:spPr>
          <a:xfrm>
            <a:off x="5303520" y="2286000"/>
            <a:ext cx="1005840" cy="6400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22D3E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1" name="Google Shape;501;p22"/>
          <p:cNvSpPr txBox="1"/>
          <p:nvPr/>
        </p:nvSpPr>
        <p:spPr>
          <a:xfrm>
            <a:off x="5303520" y="2286000"/>
            <a:ext cx="10058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45700" spcFirstLastPara="1" rIns="45700" wrap="square" tIns="18275">
            <a:sp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2D3EE"/>
                </a:solidFill>
                <a:latin typeface="Calibri"/>
                <a:ea typeface="Calibri"/>
                <a:cs typeface="Calibri"/>
                <a:sym typeface="Calibri"/>
              </a:rPr>
              <a:t>GlobAvg</a:t>
            </a:r>
            <a:endParaRPr/>
          </a:p>
        </p:txBody>
      </p:sp>
      <p:sp>
        <p:nvSpPr>
          <p:cNvPr id="502" name="Google Shape;502;p22"/>
          <p:cNvSpPr txBox="1"/>
          <p:nvPr/>
        </p:nvSpPr>
        <p:spPr>
          <a:xfrm>
            <a:off x="640080" y="3794760"/>
            <a:ext cx="12801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Spectro vib</a:t>
            </a:r>
            <a:endParaRPr/>
          </a:p>
        </p:txBody>
      </p:sp>
      <p:sp>
        <p:nvSpPr>
          <p:cNvPr id="503" name="Google Shape;503;p22"/>
          <p:cNvSpPr/>
          <p:nvPr/>
        </p:nvSpPr>
        <p:spPr>
          <a:xfrm>
            <a:off x="2011680" y="3657600"/>
            <a:ext cx="1005840" cy="6400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879F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p22"/>
          <p:cNvSpPr txBox="1"/>
          <p:nvPr/>
        </p:nvSpPr>
        <p:spPr>
          <a:xfrm>
            <a:off x="2011680" y="3657600"/>
            <a:ext cx="10058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45700" spcFirstLastPara="1" rIns="45700" wrap="square" tIns="18275">
            <a:sp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Conv 32</a:t>
            </a:r>
            <a:endParaRPr/>
          </a:p>
        </p:txBody>
      </p:sp>
      <p:sp>
        <p:nvSpPr>
          <p:cNvPr id="505" name="Google Shape;505;p22"/>
          <p:cNvSpPr/>
          <p:nvPr/>
        </p:nvSpPr>
        <p:spPr>
          <a:xfrm>
            <a:off x="3108960" y="3657600"/>
            <a:ext cx="1005840" cy="6400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879F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6" name="Google Shape;506;p22"/>
          <p:cNvSpPr txBox="1"/>
          <p:nvPr/>
        </p:nvSpPr>
        <p:spPr>
          <a:xfrm>
            <a:off x="3108960" y="3657600"/>
            <a:ext cx="10058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45700" spcFirstLastPara="1" rIns="45700" wrap="square" tIns="18275">
            <a:sp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Conv 64</a:t>
            </a:r>
            <a:endParaRPr/>
          </a:p>
        </p:txBody>
      </p:sp>
      <p:sp>
        <p:nvSpPr>
          <p:cNvPr id="507" name="Google Shape;507;p22"/>
          <p:cNvSpPr/>
          <p:nvPr/>
        </p:nvSpPr>
        <p:spPr>
          <a:xfrm>
            <a:off x="4206240" y="3657600"/>
            <a:ext cx="1005840" cy="6400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879F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8" name="Google Shape;508;p22"/>
          <p:cNvSpPr txBox="1"/>
          <p:nvPr/>
        </p:nvSpPr>
        <p:spPr>
          <a:xfrm>
            <a:off x="4206240" y="3657600"/>
            <a:ext cx="10058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45700" spcFirstLastPara="1" rIns="45700" wrap="square" tIns="18275">
            <a:sp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Conv 128</a:t>
            </a:r>
            <a:endParaRPr/>
          </a:p>
        </p:txBody>
      </p:sp>
      <p:sp>
        <p:nvSpPr>
          <p:cNvPr id="509" name="Google Shape;509;p22"/>
          <p:cNvSpPr/>
          <p:nvPr/>
        </p:nvSpPr>
        <p:spPr>
          <a:xfrm>
            <a:off x="5303520" y="3657600"/>
            <a:ext cx="1005840" cy="6400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879F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0" name="Google Shape;510;p22"/>
          <p:cNvSpPr txBox="1"/>
          <p:nvPr/>
        </p:nvSpPr>
        <p:spPr>
          <a:xfrm>
            <a:off x="5303520" y="3657600"/>
            <a:ext cx="10058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45700" spcFirstLastPara="1" rIns="45700" wrap="square" tIns="18275">
            <a:sp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GlobAvg</a:t>
            </a:r>
            <a:endParaRPr/>
          </a:p>
        </p:txBody>
      </p:sp>
      <p:sp>
        <p:nvSpPr>
          <p:cNvPr id="511" name="Google Shape;511;p22"/>
          <p:cNvSpPr/>
          <p:nvPr/>
        </p:nvSpPr>
        <p:spPr>
          <a:xfrm>
            <a:off x="6766560" y="2743200"/>
            <a:ext cx="1371600" cy="15544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8B5CF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2" name="Google Shape;512;p22"/>
          <p:cNvSpPr txBox="1"/>
          <p:nvPr/>
        </p:nvSpPr>
        <p:spPr>
          <a:xfrm>
            <a:off x="6766560" y="2743200"/>
            <a:ext cx="1371600" cy="1554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45700" spcFirstLastPara="1" rIns="45700" wrap="square" tIns="18275">
            <a:sp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Concat</a:t>
            </a:r>
            <a:endParaRPr/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Dense 64</a:t>
            </a:r>
            <a:endParaRPr/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Dropout</a:t>
            </a:r>
            <a:endParaRPr/>
          </a:p>
        </p:txBody>
      </p:sp>
      <p:sp>
        <p:nvSpPr>
          <p:cNvPr id="513" name="Google Shape;513;p22"/>
          <p:cNvSpPr/>
          <p:nvPr/>
        </p:nvSpPr>
        <p:spPr>
          <a:xfrm>
            <a:off x="8595360" y="2971800"/>
            <a:ext cx="1371600" cy="10972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1A0B3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4" name="Google Shape;514;p22"/>
          <p:cNvSpPr txBox="1"/>
          <p:nvPr/>
        </p:nvSpPr>
        <p:spPr>
          <a:xfrm>
            <a:off x="8595360" y="2971800"/>
            <a:ext cx="13716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45700" spcFirstLastPara="1" rIns="45700" wrap="square" tIns="18275">
            <a:sp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A0B3D"/>
                </a:solidFill>
                <a:latin typeface="Calibri"/>
                <a:ea typeface="Calibri"/>
                <a:cs typeface="Calibri"/>
                <a:sym typeface="Calibri"/>
              </a:rPr>
              <a:t>Dense 1</a:t>
            </a:r>
            <a:endParaRPr/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A0B3D"/>
                </a:solidFill>
                <a:latin typeface="Calibri"/>
                <a:ea typeface="Calibri"/>
                <a:cs typeface="Calibri"/>
                <a:sym typeface="Calibri"/>
              </a:rPr>
              <a:t>sigmoid</a:t>
            </a:r>
            <a:endParaRPr/>
          </a:p>
        </p:txBody>
      </p:sp>
      <p:sp>
        <p:nvSpPr>
          <p:cNvPr id="515" name="Google Shape;515;p22"/>
          <p:cNvSpPr txBox="1"/>
          <p:nvPr/>
        </p:nvSpPr>
        <p:spPr>
          <a:xfrm>
            <a:off x="10104120" y="3200400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× 100 → %</a:t>
            </a:r>
            <a:endParaRPr/>
          </a:p>
        </p:txBody>
      </p:sp>
      <p:sp>
        <p:nvSpPr>
          <p:cNvPr id="516" name="Google Shape;516;p22"/>
          <p:cNvSpPr txBox="1"/>
          <p:nvPr/>
        </p:nvSpPr>
        <p:spPr>
          <a:xfrm>
            <a:off x="3017520" y="246888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/>
          </a:p>
        </p:txBody>
      </p:sp>
      <p:sp>
        <p:nvSpPr>
          <p:cNvPr id="517" name="Google Shape;517;p22"/>
          <p:cNvSpPr txBox="1"/>
          <p:nvPr/>
        </p:nvSpPr>
        <p:spPr>
          <a:xfrm>
            <a:off x="4114800" y="246888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/>
          </a:p>
        </p:txBody>
      </p:sp>
      <p:sp>
        <p:nvSpPr>
          <p:cNvPr id="518" name="Google Shape;518;p22"/>
          <p:cNvSpPr txBox="1"/>
          <p:nvPr/>
        </p:nvSpPr>
        <p:spPr>
          <a:xfrm>
            <a:off x="5212080" y="246888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/>
          </a:p>
        </p:txBody>
      </p:sp>
      <p:sp>
        <p:nvSpPr>
          <p:cNvPr id="519" name="Google Shape;519;p22"/>
          <p:cNvSpPr txBox="1"/>
          <p:nvPr/>
        </p:nvSpPr>
        <p:spPr>
          <a:xfrm>
            <a:off x="3017520" y="3840479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/>
          </a:p>
        </p:txBody>
      </p:sp>
      <p:sp>
        <p:nvSpPr>
          <p:cNvPr id="520" name="Google Shape;520;p22"/>
          <p:cNvSpPr txBox="1"/>
          <p:nvPr/>
        </p:nvSpPr>
        <p:spPr>
          <a:xfrm>
            <a:off x="4114800" y="3840479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/>
          </a:p>
        </p:txBody>
      </p:sp>
      <p:sp>
        <p:nvSpPr>
          <p:cNvPr id="521" name="Google Shape;521;p22"/>
          <p:cNvSpPr txBox="1"/>
          <p:nvPr/>
        </p:nvSpPr>
        <p:spPr>
          <a:xfrm>
            <a:off x="5212080" y="3840479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/>
          </a:p>
        </p:txBody>
      </p:sp>
      <p:sp>
        <p:nvSpPr>
          <p:cNvPr id="522" name="Google Shape;522;p22"/>
          <p:cNvSpPr txBox="1"/>
          <p:nvPr/>
        </p:nvSpPr>
        <p:spPr>
          <a:xfrm>
            <a:off x="6309360" y="2468880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/>
          </a:p>
        </p:txBody>
      </p:sp>
      <p:sp>
        <p:nvSpPr>
          <p:cNvPr id="523" name="Google Shape;523;p22"/>
          <p:cNvSpPr txBox="1"/>
          <p:nvPr/>
        </p:nvSpPr>
        <p:spPr>
          <a:xfrm>
            <a:off x="6309360" y="3840480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/>
          </a:p>
        </p:txBody>
      </p:sp>
      <p:sp>
        <p:nvSpPr>
          <p:cNvPr id="524" name="Google Shape;524;p22"/>
          <p:cNvSpPr txBox="1"/>
          <p:nvPr/>
        </p:nvSpPr>
        <p:spPr>
          <a:xfrm>
            <a:off x="8001000" y="329184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/>
          </a:p>
        </p:txBody>
      </p:sp>
      <p:sp>
        <p:nvSpPr>
          <p:cNvPr id="525" name="Google Shape;525;p22"/>
          <p:cNvSpPr/>
          <p:nvPr/>
        </p:nvSpPr>
        <p:spPr>
          <a:xfrm>
            <a:off x="640080" y="5120640"/>
            <a:ext cx="10972800" cy="1280160"/>
          </a:xfrm>
          <a:prstGeom prst="roundRect">
            <a:avLst>
              <a:gd fmla="val 16667" name="adj"/>
            </a:avLst>
          </a:prstGeom>
          <a:solidFill>
            <a:srgbClr val="EF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" name="Google Shape;526;p22"/>
          <p:cNvSpPr txBox="1"/>
          <p:nvPr/>
        </p:nvSpPr>
        <p:spPr>
          <a:xfrm>
            <a:off x="822960" y="534924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Loss : MSE   ·   Métrique : MAE en %   ·   Optimiseur : Adam, lr 1e-3   ·   Batch 32   ·   50 epochs</a:t>
            </a:r>
            <a:endParaRPr/>
          </a:p>
        </p:txBody>
      </p:sp>
      <p:sp>
        <p:nvSpPr>
          <p:cNvPr id="527" name="Google Shape;527;p22"/>
          <p:cNvSpPr txBox="1"/>
          <p:nvPr/>
        </p:nvSpPr>
        <p:spPr>
          <a:xfrm>
            <a:off x="822960" y="580644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Tâche de régression : sortie sigmoïde × 100 → niveau de tension en pourcentage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2" name="Shape 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Google Shape;533;p2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4" name="Google Shape;534;p23"/>
          <p:cNvSpPr/>
          <p:nvPr/>
        </p:nvSpPr>
        <p:spPr>
          <a:xfrm>
            <a:off x="502920" y="530352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5" name="Google Shape;535;p23"/>
          <p:cNvSpPr txBox="1"/>
          <p:nvPr/>
        </p:nvSpPr>
        <p:spPr>
          <a:xfrm>
            <a:off x="914400" y="384048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Décision d'ingénierie  ·  Option A : |VZ| seul</a:t>
            </a:r>
            <a:endParaRPr/>
          </a:p>
        </p:txBody>
      </p:sp>
      <p:sp>
        <p:nvSpPr>
          <p:cNvPr id="536" name="Google Shape;536;p23"/>
          <p:cNvSpPr txBox="1"/>
          <p:nvPr/>
        </p:nvSpPr>
        <p:spPr>
          <a:xfrm>
            <a:off x="10911535" y="64922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23 / 26</a:t>
            </a:r>
            <a:endParaRPr/>
          </a:p>
        </p:txBody>
      </p:sp>
      <p:sp>
        <p:nvSpPr>
          <p:cNvPr id="537" name="Google Shape;537;p23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BTS CIEL 2026  ·  Soutenance U6  ·  Noa Orand</a:t>
            </a:r>
            <a:endParaRPr/>
          </a:p>
        </p:txBody>
      </p:sp>
      <p:sp>
        <p:nvSpPr>
          <p:cNvPr id="538" name="Google Shape;538;p23"/>
          <p:cNvSpPr txBox="1"/>
          <p:nvPr/>
        </p:nvSpPr>
        <p:spPr>
          <a:xfrm>
            <a:off x="640080" y="155448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7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Pourquoi n'utiliser qu'un seul axe vibration sur les trois disponibles ?</a:t>
            </a:r>
            <a:endParaRPr/>
          </a:p>
        </p:txBody>
      </p:sp>
      <p:sp>
        <p:nvSpPr>
          <p:cNvPr id="539" name="Google Shape;539;p23"/>
          <p:cNvSpPr txBox="1"/>
          <p:nvPr/>
        </p:nvSpPr>
        <p:spPr>
          <a:xfrm>
            <a:off x="640080" y="2194560"/>
            <a:ext cx="1097280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5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Observation : axes VX et VY figés à 271 et 1 dans notre configuration capteur</a:t>
            </a:r>
            <a:endParaRPr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5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Cause identifiée : axes perpendiculaires à la vibration dominante du moteur, sous le seuil MEMS</a:t>
            </a:r>
            <a:endParaRPr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5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Magnitude 3-axes √(VX² + VY² + VZ²) aurait un plancher à ≈ 271 qui écrase la dynamique utile</a:t>
            </a:r>
            <a:endParaRPr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5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Option A retenue : utiliser |VZ| seul comme signal vibration → on récupère la vraie variation</a:t>
            </a:r>
            <a:endParaRPr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5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Décision documentée dans CLAUDE.md, ligne ancienne conservée en commentaire pour réversibilité</a:t>
            </a:r>
            <a:endParaRPr/>
          </a:p>
        </p:txBody>
      </p:sp>
      <p:sp>
        <p:nvSpPr>
          <p:cNvPr id="540" name="Google Shape;540;p23"/>
          <p:cNvSpPr/>
          <p:nvPr/>
        </p:nvSpPr>
        <p:spPr>
          <a:xfrm>
            <a:off x="640080" y="5852160"/>
            <a:ext cx="10972800" cy="594360"/>
          </a:xfrm>
          <a:prstGeom prst="roundRect">
            <a:avLst>
              <a:gd fmla="val 16667" name="adj"/>
            </a:avLst>
          </a:prstGeom>
          <a:solidFill>
            <a:srgbClr val="EF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1" name="Google Shape;541;p23"/>
          <p:cNvSpPr txBox="1"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3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C'est un argument à l'oral : analyse statistique + manuel constructeur, pas un défaut hardware ignoré.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6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p2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8" name="Google Shape;548;p24"/>
          <p:cNvSpPr/>
          <p:nvPr/>
        </p:nvSpPr>
        <p:spPr>
          <a:xfrm>
            <a:off x="502920" y="530352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9" name="Google Shape;549;p24"/>
          <p:cNvSpPr txBox="1"/>
          <p:nvPr/>
        </p:nvSpPr>
        <p:spPr>
          <a:xfrm>
            <a:off x="914400" y="384048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Résultats  ·  courbes d'entraînement</a:t>
            </a:r>
            <a:endParaRPr/>
          </a:p>
        </p:txBody>
      </p:sp>
      <p:sp>
        <p:nvSpPr>
          <p:cNvPr id="550" name="Google Shape;550;p24"/>
          <p:cNvSpPr txBox="1"/>
          <p:nvPr/>
        </p:nvSpPr>
        <p:spPr>
          <a:xfrm>
            <a:off x="10911535" y="64922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24 / 26</a:t>
            </a:r>
            <a:endParaRPr/>
          </a:p>
        </p:txBody>
      </p:sp>
      <p:sp>
        <p:nvSpPr>
          <p:cNvPr id="551" name="Google Shape;551;p24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BTS CIEL 2026  ·  Soutenance U6  ·  Noa Orand</a:t>
            </a:r>
            <a:endParaRPr/>
          </a:p>
        </p:txBody>
      </p:sp>
      <p:pic>
        <p:nvPicPr>
          <p:cNvPr descr="resultats_modele.png" id="552" name="Google Shape;552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40080" y="1554480"/>
            <a:ext cx="7772400" cy="4206240"/>
          </a:xfrm>
          <a:prstGeom prst="rect">
            <a:avLst/>
          </a:prstGeom>
          <a:noFill/>
          <a:ln>
            <a:noFill/>
          </a:ln>
        </p:spPr>
      </p:pic>
      <p:sp>
        <p:nvSpPr>
          <p:cNvPr id="553" name="Google Shape;553;p24"/>
          <p:cNvSpPr/>
          <p:nvPr/>
        </p:nvSpPr>
        <p:spPr>
          <a:xfrm>
            <a:off x="8686800" y="1554480"/>
            <a:ext cx="3017520" cy="420624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4B5F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4" name="Google Shape;554;p24"/>
          <p:cNvSpPr txBox="1"/>
          <p:nvPr/>
        </p:nvSpPr>
        <p:spPr>
          <a:xfrm>
            <a:off x="8869680" y="1691640"/>
            <a:ext cx="2743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Lecture</a:t>
            </a:r>
            <a:endParaRPr/>
          </a:p>
        </p:txBody>
      </p:sp>
      <p:sp>
        <p:nvSpPr>
          <p:cNvPr id="555" name="Google Shape;555;p24"/>
          <p:cNvSpPr txBox="1"/>
          <p:nvPr/>
        </p:nvSpPr>
        <p:spPr>
          <a:xfrm>
            <a:off x="8869680" y="2103120"/>
            <a:ext cx="283464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2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Convergence stable sur 50 epochs</a:t>
            </a:r>
            <a:endParaRPr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2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Pas de divergence train/val significative</a:t>
            </a:r>
            <a:endParaRPr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2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MAE entraînement décroît régulièrement</a:t>
            </a:r>
            <a:endParaRPr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2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Validation se stabilise → fin d'apprentissage utile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0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Google Shape;561;p2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2" name="Google Shape;562;p25"/>
          <p:cNvSpPr/>
          <p:nvPr/>
        </p:nvSpPr>
        <p:spPr>
          <a:xfrm>
            <a:off x="502920" y="530352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3" name="Google Shape;563;p25"/>
          <p:cNvSpPr txBox="1"/>
          <p:nvPr/>
        </p:nvSpPr>
        <p:spPr>
          <a:xfrm>
            <a:off x="914400" y="384048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Résultats  ·  MAE 11,2 % par capture</a:t>
            </a:r>
            <a:endParaRPr/>
          </a:p>
        </p:txBody>
      </p:sp>
      <p:sp>
        <p:nvSpPr>
          <p:cNvPr id="564" name="Google Shape;564;p25"/>
          <p:cNvSpPr txBox="1"/>
          <p:nvPr/>
        </p:nvSpPr>
        <p:spPr>
          <a:xfrm>
            <a:off x="10911535" y="64922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25 / 26</a:t>
            </a:r>
            <a:endParaRPr/>
          </a:p>
        </p:txBody>
      </p:sp>
      <p:sp>
        <p:nvSpPr>
          <p:cNvPr id="565" name="Google Shape;565;p2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BTS CIEL 2026  ·  Soutenance U6  ·  Noa Orand</a:t>
            </a:r>
            <a:endParaRPr/>
          </a:p>
        </p:txBody>
      </p:sp>
      <p:sp>
        <p:nvSpPr>
          <p:cNvPr id="566" name="Google Shape;566;p25"/>
          <p:cNvSpPr/>
          <p:nvPr/>
        </p:nvSpPr>
        <p:spPr>
          <a:xfrm>
            <a:off x="640080" y="1737360"/>
            <a:ext cx="5303520" cy="41148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8B5CF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7" name="Google Shape;567;p25"/>
          <p:cNvSpPr txBox="1"/>
          <p:nvPr/>
        </p:nvSpPr>
        <p:spPr>
          <a:xfrm>
            <a:off x="640080" y="1920240"/>
            <a:ext cx="5303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Erreur absolue moyenne</a:t>
            </a:r>
            <a:endParaRPr/>
          </a:p>
        </p:txBody>
      </p:sp>
      <p:sp>
        <p:nvSpPr>
          <p:cNvPr id="568" name="Google Shape;568;p25"/>
          <p:cNvSpPr txBox="1"/>
          <p:nvPr/>
        </p:nvSpPr>
        <p:spPr>
          <a:xfrm>
            <a:off x="640080" y="2468880"/>
            <a:ext cx="530352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11,2 %</a:t>
            </a:r>
            <a:endParaRPr/>
          </a:p>
        </p:txBody>
      </p:sp>
      <p:sp>
        <p:nvSpPr>
          <p:cNvPr id="569" name="Google Shape;569;p25"/>
          <p:cNvSpPr txBox="1"/>
          <p:nvPr/>
        </p:nvSpPr>
        <p:spPr>
          <a:xfrm>
            <a:off x="640080" y="4572000"/>
            <a:ext cx="5303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8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par capture</a:t>
            </a:r>
            <a:endParaRPr/>
          </a:p>
        </p:txBody>
      </p:sp>
      <p:sp>
        <p:nvSpPr>
          <p:cNvPr id="570" name="Google Shape;570;p25"/>
          <p:cNvSpPr txBox="1"/>
          <p:nvPr/>
        </p:nvSpPr>
        <p:spPr>
          <a:xfrm>
            <a:off x="640080" y="512064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Métrique métier — pourcentage de tension</a:t>
            </a:r>
            <a:endParaRPr/>
          </a:p>
        </p:txBody>
      </p:sp>
      <p:sp>
        <p:nvSpPr>
          <p:cNvPr id="571" name="Google Shape;571;p25"/>
          <p:cNvSpPr/>
          <p:nvPr/>
        </p:nvSpPr>
        <p:spPr>
          <a:xfrm>
            <a:off x="6263640" y="1737360"/>
            <a:ext cx="5486400" cy="41148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22D3E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2" name="Google Shape;572;p25"/>
          <p:cNvSpPr txBox="1"/>
          <p:nvPr/>
        </p:nvSpPr>
        <p:spPr>
          <a:xfrm>
            <a:off x="6446520" y="1920240"/>
            <a:ext cx="51206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22D3EE"/>
                </a:solidFill>
                <a:latin typeface="Calibri"/>
                <a:ea typeface="Calibri"/>
                <a:cs typeface="Calibri"/>
                <a:sym typeface="Calibri"/>
              </a:rPr>
              <a:t>Comparaison à une baseline naïve</a:t>
            </a:r>
            <a:endParaRPr/>
          </a:p>
        </p:txBody>
      </p:sp>
      <p:sp>
        <p:nvSpPr>
          <p:cNvPr id="573" name="Google Shape;573;p25"/>
          <p:cNvSpPr txBox="1"/>
          <p:nvPr/>
        </p:nvSpPr>
        <p:spPr>
          <a:xfrm>
            <a:off x="6446520" y="2606040"/>
            <a:ext cx="51206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Baseline (prédire la moyenne) : ≈ 27 %</a:t>
            </a:r>
            <a:endParaRPr/>
          </a:p>
        </p:txBody>
      </p:sp>
      <p:sp>
        <p:nvSpPr>
          <p:cNvPr id="574" name="Google Shape;574;p25"/>
          <p:cNvSpPr txBox="1"/>
          <p:nvPr/>
        </p:nvSpPr>
        <p:spPr>
          <a:xfrm>
            <a:off x="6446520" y="3063240"/>
            <a:ext cx="51206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Modèle double branche : 11,2 %</a:t>
            </a:r>
            <a:endParaRPr/>
          </a:p>
        </p:txBody>
      </p:sp>
      <p:sp>
        <p:nvSpPr>
          <p:cNvPr id="575" name="Google Shape;575;p25"/>
          <p:cNvSpPr txBox="1"/>
          <p:nvPr/>
        </p:nvSpPr>
        <p:spPr>
          <a:xfrm>
            <a:off x="6446520" y="3611880"/>
            <a:ext cx="51206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→ erreur divisée par ≈ 2,5</a:t>
            </a:r>
            <a:endParaRPr/>
          </a:p>
        </p:txBody>
      </p:sp>
      <p:sp>
        <p:nvSpPr>
          <p:cNvPr id="576" name="Google Shape;576;p25"/>
          <p:cNvSpPr txBox="1"/>
          <p:nvPr/>
        </p:nvSpPr>
        <p:spPr>
          <a:xfrm>
            <a:off x="6446520" y="4297680"/>
            <a:ext cx="512064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3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Preuve de concept fonctionnelle</a:t>
            </a:r>
            <a:endParaRPr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3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Marge d'amélioration : campagne complète + meilleure qualité vibration</a:t>
            </a:r>
            <a:endParaRPr/>
          </a:p>
        </p:txBody>
      </p:sp>
      <p:sp>
        <p:nvSpPr>
          <p:cNvPr id="577" name="Google Shape;577;p25"/>
          <p:cNvSpPr txBox="1"/>
          <p:nvPr/>
        </p:nvSpPr>
        <p:spPr>
          <a:xfrm>
            <a:off x="640080" y="608076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3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Argument oral : un proof-of-concept défendable avec un dataset volontairement limité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2" name="Shape 5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rad_bg.jpg" id="583" name="Google Shape;58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584" name="Google Shape;584;p26"/>
          <p:cNvSpPr txBox="1"/>
          <p:nvPr/>
        </p:nvSpPr>
        <p:spPr>
          <a:xfrm>
            <a:off x="457200" y="640080"/>
            <a:ext cx="112471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Conclusion et perspectives</a:t>
            </a:r>
            <a:endParaRPr/>
          </a:p>
        </p:txBody>
      </p:sp>
      <p:sp>
        <p:nvSpPr>
          <p:cNvPr id="585" name="Google Shape;585;p26"/>
          <p:cNvSpPr/>
          <p:nvPr/>
        </p:nvSpPr>
        <p:spPr>
          <a:xfrm>
            <a:off x="640080" y="1828800"/>
            <a:ext cx="5394960" cy="2103120"/>
          </a:xfrm>
          <a:prstGeom prst="roundRect">
            <a:avLst>
              <a:gd fmla="val 16667" name="adj"/>
            </a:avLst>
          </a:prstGeom>
          <a:solidFill>
            <a:srgbClr val="2A145E"/>
          </a:solidFill>
          <a:ln cap="flat" cmpd="sng" w="12700">
            <a:solidFill>
              <a:srgbClr val="22D3E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6" name="Google Shape;586;p26"/>
          <p:cNvSpPr txBox="1"/>
          <p:nvPr/>
        </p:nvSpPr>
        <p:spPr>
          <a:xfrm>
            <a:off x="868680" y="1965960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22D3EE"/>
                </a:solidFill>
                <a:latin typeface="Calibri"/>
                <a:ea typeface="Calibri"/>
                <a:cs typeface="Calibri"/>
                <a:sym typeface="Calibri"/>
              </a:rPr>
              <a:t>Bilan technique</a:t>
            </a:r>
            <a:endParaRPr/>
          </a:p>
        </p:txBody>
      </p:sp>
      <p:sp>
        <p:nvSpPr>
          <p:cNvPr id="587" name="Google Shape;587;p26"/>
          <p:cNvSpPr txBox="1"/>
          <p:nvPr/>
        </p:nvSpPr>
        <p:spPr>
          <a:xfrm>
            <a:off x="868680" y="2377440"/>
            <a:ext cx="5029200" cy="1554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2D3EE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Chaîne complète fonctionnelle de bout en bout</a:t>
            </a:r>
            <a:endParaRPr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2D3EE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Modèle IA défendable (MAE 11,2 %)</a:t>
            </a:r>
            <a:endParaRPr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2D3EE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Décisions d'ingénierie documentées</a:t>
            </a:r>
            <a:endParaRPr/>
          </a:p>
        </p:txBody>
      </p:sp>
      <p:sp>
        <p:nvSpPr>
          <p:cNvPr id="588" name="Google Shape;588;p26"/>
          <p:cNvSpPr/>
          <p:nvPr/>
        </p:nvSpPr>
        <p:spPr>
          <a:xfrm>
            <a:off x="6126480" y="1828800"/>
            <a:ext cx="5394960" cy="2103120"/>
          </a:xfrm>
          <a:prstGeom prst="roundRect">
            <a:avLst>
              <a:gd fmla="val 16667" name="adj"/>
            </a:avLst>
          </a:prstGeom>
          <a:solidFill>
            <a:srgbClr val="2A145E"/>
          </a:solidFill>
          <a:ln cap="flat" cmpd="sng" w="12700">
            <a:solidFill>
              <a:srgbClr val="E879F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9" name="Google Shape;589;p26"/>
          <p:cNvSpPr txBox="1"/>
          <p:nvPr/>
        </p:nvSpPr>
        <p:spPr>
          <a:xfrm>
            <a:off x="6355080" y="1965960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Perspectives</a:t>
            </a:r>
            <a:endParaRPr/>
          </a:p>
        </p:txBody>
      </p:sp>
      <p:sp>
        <p:nvSpPr>
          <p:cNvPr id="590" name="Google Shape;590;p26"/>
          <p:cNvSpPr txBox="1"/>
          <p:nvPr/>
        </p:nvSpPr>
        <p:spPr>
          <a:xfrm>
            <a:off x="6355080" y="2377440"/>
            <a:ext cx="5029200" cy="1554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Compléter la campagne 110 captures</a:t>
            </a:r>
            <a:endParaRPr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Ajouter capteur courant → mesure directe puissance</a:t>
            </a:r>
            <a:endParaRPr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Comparer mono-modalité vs double branche</a:t>
            </a:r>
            <a:endParaRPr/>
          </a:p>
        </p:txBody>
      </p:sp>
      <p:sp>
        <p:nvSpPr>
          <p:cNvPr id="591" name="Google Shape;591;p26"/>
          <p:cNvSpPr txBox="1"/>
          <p:nvPr/>
        </p:nvSpPr>
        <p:spPr>
          <a:xfrm>
            <a:off x="457200" y="4389120"/>
            <a:ext cx="112471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Merci pour votre attention</a:t>
            </a:r>
            <a:endParaRPr/>
          </a:p>
        </p:txBody>
      </p:sp>
      <p:sp>
        <p:nvSpPr>
          <p:cNvPr id="592" name="Google Shape;592;p26"/>
          <p:cNvSpPr txBox="1"/>
          <p:nvPr/>
        </p:nvSpPr>
        <p:spPr>
          <a:xfrm>
            <a:off x="457200" y="5120640"/>
            <a:ext cx="112471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2200" u="none" cap="none" strike="noStrike">
                <a:solidFill>
                  <a:srgbClr val="C4B5FD"/>
                </a:solidFill>
                <a:latin typeface="Calibri"/>
                <a:ea typeface="Calibri"/>
                <a:cs typeface="Calibri"/>
                <a:sym typeface="Calibri"/>
              </a:rPr>
              <a:t>Place aux questions</a:t>
            </a:r>
            <a:endParaRPr/>
          </a:p>
        </p:txBody>
      </p:sp>
      <p:sp>
        <p:nvSpPr>
          <p:cNvPr id="593" name="Google Shape;593;p26"/>
          <p:cNvSpPr/>
          <p:nvPr/>
        </p:nvSpPr>
        <p:spPr>
          <a:xfrm>
            <a:off x="5730087" y="6035040"/>
            <a:ext cx="109728" cy="109728"/>
          </a:xfrm>
          <a:prstGeom prst="ellipse">
            <a:avLst/>
          </a:prstGeom>
          <a:solidFill>
            <a:srgbClr val="22D3E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4" name="Google Shape;594;p26"/>
          <p:cNvSpPr/>
          <p:nvPr/>
        </p:nvSpPr>
        <p:spPr>
          <a:xfrm>
            <a:off x="6040983" y="6035040"/>
            <a:ext cx="109728" cy="109728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5" name="Google Shape;595;p26"/>
          <p:cNvSpPr/>
          <p:nvPr/>
        </p:nvSpPr>
        <p:spPr>
          <a:xfrm>
            <a:off x="6351879" y="6035040"/>
            <a:ext cx="109728" cy="109728"/>
          </a:xfrm>
          <a:prstGeom prst="ellipse">
            <a:avLst/>
          </a:prstGeom>
          <a:solidFill>
            <a:srgbClr val="E879F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